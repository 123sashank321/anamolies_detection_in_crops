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4.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9" r:id="rId4"/>
    <p:sldMasterId id="2147483660" r:id="rId5"/>
    <p:sldMasterId id="2147483685" r:id="rId6"/>
    <p:sldMasterId id="2147483688" r:id="rId7"/>
    <p:sldMasterId id="2147483701" r:id="rId8"/>
  </p:sldMasterIdLst>
  <p:notesMasterIdLst>
    <p:notesMasterId r:id="rId48"/>
  </p:notesMasterIdLst>
  <p:handoutMasterIdLst>
    <p:handoutMasterId r:id="rId49"/>
  </p:handoutMasterIdLst>
  <p:sldIdLst>
    <p:sldId id="906" r:id="rId9"/>
    <p:sldId id="849" r:id="rId10"/>
    <p:sldId id="831" r:id="rId11"/>
    <p:sldId id="900" r:id="rId12"/>
    <p:sldId id="905" r:id="rId13"/>
    <p:sldId id="907" r:id="rId14"/>
    <p:sldId id="908" r:id="rId15"/>
    <p:sldId id="909" r:id="rId16"/>
    <p:sldId id="910" r:id="rId17"/>
    <p:sldId id="912" r:id="rId18"/>
    <p:sldId id="913" r:id="rId19"/>
    <p:sldId id="914" r:id="rId20"/>
    <p:sldId id="911" r:id="rId21"/>
    <p:sldId id="901" r:id="rId22"/>
    <p:sldId id="903" r:id="rId23"/>
    <p:sldId id="902" r:id="rId24"/>
    <p:sldId id="860" r:id="rId25"/>
    <p:sldId id="904" r:id="rId26"/>
    <p:sldId id="875" r:id="rId27"/>
    <p:sldId id="876" r:id="rId28"/>
    <p:sldId id="877" r:id="rId29"/>
    <p:sldId id="887" r:id="rId30"/>
    <p:sldId id="888" r:id="rId31"/>
    <p:sldId id="889" r:id="rId32"/>
    <p:sldId id="890" r:id="rId33"/>
    <p:sldId id="891" r:id="rId34"/>
    <p:sldId id="893" r:id="rId35"/>
    <p:sldId id="892" r:id="rId36"/>
    <p:sldId id="894" r:id="rId37"/>
    <p:sldId id="895" r:id="rId38"/>
    <p:sldId id="896" r:id="rId39"/>
    <p:sldId id="897" r:id="rId40"/>
    <p:sldId id="898" r:id="rId41"/>
    <p:sldId id="878" r:id="rId42"/>
    <p:sldId id="879" r:id="rId43"/>
    <p:sldId id="884" r:id="rId44"/>
    <p:sldId id="882" r:id="rId45"/>
    <p:sldId id="885" r:id="rId46"/>
    <p:sldId id="886"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114D"/>
    <a:srgbClr val="E26FA9"/>
    <a:srgbClr val="CC0066"/>
    <a:srgbClr val="38507C"/>
    <a:srgbClr val="086072"/>
    <a:srgbClr val="336699"/>
    <a:srgbClr val="69115F"/>
    <a:srgbClr val="E96C1F"/>
    <a:srgbClr val="2657E2"/>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2080" autoAdjust="0"/>
    <p:restoredTop sz="95326" autoAdjust="0"/>
  </p:normalViewPr>
  <p:slideViewPr>
    <p:cSldViewPr snapToGrid="0">
      <p:cViewPr varScale="1">
        <p:scale>
          <a:sx n="20" d="100"/>
          <a:sy n="20" d="100"/>
        </p:scale>
        <p:origin x="48" y="1426"/>
      </p:cViewPr>
      <p:guideLst>
        <p:guide orient="horz" pos="2160"/>
        <p:guide pos="3840"/>
      </p:guideLst>
    </p:cSldViewPr>
  </p:slideViewPr>
  <p:outlineViewPr>
    <p:cViewPr>
      <p:scale>
        <a:sx n="33" d="100"/>
        <a:sy n="33" d="100"/>
      </p:scale>
      <p:origin x="0" y="-4248"/>
    </p:cViewPr>
  </p:outlineViewPr>
  <p:notesTextViewPr>
    <p:cViewPr>
      <p:scale>
        <a:sx n="150" d="100"/>
        <a:sy n="150" d="100"/>
      </p:scale>
      <p:origin x="0" y="0"/>
    </p:cViewPr>
  </p:notesTextViewPr>
  <p:sorterViewPr>
    <p:cViewPr>
      <p:scale>
        <a:sx n="75" d="100"/>
        <a:sy n="75" d="100"/>
      </p:scale>
      <p:origin x="0" y="0"/>
    </p:cViewPr>
  </p:sorterViewPr>
  <p:notesViewPr>
    <p:cSldViewPr snapToGrid="0">
      <p:cViewPr varScale="1">
        <p:scale>
          <a:sx n="66" d="100"/>
          <a:sy n="66" d="100"/>
        </p:scale>
        <p:origin x="3134"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notesMaster" Target="notesMasters/notesMaster1.xml"/><Relationship Id="rId8" Type="http://schemas.openxmlformats.org/officeDocument/2006/relationships/slideMaster" Target="slideMasters/slideMaster5.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20" Type="http://schemas.openxmlformats.org/officeDocument/2006/relationships/slide" Target="slides/slide12.xml"/><Relationship Id="rId41" Type="http://schemas.openxmlformats.org/officeDocument/2006/relationships/slide" Target="slides/slide33.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FDB985-8404-473A-A297-1E33D8BC29AD}" type="datetimeFigureOut">
              <a:rPr lang="en-US" smtClean="0"/>
              <a:pPr/>
              <a:t>9/12/2024</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C72B8ED-2479-4BFE-A0EA-F4DF447902E2}" type="slidenum">
              <a:rPr lang="en-US" smtClean="0"/>
              <a:pPr/>
              <a:t>‹#›</a:t>
            </a:fld>
            <a:endParaRPr lang="en-US" dirty="0"/>
          </a:p>
        </p:txBody>
      </p:sp>
    </p:spTree>
    <p:extLst>
      <p:ext uri="{BB962C8B-B14F-4D97-AF65-F5344CB8AC3E}">
        <p14:creationId xmlns:p14="http://schemas.microsoft.com/office/powerpoint/2010/main" val="2869978320"/>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A85CDB-4198-450F-B6D3-048A14B96D4C}" type="datetimeFigureOut">
              <a:rPr lang="en-IN" smtClean="0"/>
              <a:pPr/>
              <a:t>12-09-2024</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404008-3433-43AD-8483-BD8A804A264A}" type="slidenum">
              <a:rPr lang="en-IN" smtClean="0"/>
              <a:pPr/>
              <a:t>‹#›</a:t>
            </a:fld>
            <a:endParaRPr lang="en-IN" dirty="0"/>
          </a:p>
        </p:txBody>
      </p:sp>
    </p:spTree>
    <p:extLst>
      <p:ext uri="{BB962C8B-B14F-4D97-AF65-F5344CB8AC3E}">
        <p14:creationId xmlns:p14="http://schemas.microsoft.com/office/powerpoint/2010/main" val="3872739369"/>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2253597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ctrTitle" hasCustomPrompt="1"/>
          </p:nvPr>
        </p:nvSpPr>
        <p:spPr>
          <a:xfrm>
            <a:off x="3482340" y="3911285"/>
            <a:ext cx="9144000" cy="1277937"/>
          </a:xfrm>
        </p:spPr>
        <p:txBody>
          <a:bodyPr anchor="b"/>
          <a:lstStyle>
            <a:lvl1pPr algn="l">
              <a:defRPr sz="6000">
                <a:solidFill>
                  <a:schemeClr val="bg1"/>
                </a:solidFill>
                <a:latin typeface="Garamond" panose="02020404030301010803" pitchFamily="18" charset="0"/>
              </a:defRPr>
            </a:lvl1pPr>
          </a:lstStyle>
          <a:p>
            <a:r>
              <a:rPr lang="en-US" dirty="0"/>
              <a:t>Presentation Name</a:t>
            </a:r>
          </a:p>
        </p:txBody>
      </p:sp>
    </p:spTree>
    <p:extLst>
      <p:ext uri="{BB962C8B-B14F-4D97-AF65-F5344CB8AC3E}">
        <p14:creationId xmlns:p14="http://schemas.microsoft.com/office/powerpoint/2010/main" val="41873370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2385387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defRPr>
                <a:latin typeface="Avenir Next LT Pro"/>
              </a:defRPr>
            </a:lvl1pPr>
            <a:lvl2pPr>
              <a:defRPr>
                <a:latin typeface="Avenir Next LT Pro"/>
              </a:defRPr>
            </a:lvl2pPr>
            <a:lvl3pPr>
              <a:defRPr>
                <a:latin typeface="Avenir Next LT Pro"/>
              </a:defRPr>
            </a:lvl3pPr>
            <a:lvl4pPr>
              <a:defRPr>
                <a:latin typeface="Avenir Next LT Pro"/>
              </a:defRPr>
            </a:lvl4pPr>
            <a:lvl5pPr>
              <a:defRPr>
                <a:latin typeface="Avenir Next LT Pro"/>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9491384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2591524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12030920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3733172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3210312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31463889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3171841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1718958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22029054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34794456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7" name="Title 1"/>
          <p:cNvSpPr>
            <a:spLocks noGrp="1"/>
          </p:cNvSpPr>
          <p:nvPr>
            <p:ph type="ctrTitle" hasCustomPrompt="1"/>
          </p:nvPr>
        </p:nvSpPr>
        <p:spPr>
          <a:xfrm>
            <a:off x="3482340" y="3911285"/>
            <a:ext cx="9144000" cy="1277937"/>
          </a:xfrm>
        </p:spPr>
        <p:txBody>
          <a:bodyPr anchor="b"/>
          <a:lstStyle>
            <a:lvl1pPr algn="l">
              <a:defRPr sz="6000">
                <a:solidFill>
                  <a:schemeClr val="bg1"/>
                </a:solidFill>
                <a:latin typeface="Garamond" panose="02020404030301010803" pitchFamily="18" charset="0"/>
              </a:defRPr>
            </a:lvl1pPr>
          </a:lstStyle>
          <a:p>
            <a:r>
              <a:rPr lang="en-US" dirty="0"/>
              <a:t>Presentation Name</a:t>
            </a:r>
          </a:p>
        </p:txBody>
      </p:sp>
    </p:spTree>
    <p:extLst>
      <p:ext uri="{BB962C8B-B14F-4D97-AF65-F5344CB8AC3E}">
        <p14:creationId xmlns:p14="http://schemas.microsoft.com/office/powerpoint/2010/main" val="7917465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8401C-3D73-9145-9D27-022775352C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98FC3C5-2E28-584B-9E08-C350F04738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3E1AA21-1AC4-EE4A-9EE6-2CF249667C78}"/>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4B026A89-F6F6-594C-B1D8-D2FE52E181F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325ABD8-565B-E441-A71D-873F53B630F7}"/>
              </a:ext>
            </a:extLst>
          </p:cNvPr>
          <p:cNvSpPr>
            <a:spLocks noGrp="1"/>
          </p:cNvSpPr>
          <p:nvPr>
            <p:ph type="sldNum" sz="quarter" idx="12"/>
          </p:nvPr>
        </p:nvSpPr>
        <p:spPr/>
        <p:txBody>
          <a:bodyPr/>
          <a:lstStyle/>
          <a:p>
            <a:fld id="{6B218248-39AE-B24D-B571-E8695ACF81F5}" type="slidenum">
              <a:rPr lang="en-US" smtClean="0"/>
              <a:pPr/>
              <a:t>‹#›</a:t>
            </a:fld>
            <a:endParaRPr lang="en-US" dirty="0"/>
          </a:p>
        </p:txBody>
      </p:sp>
    </p:spTree>
    <p:extLst>
      <p:ext uri="{BB962C8B-B14F-4D97-AF65-F5344CB8AC3E}">
        <p14:creationId xmlns:p14="http://schemas.microsoft.com/office/powerpoint/2010/main" val="28068857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77296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latin typeface="Avenir Next LT Pro"/>
              </a:defRPr>
            </a:lvl1pPr>
            <a:lvl2pPr>
              <a:defRPr>
                <a:latin typeface="Avenir Next LT Pro"/>
              </a:defRPr>
            </a:lvl2pPr>
            <a:lvl3pPr>
              <a:defRPr>
                <a:latin typeface="Avenir Next LT Pro"/>
              </a:defRPr>
            </a:lvl3pPr>
            <a:lvl4pPr>
              <a:defRPr>
                <a:latin typeface="Avenir Next LT Pro"/>
              </a:defRPr>
            </a:lvl4pPr>
            <a:lvl5pPr>
              <a:defRPr>
                <a:latin typeface="Avenir Next LT Pro"/>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26444803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26496934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3694422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4826153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33299912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5392649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12684968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550763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153387618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18505224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body" type="tx" preserve="1">
  <p:cSld name="Title and body">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415600" y="593367"/>
            <a:ext cx="11360800" cy="763600"/>
          </a:xfrm>
          <a:prstGeom prst="rect">
            <a:avLst/>
          </a:prstGeom>
        </p:spPr>
        <p:txBody>
          <a:bodyPr spcFirstLastPara="1" wrap="square" lIns="90000" tIns="46800" rIns="90000" bIns="46800" anchor="b"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29" name="Google Shape;29;p7"/>
          <p:cNvSpPr txBox="1">
            <a:spLocks noGrp="1"/>
          </p:cNvSpPr>
          <p:nvPr>
            <p:ph type="body" idx="1"/>
          </p:nvPr>
        </p:nvSpPr>
        <p:spPr>
          <a:xfrm>
            <a:off x="415600" y="1536633"/>
            <a:ext cx="11360800" cy="4555200"/>
          </a:xfrm>
          <a:prstGeom prst="rect">
            <a:avLst/>
          </a:prstGeom>
        </p:spPr>
        <p:txBody>
          <a:bodyPr spcFirstLastPara="1" wrap="square" lIns="90000" tIns="46800" rIns="90000" bIns="46800" anchor="t" anchorCtr="0">
            <a:noAutofit/>
          </a:bodyPr>
          <a:lstStyle>
            <a:lvl1pPr marL="609570" lvl="0" indent="-450510" rtl="0">
              <a:spcBef>
                <a:spcPts val="675"/>
              </a:spcBef>
              <a:spcAft>
                <a:spcPts val="0"/>
              </a:spcAft>
              <a:buSzPts val="1721"/>
              <a:buChar char="⚫"/>
              <a:defRPr/>
            </a:lvl1pPr>
            <a:lvl2pPr marL="1219140" lvl="1" indent="-402569" rtl="0">
              <a:spcBef>
                <a:spcPts val="551"/>
              </a:spcBef>
              <a:spcAft>
                <a:spcPts val="0"/>
              </a:spcAft>
              <a:buSzPts val="1155"/>
              <a:buChar char="⚪"/>
              <a:defRPr/>
            </a:lvl2pPr>
            <a:lvl3pPr marL="1828709" lvl="2" indent="-400029" rtl="0">
              <a:spcBef>
                <a:spcPts val="500"/>
              </a:spcBef>
              <a:spcAft>
                <a:spcPts val="0"/>
              </a:spcAft>
              <a:buSzPts val="1125"/>
              <a:buChar char="⯍"/>
              <a:defRPr/>
            </a:lvl3pPr>
            <a:lvl4pPr marL="2438278" lvl="3" indent="-393681" rtl="0">
              <a:spcBef>
                <a:spcPts val="500"/>
              </a:spcBef>
              <a:spcAft>
                <a:spcPts val="0"/>
              </a:spcAft>
              <a:buSzPts val="1050"/>
              <a:buChar char="🞆"/>
              <a:defRPr/>
            </a:lvl4pPr>
            <a:lvl5pPr marL="3047848" lvl="4" indent="-431779" rtl="0">
              <a:spcBef>
                <a:spcPts val="500"/>
              </a:spcBef>
              <a:spcAft>
                <a:spcPts val="0"/>
              </a:spcAft>
              <a:buSzPts val="1500"/>
              <a:buChar char="•"/>
              <a:defRPr/>
            </a:lvl5pPr>
            <a:lvl6pPr marL="3657418" lvl="5" indent="-431779" rtl="0">
              <a:spcBef>
                <a:spcPts val="500"/>
              </a:spcBef>
              <a:spcAft>
                <a:spcPts val="0"/>
              </a:spcAft>
              <a:buSzPts val="1500"/>
              <a:buChar char="•"/>
              <a:defRPr/>
            </a:lvl6pPr>
            <a:lvl7pPr marL="4266987" lvl="6" indent="-431779" rtl="0">
              <a:spcBef>
                <a:spcPts val="500"/>
              </a:spcBef>
              <a:spcAft>
                <a:spcPts val="0"/>
              </a:spcAft>
              <a:buSzPts val="1500"/>
              <a:buChar char="•"/>
              <a:defRPr/>
            </a:lvl7pPr>
            <a:lvl8pPr marL="4876557" lvl="7" indent="-431779" rtl="0">
              <a:spcBef>
                <a:spcPts val="500"/>
              </a:spcBef>
              <a:spcAft>
                <a:spcPts val="0"/>
              </a:spcAft>
              <a:buSzPts val="1500"/>
              <a:buChar char="•"/>
              <a:defRPr/>
            </a:lvl8pPr>
            <a:lvl9pPr marL="5486126" lvl="8" indent="-431779" rtl="0">
              <a:spcBef>
                <a:spcPts val="500"/>
              </a:spcBef>
              <a:spcAft>
                <a:spcPts val="0"/>
              </a:spcAft>
              <a:buSzPts val="1500"/>
              <a:buChar char="•"/>
              <a:defRPr/>
            </a:lvl9pPr>
          </a:lstStyle>
          <a:p>
            <a:pPr lvl="0"/>
            <a:r>
              <a:rPr lang="en-US"/>
              <a:t>Click to edit Master text styles</a:t>
            </a:r>
          </a:p>
        </p:txBody>
      </p:sp>
      <p:sp>
        <p:nvSpPr>
          <p:cNvPr id="30" name="Google Shape;30;p7"/>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algn="l"/>
            <a:fld id="{00000000-1234-1234-1234-123412341234}" type="slidenum">
              <a:rPr lang="en" smtClean="0"/>
              <a:pPr algn="l"/>
              <a:t>‹#›</a:t>
            </a:fld>
            <a:endParaRPr lang="en"/>
          </a:p>
        </p:txBody>
      </p:sp>
    </p:spTree>
    <p:extLst>
      <p:ext uri="{BB962C8B-B14F-4D97-AF65-F5344CB8AC3E}">
        <p14:creationId xmlns:p14="http://schemas.microsoft.com/office/powerpoint/2010/main" val="42510730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266359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defRPr>
                <a:latin typeface="Avenir Next LT Pro"/>
              </a:defRPr>
            </a:lvl1pPr>
            <a:lvl2pPr>
              <a:defRPr>
                <a:latin typeface="Avenir Next LT Pro"/>
              </a:defRPr>
            </a:lvl2pPr>
            <a:lvl3pPr>
              <a:defRPr>
                <a:latin typeface="Avenir Next LT Pro"/>
              </a:defRPr>
            </a:lvl3pPr>
            <a:lvl4pPr>
              <a:defRPr>
                <a:latin typeface="Avenir Next LT Pro"/>
              </a:defRPr>
            </a:lvl4pPr>
            <a:lvl5pPr>
              <a:defRPr>
                <a:latin typeface="Avenir Next LT Pro"/>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36204173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1512806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30318380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20026641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40808336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4729884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38995710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26557816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4862495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25822068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270B5-2641-4048-A5B7-426327B0BA58}"/>
              </a:ext>
            </a:extLst>
          </p:cNvPr>
          <p:cNvSpPr>
            <a:spLocks noGrp="1"/>
          </p:cNvSpPr>
          <p:nvPr>
            <p:ph type="title"/>
          </p:nvPr>
        </p:nvSpPr>
        <p:spPr>
          <a:xfrm>
            <a:off x="838091" y="365084"/>
            <a:ext cx="10515819" cy="831928"/>
          </a:xfrm>
          <a:prstGeom prst="rect">
            <a:avLst/>
          </a:prstGeom>
        </p:spPr>
        <p:txBody>
          <a:bodyPr anchor="ctr"/>
          <a:lstStyle>
            <a:lvl1pPr>
              <a:defRPr sz="3599"/>
            </a:lvl1pPr>
          </a:lstStyle>
          <a:p>
            <a:r>
              <a:rPr lang="en-US"/>
              <a:t>Click to edit Master title style</a:t>
            </a:r>
          </a:p>
        </p:txBody>
      </p:sp>
    </p:spTree>
    <p:extLst>
      <p:ext uri="{BB962C8B-B14F-4D97-AF65-F5344CB8AC3E}">
        <p14:creationId xmlns:p14="http://schemas.microsoft.com/office/powerpoint/2010/main" val="42825909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53297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2.pn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4.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image" Target="../media/image2.png"/><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pPr/>
              <a:t>‹#›</a:t>
            </a:fld>
            <a:endParaRPr lang="en-US" dirty="0"/>
          </a:p>
        </p:txBody>
      </p:sp>
      <p:sp>
        <p:nvSpPr>
          <p:cNvPr id="7" name="Rectangle 6"/>
          <p:cNvSpPr/>
          <p:nvPr userDrawn="1"/>
        </p:nvSpPr>
        <p:spPr>
          <a:xfrm>
            <a:off x="0" y="-335280"/>
            <a:ext cx="12192000" cy="7193280"/>
          </a:xfrm>
          <a:prstGeom prst="rect">
            <a:avLst/>
          </a:prstGeom>
          <a:solidFill>
            <a:srgbClr val="B6114D"/>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dirty="0"/>
          </a:p>
        </p:txBody>
      </p:sp>
      <p:cxnSp>
        <p:nvCxnSpPr>
          <p:cNvPr id="10" name="Straight Connector 9"/>
          <p:cNvCxnSpPr/>
          <p:nvPr userDrawn="1"/>
        </p:nvCxnSpPr>
        <p:spPr>
          <a:xfrm>
            <a:off x="3345180" y="2707281"/>
            <a:ext cx="0" cy="2283821"/>
          </a:xfrm>
          <a:prstGeom prst="line">
            <a:avLst/>
          </a:prstGeom>
          <a:ln w="34925"/>
        </p:spPr>
        <p:style>
          <a:lnRef idx="3">
            <a:schemeClr val="dk1"/>
          </a:lnRef>
          <a:fillRef idx="0">
            <a:schemeClr val="dk1"/>
          </a:fillRef>
          <a:effectRef idx="2">
            <a:schemeClr val="dk1"/>
          </a:effectRef>
          <a:fontRef idx="minor">
            <a:schemeClr val="tx1"/>
          </a:fontRef>
        </p:style>
      </p:cxnSp>
      <p:pic>
        <p:nvPicPr>
          <p:cNvPr id="11" name="Pictur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451862" y="2544174"/>
            <a:ext cx="4801940" cy="1533432"/>
          </a:xfrm>
          <a:prstGeom prst="rect">
            <a:avLst/>
          </a:prstGeom>
        </p:spPr>
      </p:pic>
    </p:spTree>
    <p:extLst>
      <p:ext uri="{BB962C8B-B14F-4D97-AF65-F5344CB8AC3E}">
        <p14:creationId xmlns:p14="http://schemas.microsoft.com/office/powerpoint/2010/main" val="1002095191"/>
      </p:ext>
    </p:extLst>
  </p:cSld>
  <p:clrMap bg1="lt1" tx1="dk1" bg2="lt2" tx2="dk2" accent1="accent1" accent2="accent2" accent3="accent3" accent4="accent4" accent5="accent5" accent6="accent6" hlink="hlink" folHlink="folHlink"/>
  <p:sldLayoutIdLst>
    <p:sldLayoutId id="2147483680" r:id="rId1"/>
  </p:sldLayoutIdLst>
  <p:hf sldNum="0" hdr="0" ftr="0" dt="0"/>
  <p:txStyles>
    <p:titleStyle>
      <a:lvl1pPr algn="l" defTabSz="914377" rtl="0" eaLnBrk="1" latinLnBrk="0" hangingPunct="1">
        <a:lnSpc>
          <a:spcPct val="90000"/>
        </a:lnSpc>
        <a:spcBef>
          <a:spcPct val="0"/>
        </a:spcBef>
        <a:buNone/>
        <a:defRPr sz="4400" kern="1200">
          <a:solidFill>
            <a:schemeClr val="tx1"/>
          </a:solidFill>
          <a:latin typeface="Futura"/>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Avenir Next LT Pro"/>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Avenir Next LT Pro"/>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Avenir Next LT Pro"/>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userDrawn="1"/>
        </p:nvSpPr>
        <p:spPr>
          <a:xfrm>
            <a:off x="0" y="6096000"/>
            <a:ext cx="12192000" cy="771800"/>
          </a:xfrm>
          <a:prstGeom prst="rect">
            <a:avLst/>
          </a:prstGeom>
          <a:solidFill>
            <a:srgbClr val="000000"/>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dirty="0"/>
          </a:p>
        </p:txBody>
      </p:sp>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pPr/>
              <a:t>‹#›</a:t>
            </a:fld>
            <a:endParaRPr lang="en-US" dirty="0"/>
          </a:p>
        </p:txBody>
      </p:sp>
      <p:sp>
        <p:nvSpPr>
          <p:cNvPr id="7" name="Rectangle 6"/>
          <p:cNvSpPr/>
          <p:nvPr userDrawn="1"/>
        </p:nvSpPr>
        <p:spPr>
          <a:xfrm>
            <a:off x="0" y="6140361"/>
            <a:ext cx="12192000" cy="705028"/>
          </a:xfrm>
          <a:prstGeom prst="rect">
            <a:avLst/>
          </a:prstGeom>
          <a:solidFill>
            <a:srgbClr val="B6114D"/>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dirty="0"/>
          </a:p>
        </p:txBody>
      </p:sp>
      <p:pic>
        <p:nvPicPr>
          <p:cNvPr id="8" name="Picture 7"/>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9890762" y="6165912"/>
            <a:ext cx="1935479" cy="618068"/>
          </a:xfrm>
          <a:prstGeom prst="rect">
            <a:avLst/>
          </a:prstGeom>
        </p:spPr>
      </p:pic>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377" rtl="0" eaLnBrk="1" latinLnBrk="0" hangingPunct="1">
        <a:lnSpc>
          <a:spcPct val="90000"/>
        </a:lnSpc>
        <a:spcBef>
          <a:spcPct val="0"/>
        </a:spcBef>
        <a:buNone/>
        <a:defRPr sz="4400" kern="1200">
          <a:solidFill>
            <a:schemeClr val="tx1"/>
          </a:solidFill>
          <a:latin typeface="Futura"/>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Avenir Next LT Pro"/>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Avenir Next LT Pro"/>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Avenir Next LT Pro"/>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pPr/>
              <a:t>‹#›</a:t>
            </a:fld>
            <a:endParaRPr lang="en-US" dirty="0"/>
          </a:p>
        </p:txBody>
      </p:sp>
      <p:sp>
        <p:nvSpPr>
          <p:cNvPr id="7" name="Rectangle 6"/>
          <p:cNvSpPr/>
          <p:nvPr/>
        </p:nvSpPr>
        <p:spPr>
          <a:xfrm>
            <a:off x="0" y="-335280"/>
            <a:ext cx="12192000" cy="7193280"/>
          </a:xfrm>
          <a:prstGeom prst="rect">
            <a:avLst/>
          </a:prstGeom>
          <a:solidFill>
            <a:srgbClr val="B6114D"/>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dirty="0"/>
          </a:p>
        </p:txBody>
      </p:sp>
      <p:cxnSp>
        <p:nvCxnSpPr>
          <p:cNvPr id="10" name="Straight Connector 9"/>
          <p:cNvCxnSpPr/>
          <p:nvPr/>
        </p:nvCxnSpPr>
        <p:spPr>
          <a:xfrm>
            <a:off x="3345180" y="2707281"/>
            <a:ext cx="0" cy="2283821"/>
          </a:xfrm>
          <a:prstGeom prst="line">
            <a:avLst/>
          </a:prstGeom>
          <a:ln w="34925"/>
        </p:spPr>
        <p:style>
          <a:lnRef idx="3">
            <a:schemeClr val="dk1"/>
          </a:lnRef>
          <a:fillRef idx="0">
            <a:schemeClr val="dk1"/>
          </a:fillRef>
          <a:effectRef idx="2">
            <a:schemeClr val="dk1"/>
          </a:effectRef>
          <a:fontRef idx="minor">
            <a:schemeClr val="tx1"/>
          </a:fontRef>
        </p:style>
      </p:cxnSp>
      <p:pic>
        <p:nvPicPr>
          <p:cNvPr id="11" name="Picture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51862" y="2544174"/>
            <a:ext cx="4801940" cy="1533432"/>
          </a:xfrm>
          <a:prstGeom prst="rect">
            <a:avLst/>
          </a:prstGeom>
        </p:spPr>
      </p:pic>
      <p:sp>
        <p:nvSpPr>
          <p:cNvPr id="12" name="Rectangle 11">
            <a:extLst>
              <a:ext uri="{FF2B5EF4-FFF2-40B4-BE49-F238E27FC236}">
                <a16:creationId xmlns:a16="http://schemas.microsoft.com/office/drawing/2014/main" id="{723A1E2C-F9E9-476C-A5F4-4A59EF6C5BFF}"/>
              </a:ext>
            </a:extLst>
          </p:cNvPr>
          <p:cNvSpPr/>
          <p:nvPr userDrawn="1"/>
        </p:nvSpPr>
        <p:spPr>
          <a:xfrm>
            <a:off x="0" y="-335280"/>
            <a:ext cx="12192000" cy="7193280"/>
          </a:xfrm>
          <a:prstGeom prst="rect">
            <a:avLst/>
          </a:prstGeom>
          <a:solidFill>
            <a:srgbClr val="B6114D"/>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dirty="0"/>
          </a:p>
        </p:txBody>
      </p:sp>
      <p:cxnSp>
        <p:nvCxnSpPr>
          <p:cNvPr id="13" name="Straight Connector 12">
            <a:extLst>
              <a:ext uri="{FF2B5EF4-FFF2-40B4-BE49-F238E27FC236}">
                <a16:creationId xmlns:a16="http://schemas.microsoft.com/office/drawing/2014/main" id="{DF098539-A9C5-4E0A-946B-5498FE4AB03F}"/>
              </a:ext>
            </a:extLst>
          </p:cNvPr>
          <p:cNvCxnSpPr/>
          <p:nvPr userDrawn="1"/>
        </p:nvCxnSpPr>
        <p:spPr>
          <a:xfrm>
            <a:off x="3345180" y="2707281"/>
            <a:ext cx="0" cy="2283821"/>
          </a:xfrm>
          <a:prstGeom prst="line">
            <a:avLst/>
          </a:prstGeom>
          <a:ln w="34925"/>
        </p:spPr>
        <p:style>
          <a:lnRef idx="3">
            <a:schemeClr val="dk1"/>
          </a:lnRef>
          <a:fillRef idx="0">
            <a:schemeClr val="dk1"/>
          </a:fillRef>
          <a:effectRef idx="2">
            <a:schemeClr val="dk1"/>
          </a:effectRef>
          <a:fontRef idx="minor">
            <a:schemeClr val="tx1"/>
          </a:fontRef>
        </p:style>
      </p:cxnSp>
      <p:pic>
        <p:nvPicPr>
          <p:cNvPr id="14" name="Picture 13">
            <a:extLst>
              <a:ext uri="{FF2B5EF4-FFF2-40B4-BE49-F238E27FC236}">
                <a16:creationId xmlns:a16="http://schemas.microsoft.com/office/drawing/2014/main" id="{B9FF7B53-CEDA-4C55-9457-6E244D4B49BB}"/>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451862" y="2544174"/>
            <a:ext cx="4801940" cy="1533432"/>
          </a:xfrm>
          <a:prstGeom prst="rect">
            <a:avLst/>
          </a:prstGeom>
        </p:spPr>
      </p:pic>
    </p:spTree>
    <p:extLst>
      <p:ext uri="{BB962C8B-B14F-4D97-AF65-F5344CB8AC3E}">
        <p14:creationId xmlns:p14="http://schemas.microsoft.com/office/powerpoint/2010/main" val="51432786"/>
      </p:ext>
    </p:extLst>
  </p:cSld>
  <p:clrMap bg1="lt1" tx1="dk1" bg2="lt2" tx2="dk2" accent1="accent1" accent2="accent2" accent3="accent3" accent4="accent4" accent5="accent5" accent6="accent6" hlink="hlink" folHlink="folHlink"/>
  <p:sldLayoutIdLst>
    <p:sldLayoutId id="2147483686" r:id="rId1"/>
    <p:sldLayoutId id="2147483687" r:id="rId2"/>
  </p:sldLayoutIdLst>
  <p:hf sldNum="0" hdr="0" ftr="0" dt="0"/>
  <p:txStyles>
    <p:titleStyle>
      <a:lvl1pPr algn="l" defTabSz="914377" rtl="0" eaLnBrk="1" latinLnBrk="0" hangingPunct="1">
        <a:lnSpc>
          <a:spcPct val="90000"/>
        </a:lnSpc>
        <a:spcBef>
          <a:spcPct val="0"/>
        </a:spcBef>
        <a:buNone/>
        <a:defRPr sz="4400" kern="1200">
          <a:solidFill>
            <a:schemeClr val="tx1"/>
          </a:solidFill>
          <a:latin typeface="Futura"/>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Avenir Next LT Pro"/>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Avenir Next LT Pro"/>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Avenir Next LT Pro"/>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6096000"/>
            <a:ext cx="12192000" cy="771800"/>
          </a:xfrm>
          <a:prstGeom prst="rect">
            <a:avLst/>
          </a:prstGeom>
          <a:solidFill>
            <a:srgbClr val="000000"/>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dirty="0"/>
          </a:p>
        </p:txBody>
      </p:sp>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pPr/>
              <a:t>‹#›</a:t>
            </a:fld>
            <a:endParaRPr lang="en-US" dirty="0"/>
          </a:p>
        </p:txBody>
      </p:sp>
      <p:sp>
        <p:nvSpPr>
          <p:cNvPr id="7" name="Rectangle 6"/>
          <p:cNvSpPr/>
          <p:nvPr/>
        </p:nvSpPr>
        <p:spPr>
          <a:xfrm>
            <a:off x="0" y="6140361"/>
            <a:ext cx="12192000" cy="705028"/>
          </a:xfrm>
          <a:prstGeom prst="rect">
            <a:avLst/>
          </a:prstGeom>
          <a:solidFill>
            <a:srgbClr val="B6114D"/>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dirty="0"/>
          </a:p>
        </p:txBody>
      </p:sp>
      <p:pic>
        <p:nvPicPr>
          <p:cNvPr id="8" name="Picture 7"/>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890762" y="6165912"/>
            <a:ext cx="1935479" cy="618068"/>
          </a:xfrm>
          <a:prstGeom prst="rect">
            <a:avLst/>
          </a:prstGeom>
        </p:spPr>
      </p:pic>
    </p:spTree>
    <p:extLst>
      <p:ext uri="{BB962C8B-B14F-4D97-AF65-F5344CB8AC3E}">
        <p14:creationId xmlns:p14="http://schemas.microsoft.com/office/powerpoint/2010/main" val="3787487800"/>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Lst>
  <p:hf sldNum="0" hdr="0" ftr="0" dt="0"/>
  <p:txStyles>
    <p:titleStyle>
      <a:lvl1pPr algn="l" defTabSz="914377" rtl="0" eaLnBrk="1" latinLnBrk="0" hangingPunct="1">
        <a:lnSpc>
          <a:spcPct val="90000"/>
        </a:lnSpc>
        <a:spcBef>
          <a:spcPct val="0"/>
        </a:spcBef>
        <a:buNone/>
        <a:defRPr sz="4400" kern="1200">
          <a:solidFill>
            <a:schemeClr val="tx1"/>
          </a:solidFill>
          <a:latin typeface="Futura"/>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Avenir Next LT Pro"/>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Avenir Next LT Pro"/>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Avenir Next LT Pro"/>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userDrawn="1"/>
        </p:nvSpPr>
        <p:spPr>
          <a:xfrm>
            <a:off x="0" y="6096000"/>
            <a:ext cx="12192000" cy="771800"/>
          </a:xfrm>
          <a:prstGeom prst="rect">
            <a:avLst/>
          </a:prstGeom>
          <a:solidFill>
            <a:srgbClr val="000000"/>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dirty="0"/>
          </a:p>
        </p:txBody>
      </p:sp>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pPr/>
              <a:t>‹#›</a:t>
            </a:fld>
            <a:endParaRPr lang="en-US" dirty="0"/>
          </a:p>
        </p:txBody>
      </p:sp>
      <p:sp>
        <p:nvSpPr>
          <p:cNvPr id="7" name="Rectangle 6"/>
          <p:cNvSpPr/>
          <p:nvPr userDrawn="1"/>
        </p:nvSpPr>
        <p:spPr>
          <a:xfrm>
            <a:off x="0" y="6140361"/>
            <a:ext cx="12192000" cy="705028"/>
          </a:xfrm>
          <a:prstGeom prst="rect">
            <a:avLst/>
          </a:prstGeom>
          <a:solidFill>
            <a:srgbClr val="B6114D"/>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dirty="0"/>
          </a:p>
        </p:txBody>
      </p:sp>
      <p:pic>
        <p:nvPicPr>
          <p:cNvPr id="8" name="Picture 7"/>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9890762" y="6165912"/>
            <a:ext cx="1935479" cy="618068"/>
          </a:xfrm>
          <a:prstGeom prst="rect">
            <a:avLst/>
          </a:prstGeom>
        </p:spPr>
      </p:pic>
    </p:spTree>
    <p:extLst>
      <p:ext uri="{BB962C8B-B14F-4D97-AF65-F5344CB8AC3E}">
        <p14:creationId xmlns:p14="http://schemas.microsoft.com/office/powerpoint/2010/main" val="1696959104"/>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Lst>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hf sldNum="0" hdr="0" ftr="0" dt="0"/>
  <p:txStyles>
    <p:titleStyle>
      <a:lvl1pPr algn="l" defTabSz="914377" rtl="0" eaLnBrk="1" latinLnBrk="0" hangingPunct="1">
        <a:lnSpc>
          <a:spcPct val="90000"/>
        </a:lnSpc>
        <a:spcBef>
          <a:spcPct val="0"/>
        </a:spcBef>
        <a:buNone/>
        <a:defRPr sz="4400" kern="1200">
          <a:solidFill>
            <a:schemeClr val="tx1"/>
          </a:solidFill>
          <a:latin typeface="Futura"/>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Avenir Next LT Pro"/>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Avenir Next LT Pro"/>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Avenir Next LT Pro"/>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123sashank321/Anamolies_Detection_in_Crops" TargetMode="External"/><Relationship Id="rId2" Type="http://schemas.openxmlformats.org/officeDocument/2006/relationships/notesSlide" Target="../notesSlides/notesSlide1.xml"/><Relationship Id="rId1" Type="http://schemas.openxmlformats.org/officeDocument/2006/relationships/slideLayout" Target="../slideLayouts/slideLayout27.xml"/><Relationship Id="rId4" Type="http://schemas.openxmlformats.org/officeDocument/2006/relationships/hyperlink" Target="https://sites.google.com/view/anamolies-detection-in-crops/hom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s://doi.org/10.3390/drones6090230" TargetMode="External"/><Relationship Id="rId2" Type="http://schemas.openxmlformats.org/officeDocument/2006/relationships/hyperlink" Target="https://doi.org/10.1016/j.eswa.2024.123210" TargetMode="Externa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file:///T:\.SASHANK%20PERSONAL\AMRITA\SEM7\DL_7\project\datasets\archive\Healthy\healthy%20(2).jpeg" TargetMode="External"/><Relationship Id="rId7" Type="http://schemas.openxmlformats.org/officeDocument/2006/relationships/image" Target="../media/image40.png"/><Relationship Id="rId2" Type="http://schemas.openxmlformats.org/officeDocument/2006/relationships/hyperlink" Target="file:///T:\.SASHANK%20PERSONAL\AMRITA\SEM7\DL_7\project\datasets\drive-download-20240812T042342Z-001\unhealthy\IMG_20230222_094551122.jpg" TargetMode="Externa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7.png"/><Relationship Id="rId9"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slide" Target="slide15.xml"/><Relationship Id="rId13" Type="http://schemas.openxmlformats.org/officeDocument/2006/relationships/image" Target="../media/image19.jpg"/><Relationship Id="rId3" Type="http://schemas.microsoft.com/office/2007/relationships/hdphoto" Target="../media/hdphoto1.wdp"/><Relationship Id="rId7" Type="http://schemas.openxmlformats.org/officeDocument/2006/relationships/image" Target="../media/image17.png"/><Relationship Id="rId12" Type="http://schemas.openxmlformats.org/officeDocument/2006/relationships/image" Target="../media/image18.png"/><Relationship Id="rId2" Type="http://schemas.openxmlformats.org/officeDocument/2006/relationships/image" Target="../media/image14.png"/><Relationship Id="rId1" Type="http://schemas.openxmlformats.org/officeDocument/2006/relationships/slideLayout" Target="../slideLayouts/slideLayout3.xml"/><Relationship Id="rId6" Type="http://schemas.microsoft.com/office/2007/relationships/hdphoto" Target="../media/hdphoto2.wdp"/><Relationship Id="rId11" Type="http://schemas.openxmlformats.org/officeDocument/2006/relationships/slide" Target="slide16.xml"/><Relationship Id="rId5" Type="http://schemas.openxmlformats.org/officeDocument/2006/relationships/image" Target="../media/image16.png"/><Relationship Id="rId10" Type="http://schemas.openxmlformats.org/officeDocument/2006/relationships/image" Target="../media/image18.png"/><Relationship Id="rId4" Type="http://schemas.openxmlformats.org/officeDocument/2006/relationships/image" Target="../media/image15.jpeg"/><Relationship Id="rId9"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hyperlink" Target="https://www.analyticsvidhya.com/blog/2022/01/convolutional-neural-network-an-overview/" TargetMode="External"/><Relationship Id="rId2" Type="http://schemas.openxmlformats.org/officeDocument/2006/relationships/image" Target="../media/image20.jp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hyperlink" Target="https://www.geeksforgeeks.org/r-cnn-region-based-cnns/" TargetMode="External"/><Relationship Id="rId2" Type="http://schemas.openxmlformats.org/officeDocument/2006/relationships/image" Target="../media/image21.jp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CD08A34-4042-A78A-F045-183A9BE039A3}"/>
              </a:ext>
            </a:extLst>
          </p:cNvPr>
          <p:cNvSpPr txBox="1">
            <a:spLocks/>
          </p:cNvSpPr>
          <p:nvPr/>
        </p:nvSpPr>
        <p:spPr>
          <a:xfrm>
            <a:off x="814873" y="2003749"/>
            <a:ext cx="10562253" cy="1842796"/>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4400" kern="1200">
                <a:solidFill>
                  <a:schemeClr val="tx1"/>
                </a:solidFill>
                <a:latin typeface="Futura"/>
                <a:ea typeface="+mj-ea"/>
                <a:cs typeface="+mj-cs"/>
              </a:defRPr>
            </a:lvl1pPr>
          </a:lstStyle>
          <a:p>
            <a:pPr algn="ctr">
              <a:lnSpc>
                <a:spcPct val="100000"/>
              </a:lnSpc>
            </a:pPr>
            <a:r>
              <a:rPr lang="en-US" sz="4800" b="1">
                <a:latin typeface="Times New Roman" panose="02020603050405020304" pitchFamily="18" charset="0"/>
                <a:ea typeface="Calibri" panose="020F0502020204030204" pitchFamily="34" charset="0"/>
                <a:cs typeface="Times New Roman" panose="02020603050405020304" pitchFamily="18" charset="0"/>
              </a:rPr>
              <a:t>Anomalies detection in crop health and creating a custom flight path</a:t>
            </a:r>
            <a:endParaRPr lang="en-IN" sz="4800" b="1" dirty="0"/>
          </a:p>
        </p:txBody>
      </p:sp>
    </p:spTree>
    <p:extLst>
      <p:ext uri="{BB962C8B-B14F-4D97-AF65-F5344CB8AC3E}">
        <p14:creationId xmlns:p14="http://schemas.microsoft.com/office/powerpoint/2010/main" val="29701912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A6FE1-BE3A-E444-EF9B-B6330AA8D529}"/>
              </a:ext>
            </a:extLst>
          </p:cNvPr>
          <p:cNvSpPr>
            <a:spLocks noGrp="1"/>
          </p:cNvSpPr>
          <p:nvPr>
            <p:ph type="ctrTitle"/>
          </p:nvPr>
        </p:nvSpPr>
        <p:spPr>
          <a:xfrm>
            <a:off x="2372799" y="113360"/>
            <a:ext cx="7446402" cy="1122276"/>
          </a:xfrm>
        </p:spPr>
        <p:txBody>
          <a:bodyPr>
            <a:normAutofit fontScale="90000"/>
          </a:bodyPr>
          <a:lstStyle/>
          <a:p>
            <a:pPr>
              <a:lnSpc>
                <a:spcPct val="100000"/>
              </a:lnSpc>
            </a:pPr>
            <a:r>
              <a:rPr lang="en-US" sz="3600" b="1" dirty="0">
                <a:effectLst/>
                <a:latin typeface="Times New Roman" panose="02020603050405020304" pitchFamily="18" charset="0"/>
                <a:ea typeface="Calibri" panose="020F0502020204030204" pitchFamily="34" charset="0"/>
                <a:cs typeface="Times New Roman" panose="02020603050405020304" pitchFamily="18" charset="0"/>
              </a:rPr>
              <a:t>Anomalies detection in crop health and creating a custom flight path.</a:t>
            </a:r>
            <a:endParaRPr lang="en-IN" sz="3600" b="1" dirty="0"/>
          </a:p>
        </p:txBody>
      </p:sp>
      <p:sp>
        <p:nvSpPr>
          <p:cNvPr id="3" name="TextBox 14">
            <a:extLst>
              <a:ext uri="{FF2B5EF4-FFF2-40B4-BE49-F238E27FC236}">
                <a16:creationId xmlns:a16="http://schemas.microsoft.com/office/drawing/2014/main" id="{05820C93-91AA-8278-C5E4-ED8E5FCF5229}"/>
              </a:ext>
            </a:extLst>
          </p:cNvPr>
          <p:cNvSpPr txBox="1"/>
          <p:nvPr/>
        </p:nvSpPr>
        <p:spPr>
          <a:xfrm>
            <a:off x="1432258" y="3176113"/>
            <a:ext cx="2362200" cy="64633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1800" dirty="0">
                <a:solidFill>
                  <a:srgbClr val="000000"/>
                </a:solidFill>
                <a:latin typeface="Times New Roman"/>
                <a:ea typeface="Times New Roman"/>
                <a:cs typeface="Times New Roman"/>
                <a:sym typeface="Times New Roman"/>
              </a:rPr>
              <a:t>CB.EN.U4AEE21034</a:t>
            </a:r>
          </a:p>
          <a:p>
            <a:pPr algn="ctr">
              <a:defRPr/>
            </a:pPr>
            <a:r>
              <a:rPr lang="en-US" sz="1800" dirty="0">
                <a:solidFill>
                  <a:srgbClr val="000000"/>
                </a:solidFill>
                <a:latin typeface="Times New Roman"/>
                <a:ea typeface="Times New Roman"/>
                <a:cs typeface="Times New Roman"/>
                <a:sym typeface="Times New Roman"/>
              </a:rPr>
              <a:t>Erukala Sashank</a:t>
            </a:r>
          </a:p>
        </p:txBody>
      </p:sp>
      <p:sp>
        <p:nvSpPr>
          <p:cNvPr id="5" name="TextBox 14">
            <a:extLst>
              <a:ext uri="{FF2B5EF4-FFF2-40B4-BE49-F238E27FC236}">
                <a16:creationId xmlns:a16="http://schemas.microsoft.com/office/drawing/2014/main" id="{1444F090-E990-433A-0843-8DD72D6C8F60}"/>
              </a:ext>
            </a:extLst>
          </p:cNvPr>
          <p:cNvSpPr txBox="1"/>
          <p:nvPr/>
        </p:nvSpPr>
        <p:spPr>
          <a:xfrm>
            <a:off x="4859792" y="3176113"/>
            <a:ext cx="2362200" cy="64633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1800" dirty="0">
                <a:solidFill>
                  <a:srgbClr val="000000"/>
                </a:solidFill>
                <a:latin typeface="Times New Roman"/>
                <a:ea typeface="Times New Roman"/>
                <a:cs typeface="Times New Roman"/>
                <a:sym typeface="Times New Roman"/>
              </a:rPr>
              <a:t>CB.EN.U4AEE21046</a:t>
            </a:r>
          </a:p>
          <a:p>
            <a:pPr algn="ctr">
              <a:defRPr/>
            </a:pPr>
            <a:r>
              <a:rPr lang="en-US" sz="1800" dirty="0">
                <a:solidFill>
                  <a:srgbClr val="000000"/>
                </a:solidFill>
                <a:latin typeface="Times New Roman"/>
                <a:ea typeface="Times New Roman"/>
                <a:cs typeface="Times New Roman"/>
                <a:sym typeface="Times New Roman"/>
              </a:rPr>
              <a:t>Vishwa K</a:t>
            </a:r>
          </a:p>
        </p:txBody>
      </p:sp>
      <p:sp>
        <p:nvSpPr>
          <p:cNvPr id="8" name="TextBox 14">
            <a:extLst>
              <a:ext uri="{FF2B5EF4-FFF2-40B4-BE49-F238E27FC236}">
                <a16:creationId xmlns:a16="http://schemas.microsoft.com/office/drawing/2014/main" id="{7F31B351-C65D-4D47-C994-54AE3A425CDC}"/>
              </a:ext>
            </a:extLst>
          </p:cNvPr>
          <p:cNvSpPr txBox="1"/>
          <p:nvPr/>
        </p:nvSpPr>
        <p:spPr>
          <a:xfrm>
            <a:off x="8287327" y="3187027"/>
            <a:ext cx="2362200" cy="64633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1800" dirty="0">
                <a:solidFill>
                  <a:srgbClr val="000000"/>
                </a:solidFill>
                <a:latin typeface="Times New Roman"/>
                <a:ea typeface="Times New Roman"/>
                <a:cs typeface="Times New Roman"/>
                <a:sym typeface="Times New Roman"/>
              </a:rPr>
              <a:t>CB.EN.U4AEE21057</a:t>
            </a:r>
          </a:p>
          <a:p>
            <a:pPr algn="ctr">
              <a:defRPr/>
            </a:pPr>
            <a:r>
              <a:rPr lang="en-US" sz="1800" dirty="0" err="1">
                <a:solidFill>
                  <a:srgbClr val="000000"/>
                </a:solidFill>
                <a:latin typeface="Times New Roman"/>
                <a:ea typeface="Times New Roman"/>
                <a:cs typeface="Times New Roman"/>
                <a:sym typeface="Times New Roman"/>
              </a:rPr>
              <a:t>Magesvar</a:t>
            </a:r>
            <a:r>
              <a:rPr lang="en-US" sz="1800" dirty="0">
                <a:solidFill>
                  <a:srgbClr val="000000"/>
                </a:solidFill>
                <a:latin typeface="Times New Roman"/>
                <a:ea typeface="Times New Roman"/>
                <a:cs typeface="Times New Roman"/>
                <a:sym typeface="Times New Roman"/>
              </a:rPr>
              <a:t> V R</a:t>
            </a:r>
          </a:p>
        </p:txBody>
      </p:sp>
      <p:sp>
        <p:nvSpPr>
          <p:cNvPr id="9" name="TextBox 9">
            <a:extLst>
              <a:ext uri="{FF2B5EF4-FFF2-40B4-BE49-F238E27FC236}">
                <a16:creationId xmlns:a16="http://schemas.microsoft.com/office/drawing/2014/main" id="{06F4F9EA-F74A-C4EB-F105-783EADEA4E70}"/>
              </a:ext>
            </a:extLst>
          </p:cNvPr>
          <p:cNvSpPr txBox="1"/>
          <p:nvPr/>
        </p:nvSpPr>
        <p:spPr>
          <a:xfrm>
            <a:off x="389881" y="3833358"/>
            <a:ext cx="10955821" cy="738664"/>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400" dirty="0">
                <a:solidFill>
                  <a:srgbClr val="B6114D"/>
                </a:solidFill>
                <a:latin typeface="Times New Roman Bold"/>
                <a:ea typeface="Times New Roman Bold"/>
                <a:cs typeface="Times New Roman Bold"/>
                <a:sym typeface="Times New Roman Bold"/>
              </a:rPr>
              <a:t>Git hub URL: </a:t>
            </a:r>
            <a:r>
              <a:rPr lang="en-US" sz="2400" dirty="0">
                <a:solidFill>
                  <a:srgbClr val="B6114D"/>
                </a:solidFill>
                <a:latin typeface="Times New Roman Bold"/>
                <a:ea typeface="Times New Roman Bold"/>
                <a:cs typeface="Times New Roman Bold"/>
                <a:sym typeface="Times New Roman Bold"/>
                <a:hlinkClick r:id="rId3"/>
              </a:rPr>
              <a:t>https://github.com/123sashank321/Anamolies_Detection_in_Crops</a:t>
            </a:r>
            <a:endParaRPr lang="en-US" sz="2400" dirty="0">
              <a:solidFill>
                <a:srgbClr val="B6114D"/>
              </a:solidFill>
              <a:latin typeface="Times New Roman Bold"/>
              <a:ea typeface="Times New Roman Bold"/>
              <a:cs typeface="Times New Roman Bold"/>
              <a:sym typeface="Times New Roman Bold"/>
            </a:endParaRPr>
          </a:p>
          <a:p>
            <a:pPr algn="ctr"/>
            <a:r>
              <a:rPr lang="en-US" sz="2400" dirty="0" err="1">
                <a:solidFill>
                  <a:srgbClr val="B6114D"/>
                </a:solidFill>
                <a:latin typeface="Times New Roman Bold"/>
                <a:ea typeface="Times New Roman Bold"/>
                <a:cs typeface="Times New Roman Bold"/>
                <a:sym typeface="Times New Roman Bold"/>
              </a:rPr>
              <a:t>Sites.google</a:t>
            </a:r>
            <a:r>
              <a:rPr lang="en-US" sz="2400" dirty="0">
                <a:solidFill>
                  <a:srgbClr val="B6114D"/>
                </a:solidFill>
                <a:latin typeface="Times New Roman Bold"/>
                <a:ea typeface="Times New Roman Bold"/>
                <a:cs typeface="Times New Roman Bold"/>
                <a:sym typeface="Times New Roman Bold"/>
              </a:rPr>
              <a:t> : </a:t>
            </a:r>
            <a:r>
              <a:rPr lang="en-US" sz="2400" dirty="0">
                <a:solidFill>
                  <a:srgbClr val="B6114D"/>
                </a:solidFill>
                <a:latin typeface="Times New Roman Bold"/>
                <a:ea typeface="Times New Roman Bold"/>
                <a:cs typeface="Times New Roman Bold"/>
                <a:sym typeface="Times New Roman Bold"/>
                <a:hlinkClick r:id="rId4"/>
              </a:rPr>
              <a:t>https://sites.google.com/view/anamolies-detection-in-crops/home</a:t>
            </a:r>
            <a:endParaRPr lang="en-US" sz="2400" dirty="0">
              <a:solidFill>
                <a:srgbClr val="B6114D"/>
              </a:solidFill>
              <a:latin typeface="Times New Roman Bold"/>
              <a:ea typeface="Times New Roman Bold"/>
              <a:cs typeface="Times New Roman Bold"/>
              <a:sym typeface="Times New Roman Bold"/>
            </a:endParaRPr>
          </a:p>
        </p:txBody>
      </p:sp>
      <p:sp>
        <p:nvSpPr>
          <p:cNvPr id="10" name="TextBox 11">
            <a:extLst>
              <a:ext uri="{FF2B5EF4-FFF2-40B4-BE49-F238E27FC236}">
                <a16:creationId xmlns:a16="http://schemas.microsoft.com/office/drawing/2014/main" id="{4D2B317C-CD51-A8D4-EF75-7F64CE5E5110}"/>
              </a:ext>
            </a:extLst>
          </p:cNvPr>
          <p:cNvSpPr txBox="1"/>
          <p:nvPr/>
        </p:nvSpPr>
        <p:spPr>
          <a:xfrm>
            <a:off x="3158727" y="4582936"/>
            <a:ext cx="7287600" cy="1600566"/>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4319"/>
              </a:lnSpc>
            </a:pPr>
            <a:r>
              <a:rPr lang="en-US" sz="2800" dirty="0">
                <a:solidFill>
                  <a:srgbClr val="C00000"/>
                </a:solidFill>
                <a:latin typeface="Times New Roman Bold"/>
                <a:ea typeface="Times New Roman Bold"/>
                <a:cs typeface="Times New Roman Bold"/>
                <a:sym typeface="Times New Roman Bold"/>
              </a:rPr>
              <a:t>Professor	  :  </a:t>
            </a:r>
            <a:r>
              <a:rPr lang="en-US" sz="2800" dirty="0">
                <a:latin typeface="Times New Roman Bold"/>
                <a:ea typeface="Times New Roman Bold"/>
                <a:cs typeface="Times New Roman Bold"/>
                <a:sym typeface="Times New Roman Bold"/>
              </a:rPr>
              <a:t>Dr.</a:t>
            </a:r>
            <a:r>
              <a:rPr lang="en-US" sz="2800" dirty="0">
                <a:solidFill>
                  <a:srgbClr val="C00000"/>
                </a:solidFill>
                <a:latin typeface="Times New Roman Bold"/>
                <a:ea typeface="Times New Roman Bold"/>
                <a:cs typeface="Times New Roman Bold"/>
                <a:sym typeface="Times New Roman Bold"/>
              </a:rPr>
              <a:t> </a:t>
            </a:r>
            <a:r>
              <a:rPr lang="en-US" sz="2800" b="1" dirty="0">
                <a:latin typeface="Times New Roman Bold"/>
                <a:ea typeface="Times New Roman Bold"/>
                <a:cs typeface="Times New Roman Bold"/>
                <a:sym typeface="Times New Roman Bold"/>
              </a:rPr>
              <a:t>T Senthil Kumar(CSE)</a:t>
            </a:r>
          </a:p>
          <a:p>
            <a:pPr>
              <a:lnSpc>
                <a:spcPts val="4319"/>
              </a:lnSpc>
            </a:pPr>
            <a:r>
              <a:rPr lang="en-US" sz="2800" b="1" dirty="0">
                <a:solidFill>
                  <a:srgbClr val="C00000"/>
                </a:solidFill>
                <a:latin typeface="Times New Roman Bold"/>
                <a:ea typeface="Times New Roman Bold"/>
                <a:cs typeface="Times New Roman Bold"/>
                <a:sym typeface="Times New Roman Bold"/>
              </a:rPr>
              <a:t>Collaborator</a:t>
            </a:r>
            <a:r>
              <a:rPr lang="en-US" sz="2800" b="1" dirty="0">
                <a:latin typeface="Times New Roman Bold"/>
                <a:ea typeface="Times New Roman Bold"/>
                <a:cs typeface="Times New Roman Bold"/>
                <a:sym typeface="Times New Roman Bold"/>
              </a:rPr>
              <a:t> </a:t>
            </a:r>
            <a:r>
              <a:rPr lang="en-US" sz="2800" b="1" dirty="0">
                <a:solidFill>
                  <a:srgbClr val="C00000"/>
                </a:solidFill>
                <a:latin typeface="Times New Roman Bold"/>
                <a:ea typeface="Times New Roman Bold"/>
                <a:cs typeface="Times New Roman Bold"/>
                <a:sym typeface="Times New Roman Bold"/>
              </a:rPr>
              <a:t>:</a:t>
            </a:r>
            <a:r>
              <a:rPr lang="en-US" sz="2800" b="1" dirty="0">
                <a:latin typeface="Times New Roman Bold"/>
                <a:ea typeface="Times New Roman Bold"/>
                <a:cs typeface="Times New Roman Bold"/>
                <a:sym typeface="Times New Roman Bold"/>
              </a:rPr>
              <a:t>  Mr. Akash (Sky –X)</a:t>
            </a:r>
          </a:p>
          <a:p>
            <a:pPr>
              <a:lnSpc>
                <a:spcPts val="4319"/>
              </a:lnSpc>
            </a:pPr>
            <a:r>
              <a:rPr lang="en-US" sz="2800" b="1" dirty="0">
                <a:solidFill>
                  <a:srgbClr val="C00000"/>
                </a:solidFill>
                <a:latin typeface="Times New Roman Bold"/>
                <a:ea typeface="Times New Roman Bold"/>
                <a:cs typeface="Times New Roman Bold"/>
                <a:sym typeface="Times New Roman Bold"/>
              </a:rPr>
              <a:t>Professor 	   :</a:t>
            </a:r>
            <a:r>
              <a:rPr lang="en-US" sz="2800" b="1" dirty="0">
                <a:latin typeface="Times New Roman Bold"/>
                <a:ea typeface="Times New Roman Bold"/>
                <a:cs typeface="Times New Roman Bold"/>
                <a:sym typeface="Times New Roman Bold"/>
              </a:rPr>
              <a:t>  S </a:t>
            </a:r>
            <a:r>
              <a:rPr lang="en-US" sz="2800" b="1" dirty="0" err="1">
                <a:latin typeface="Times New Roman Bold"/>
                <a:ea typeface="Times New Roman Bold"/>
                <a:cs typeface="Times New Roman Bold"/>
                <a:sym typeface="Times New Roman Bold"/>
              </a:rPr>
              <a:t>Thangeswari</a:t>
            </a:r>
            <a:endParaRPr lang="en-US" sz="2800" b="1" dirty="0">
              <a:latin typeface="Times New Roman Bold"/>
              <a:ea typeface="Times New Roman Bold"/>
              <a:cs typeface="Times New Roman Bold"/>
              <a:sym typeface="Times New Roman Bold"/>
            </a:endParaRPr>
          </a:p>
        </p:txBody>
      </p:sp>
    </p:spTree>
    <p:extLst>
      <p:ext uri="{BB962C8B-B14F-4D97-AF65-F5344CB8AC3E}">
        <p14:creationId xmlns:p14="http://schemas.microsoft.com/office/powerpoint/2010/main" val="40011349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B19B957-C556-4B8B-B851-666C2B83D5C6}"/>
              </a:ext>
            </a:extLst>
          </p:cNvPr>
          <p:cNvSpPr>
            <a:spLocks noGrp="1"/>
          </p:cNvSpPr>
          <p:nvPr>
            <p:ph type="title"/>
          </p:nvPr>
        </p:nvSpPr>
        <p:spPr>
          <a:xfrm>
            <a:off x="595661" y="182564"/>
            <a:ext cx="10515600" cy="456628"/>
          </a:xfrm>
        </p:spPr>
        <p:txBody>
          <a:bodyPr>
            <a:noAutofit/>
          </a:bodyPr>
          <a:lstStyle/>
          <a:p>
            <a:r>
              <a:rPr lang="en-IN" sz="3200" b="1" i="1" dirty="0">
                <a:solidFill>
                  <a:srgbClr val="C00000"/>
                </a:solidFill>
                <a:latin typeface="Times New Roman" panose="02020603050405020304" pitchFamily="18" charset="0"/>
                <a:cs typeface="Times New Roman" panose="02020603050405020304" pitchFamily="18" charset="0"/>
              </a:rPr>
              <a:t>Agenda</a:t>
            </a:r>
          </a:p>
        </p:txBody>
      </p:sp>
      <p:sp>
        <p:nvSpPr>
          <p:cNvPr id="9" name="Content Placeholder 2">
            <a:extLst>
              <a:ext uri="{FF2B5EF4-FFF2-40B4-BE49-F238E27FC236}">
                <a16:creationId xmlns:a16="http://schemas.microsoft.com/office/drawing/2014/main" id="{F5007A0E-F0BD-D586-1ABE-B794B2DC4FE5}"/>
              </a:ext>
            </a:extLst>
          </p:cNvPr>
          <p:cNvSpPr>
            <a:spLocks noGrp="1"/>
          </p:cNvSpPr>
          <p:nvPr>
            <p:ph idx="1"/>
          </p:nvPr>
        </p:nvSpPr>
        <p:spPr>
          <a:xfrm>
            <a:off x="544285" y="799838"/>
            <a:ext cx="10881275" cy="5296162"/>
          </a:xfrm>
        </p:spPr>
        <p:txBody>
          <a:bodyPr>
            <a:noAutofit/>
          </a:bodyPr>
          <a:lstStyle/>
          <a:p>
            <a:pPr algn="just">
              <a:lnSpc>
                <a:spcPct val="150000"/>
              </a:lnSpc>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Introduction</a:t>
            </a:r>
          </a:p>
          <a:p>
            <a:pPr algn="just">
              <a:lnSpc>
                <a:spcPct val="150000"/>
              </a:lnSpc>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Problem Statement</a:t>
            </a:r>
          </a:p>
          <a:p>
            <a:pPr algn="just">
              <a:lnSpc>
                <a:spcPct val="150000"/>
              </a:lnSpc>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Literature Survey</a:t>
            </a:r>
          </a:p>
          <a:p>
            <a:pPr algn="just">
              <a:lnSpc>
                <a:spcPct val="150000"/>
              </a:lnSpc>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Dataset description</a:t>
            </a:r>
          </a:p>
          <a:p>
            <a:pPr algn="just">
              <a:lnSpc>
                <a:spcPct val="150000"/>
              </a:lnSpc>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Block  Diagram</a:t>
            </a:r>
          </a:p>
          <a:p>
            <a:pPr algn="just">
              <a:lnSpc>
                <a:spcPct val="150000"/>
              </a:lnSpc>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Methodologies</a:t>
            </a:r>
          </a:p>
          <a:p>
            <a:pPr algn="just">
              <a:lnSpc>
                <a:spcPct val="150000"/>
              </a:lnSpc>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Conclusion </a:t>
            </a:r>
          </a:p>
          <a:p>
            <a:pPr algn="just">
              <a:lnSpc>
                <a:spcPct val="150000"/>
              </a:lnSpc>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Future Enhancement</a:t>
            </a:r>
          </a:p>
        </p:txBody>
      </p:sp>
    </p:spTree>
    <p:extLst>
      <p:ext uri="{BB962C8B-B14F-4D97-AF65-F5344CB8AC3E}">
        <p14:creationId xmlns:p14="http://schemas.microsoft.com/office/powerpoint/2010/main" val="15639460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0A6C73A-AC36-B7A2-E8C0-AF8177B5AD2D}"/>
              </a:ext>
            </a:extLst>
          </p:cNvPr>
          <p:cNvSpPr>
            <a:spLocks noGrp="1"/>
          </p:cNvSpPr>
          <p:nvPr>
            <p:ph type="title"/>
          </p:nvPr>
        </p:nvSpPr>
        <p:spPr>
          <a:xfrm>
            <a:off x="571500" y="250828"/>
            <a:ext cx="2947204" cy="669016"/>
          </a:xfrm>
        </p:spPr>
        <p:txBody>
          <a:bodyPr>
            <a:normAutofit/>
          </a:bodyPr>
          <a:lstStyle/>
          <a:p>
            <a:r>
              <a:rPr lang="en-US" sz="4000" b="1" dirty="0">
                <a:solidFill>
                  <a:srgbClr val="CC0066"/>
                </a:solidFill>
                <a:latin typeface="Times New Roman" panose="02020603050405020304" pitchFamily="18" charset="0"/>
                <a:cs typeface="Times New Roman" panose="02020603050405020304" pitchFamily="18" charset="0"/>
              </a:rPr>
              <a:t>Introduction</a:t>
            </a:r>
          </a:p>
        </p:txBody>
      </p:sp>
      <p:sp>
        <p:nvSpPr>
          <p:cNvPr id="10" name="Content Placeholder 2">
            <a:extLst>
              <a:ext uri="{FF2B5EF4-FFF2-40B4-BE49-F238E27FC236}">
                <a16:creationId xmlns:a16="http://schemas.microsoft.com/office/drawing/2014/main" id="{3B79C2C4-54AC-64D7-FE50-C3B4603B7828}"/>
              </a:ext>
            </a:extLst>
          </p:cNvPr>
          <p:cNvSpPr>
            <a:spLocks noGrp="1"/>
          </p:cNvSpPr>
          <p:nvPr>
            <p:ph idx="1"/>
          </p:nvPr>
        </p:nvSpPr>
        <p:spPr>
          <a:xfrm>
            <a:off x="680357" y="1020082"/>
            <a:ext cx="10515600" cy="2785300"/>
          </a:xfrm>
        </p:spPr>
        <p:txBody>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Develop an </a:t>
            </a:r>
            <a:r>
              <a:rPr lang="en-US" altLang="en-US" dirty="0">
                <a:latin typeface="Arial" panose="020B0604020202020204" pitchFamily="34" charset="0"/>
                <a:cs typeface="Arial" panose="020B0604020202020204" pitchFamily="34" charset="0"/>
              </a:rPr>
              <a:t>Deep Learning</a:t>
            </a:r>
            <a:r>
              <a:rPr kumimoji="0" lang="en-US" alt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algorithm to detect anomalies in crop health using sensor and imaging data.</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Automate the creation of custom flight paths for agricultural spraying drones.</a:t>
            </a:r>
          </a:p>
          <a:p>
            <a:pPr marL="0" indent="0">
              <a:buNone/>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02558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5078BCF-9D1C-5402-F642-80E861A5E73D}"/>
              </a:ext>
            </a:extLst>
          </p:cNvPr>
          <p:cNvSpPr txBox="1">
            <a:spLocks/>
          </p:cNvSpPr>
          <p:nvPr/>
        </p:nvSpPr>
        <p:spPr>
          <a:xfrm>
            <a:off x="542142" y="224886"/>
            <a:ext cx="4296076" cy="669016"/>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4400" kern="1200">
                <a:solidFill>
                  <a:schemeClr val="tx1"/>
                </a:solidFill>
                <a:latin typeface="Futura"/>
                <a:ea typeface="+mj-ea"/>
                <a:cs typeface="+mj-cs"/>
              </a:defRPr>
            </a:lvl1pPr>
          </a:lstStyle>
          <a:p>
            <a:r>
              <a:rPr lang="en-US" sz="3600" b="1">
                <a:solidFill>
                  <a:srgbClr val="CC0066"/>
                </a:solidFill>
                <a:latin typeface="Times New Roman" panose="02020603050405020304" pitchFamily="18" charset="0"/>
                <a:cs typeface="Times New Roman" panose="02020603050405020304" pitchFamily="18" charset="0"/>
              </a:rPr>
              <a:t>Problem Statement</a:t>
            </a:r>
            <a:endParaRPr lang="en-US" sz="3600" b="1" dirty="0">
              <a:solidFill>
                <a:srgbClr val="CC0066"/>
              </a:solidFill>
              <a:latin typeface="Times New Roman" panose="02020603050405020304" pitchFamily="18" charset="0"/>
              <a:cs typeface="Times New Roman" panose="02020603050405020304" pitchFamily="18" charset="0"/>
            </a:endParaRPr>
          </a:p>
        </p:txBody>
      </p:sp>
      <p:sp>
        <p:nvSpPr>
          <p:cNvPr id="9" name="Rectangle 1">
            <a:extLst>
              <a:ext uri="{FF2B5EF4-FFF2-40B4-BE49-F238E27FC236}">
                <a16:creationId xmlns:a16="http://schemas.microsoft.com/office/drawing/2014/main" id="{1F0D8A1F-0106-4146-CE61-2C41EC715DC5}"/>
              </a:ext>
            </a:extLst>
          </p:cNvPr>
          <p:cNvSpPr>
            <a:spLocks noGrp="1" noChangeArrowheads="1"/>
          </p:cNvSpPr>
          <p:nvPr>
            <p:ph idx="1"/>
          </p:nvPr>
        </p:nvSpPr>
        <p:spPr bwMode="auto">
          <a:xfrm>
            <a:off x="340519" y="718671"/>
            <a:ext cx="11510962" cy="518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lnSpc>
                <a:spcPct val="150000"/>
              </a:lnSpc>
              <a:spcBef>
                <a:spcPct val="0"/>
              </a:spcBef>
              <a:spcAft>
                <a:spcPct val="0"/>
              </a:spcAft>
              <a:buFont typeface="Wingdings" panose="05000000000000000000" pitchFamily="2" charset="2"/>
              <a:buChar char="Ø"/>
            </a:pPr>
            <a:r>
              <a:rPr lang="en-US" dirty="0">
                <a:latin typeface="Arial" panose="020B0604020202020204" pitchFamily="34" charset="0"/>
                <a:cs typeface="Arial" panose="020B0604020202020204" pitchFamily="34" charset="0"/>
              </a:rPr>
              <a:t>Current methods for monitoring crop health and managing agricultural spraying are often inefficient and labor-intensive, leading to suboptimal crop yields and increased pesticide use. There is a need for an advanced system that combines machine learning and drone technology to detect anomalies in crop health early and automate the creation of precise, customized flight paths for treatment. This will address issues of inefficiency, high operational costs, and environmental impact in modern agriculture.</a:t>
            </a:r>
            <a:endPar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107494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B431A-28AB-DCF1-9F25-58808FC916A9}"/>
              </a:ext>
            </a:extLst>
          </p:cNvPr>
          <p:cNvSpPr>
            <a:spLocks noGrp="1"/>
          </p:cNvSpPr>
          <p:nvPr>
            <p:ph type="title"/>
          </p:nvPr>
        </p:nvSpPr>
        <p:spPr>
          <a:xfrm>
            <a:off x="595661" y="358055"/>
            <a:ext cx="4992339" cy="456628"/>
          </a:xfrm>
        </p:spPr>
        <p:txBody>
          <a:bodyPr>
            <a:noAutofit/>
          </a:bodyPr>
          <a:lstStyle/>
          <a:p>
            <a:r>
              <a:rPr lang="en-US" sz="3200" b="1" i="1" dirty="0">
                <a:solidFill>
                  <a:srgbClr val="C00000"/>
                </a:solidFill>
                <a:latin typeface="Times New Roman" panose="02020603050405020304" pitchFamily="18" charset="0"/>
                <a:cs typeface="Times New Roman" panose="02020603050405020304" pitchFamily="18" charset="0"/>
              </a:rPr>
              <a:t>Literature Survey</a:t>
            </a:r>
            <a:endParaRPr lang="en-IN" sz="3200" b="1" i="1" dirty="0">
              <a:solidFill>
                <a:srgbClr val="C00000"/>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1741DA5E-A274-0B8A-E659-3FB7327D849B}"/>
              </a:ext>
            </a:extLst>
          </p:cNvPr>
          <p:cNvSpPr>
            <a:spLocks noGrp="1" noChangeArrowheads="1"/>
          </p:cNvSpPr>
          <p:nvPr>
            <p:ph idx="1"/>
          </p:nvPr>
        </p:nvSpPr>
        <p:spPr bwMode="auto">
          <a:xfrm>
            <a:off x="885027" y="875567"/>
            <a:ext cx="10734461"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056" tIns="0" rIns="91440" bIns="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Mendoza-Bernal, J., González-Vidal, A., &amp;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Skarmeta</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F. (2024). A Convolutional Neural Network approach for image-based anomaly detection in smart agriculture. </a:t>
            </a:r>
            <a:r>
              <a:rPr kumimoji="0" lang="en-US" altLang="en-US" sz="2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Expert Systems With Applications</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247</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123210. </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2"/>
              </a:rPr>
              <a:t>https://doi.org/10.1016/j.eswa.2024.123210</a:t>
            </a:r>
            <a:endPar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sz="26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Narmilan</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Gonzalez, F.,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Salgadoe</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&amp; Powell, K. (2022). Detection of White Leaf Disease in Sugarcane Using Machine Learning Techniques over UAV Multispectral Images. </a:t>
            </a:r>
            <a:r>
              <a:rPr kumimoji="0" lang="en-US" altLang="en-US" sz="2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Drones</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 230. </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3"/>
              </a:rPr>
              <a:t>https://doi.org/10.3390/drones6090230</a:t>
            </a:r>
            <a:endPar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defTabSz="914400" eaLnBrk="0" fontAlgn="base" hangingPunct="0">
              <a:lnSpc>
                <a:spcPct val="100000"/>
              </a:lnSpc>
              <a:spcBef>
                <a:spcPct val="0"/>
              </a:spcBef>
              <a:spcAft>
                <a:spcPct val="0"/>
              </a:spcAft>
              <a:buFont typeface="Wingdings" panose="05000000000000000000" pitchFamily="2" charset="2"/>
              <a:buChar char="Ø"/>
            </a:pPr>
            <a:endPar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defTabSz="914400" eaLnBrk="0" fontAlgn="base" hangingPunct="0">
              <a:lnSpc>
                <a:spcPct val="100000"/>
              </a:lnSpc>
              <a:spcBef>
                <a:spcPct val="0"/>
              </a:spcBef>
              <a:spcAft>
                <a:spcPct val="0"/>
              </a:spcAft>
              <a:buFont typeface="Wingdings" panose="05000000000000000000" pitchFamily="2" charset="2"/>
              <a:buChar char="Ø"/>
            </a:pP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Attri</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 Awasthi, L. K., Sharma, T. P., &amp;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Rathee</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 (2023). A review of deep learning techniques used in agriculture. </a:t>
            </a:r>
            <a:r>
              <a:rPr kumimoji="0" lang="en-US" altLang="en-US" sz="2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Ecological Informatics</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77</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102217. https://doi.org/10.1016/j.ecoinf.2023.102217</a:t>
            </a:r>
            <a:endParaRPr kumimoji="0" lang="en-US" altLang="en-US" sz="26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3942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B431A-28AB-DCF1-9F25-58808FC916A9}"/>
              </a:ext>
            </a:extLst>
          </p:cNvPr>
          <p:cNvSpPr>
            <a:spLocks noGrp="1"/>
          </p:cNvSpPr>
          <p:nvPr>
            <p:ph type="title"/>
          </p:nvPr>
        </p:nvSpPr>
        <p:spPr>
          <a:xfrm>
            <a:off x="595661" y="358055"/>
            <a:ext cx="4992339" cy="456628"/>
          </a:xfrm>
        </p:spPr>
        <p:txBody>
          <a:bodyPr>
            <a:noAutofit/>
          </a:bodyPr>
          <a:lstStyle/>
          <a:p>
            <a:r>
              <a:rPr lang="en-US" sz="3200" b="1" i="1" dirty="0">
                <a:solidFill>
                  <a:srgbClr val="C00000"/>
                </a:solidFill>
                <a:latin typeface="Times New Roman" panose="02020603050405020304" pitchFamily="18" charset="0"/>
                <a:cs typeface="Times New Roman" panose="02020603050405020304" pitchFamily="18" charset="0"/>
              </a:rPr>
              <a:t>Information about Data Set</a:t>
            </a:r>
            <a:endParaRPr lang="en-IN" sz="3200" b="1" i="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3FB4597-D08F-0E99-E710-88BD73CDA5DE}"/>
              </a:ext>
            </a:extLst>
          </p:cNvPr>
          <p:cNvSpPr>
            <a:spLocks noGrp="1"/>
          </p:cNvSpPr>
          <p:nvPr>
            <p:ph idx="1"/>
          </p:nvPr>
        </p:nvSpPr>
        <p:spPr>
          <a:xfrm>
            <a:off x="680357" y="1253331"/>
            <a:ext cx="10515600" cy="1536168"/>
          </a:xfrm>
        </p:spPr>
        <p:txBody>
          <a:bodyPr>
            <a:normAutofit/>
          </a:bodyPr>
          <a:lstStyle/>
          <a:p>
            <a:r>
              <a:rPr lang="en-US" dirty="0">
                <a:latin typeface="Times New Roman" panose="02020603050405020304" pitchFamily="18" charset="0"/>
                <a:cs typeface="Times New Roman" panose="02020603050405020304" pitchFamily="18" charset="0"/>
              </a:rPr>
              <a:t>Dataset for our project is mainly based on sugarcane crops. </a:t>
            </a:r>
          </a:p>
          <a:p>
            <a:r>
              <a:rPr lang="en-US" dirty="0">
                <a:latin typeface="Times New Roman" panose="02020603050405020304" pitchFamily="18" charset="0"/>
                <a:cs typeface="Times New Roman" panose="02020603050405020304" pitchFamily="18" charset="0"/>
              </a:rPr>
              <a:t>Our Dataset consists of images categorized into folders of</a:t>
            </a:r>
          </a:p>
          <a:p>
            <a:pPr lvl="1"/>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0807466-6EF5-670D-2159-E3DA73CD7541}"/>
              </a:ext>
            </a:extLst>
          </p:cNvPr>
          <p:cNvSpPr txBox="1"/>
          <p:nvPr/>
        </p:nvSpPr>
        <p:spPr>
          <a:xfrm>
            <a:off x="8151471" y="2327834"/>
            <a:ext cx="2277318" cy="461665"/>
          </a:xfrm>
          <a:prstGeom prst="rect">
            <a:avLst/>
          </a:prstGeom>
          <a:noFill/>
        </p:spPr>
        <p:txBody>
          <a:bodyPr wrap="square">
            <a:spAutoFit/>
          </a:bodyPr>
          <a:lstStyle/>
          <a:p>
            <a:pPr lvl="1"/>
            <a:r>
              <a:rPr lang="en-US" sz="2400" dirty="0">
                <a:latin typeface="Times New Roman" panose="02020603050405020304" pitchFamily="18" charset="0"/>
                <a:cs typeface="Times New Roman" panose="02020603050405020304" pitchFamily="18" charset="0"/>
                <a:hlinkClick r:id="rId2" action="ppaction://hlinkfile"/>
              </a:rPr>
              <a:t>Unhealthy</a:t>
            </a:r>
            <a:endParaRPr lang="en-US"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FAF3CF1-0FB1-5CCF-D34D-EE114C93A74E}"/>
              </a:ext>
            </a:extLst>
          </p:cNvPr>
          <p:cNvSpPr txBox="1"/>
          <p:nvPr/>
        </p:nvSpPr>
        <p:spPr>
          <a:xfrm>
            <a:off x="1538160" y="2327834"/>
            <a:ext cx="1918503" cy="461665"/>
          </a:xfrm>
          <a:prstGeom prst="rect">
            <a:avLst/>
          </a:prstGeom>
          <a:noFill/>
        </p:spPr>
        <p:txBody>
          <a:bodyPr wrap="square">
            <a:spAutoFit/>
          </a:bodyPr>
          <a:lstStyle/>
          <a:p>
            <a:pPr lvl="1"/>
            <a:r>
              <a:rPr lang="en-US" sz="2400" dirty="0">
                <a:latin typeface="Times New Roman" panose="02020603050405020304" pitchFamily="18" charset="0"/>
                <a:cs typeface="Times New Roman" panose="02020603050405020304" pitchFamily="18" charset="0"/>
                <a:hlinkClick r:id="rId3" action="ppaction://hlinkfile"/>
              </a:rPr>
              <a:t>Healthy</a:t>
            </a:r>
            <a:endParaRPr 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pslz="http://schemas.microsoft.com/office/powerpoint/2016/slidezoom">
        <mc:Choice Requires="pslz">
          <p:graphicFrame>
            <p:nvGraphicFramePr>
              <p:cNvPr id="9" name="Slide Zoom 8">
                <a:extLst>
                  <a:ext uri="{FF2B5EF4-FFF2-40B4-BE49-F238E27FC236}">
                    <a16:creationId xmlns:a16="http://schemas.microsoft.com/office/drawing/2014/main" id="{78FE8B47-1FA0-38AE-5327-D11A3900C396}"/>
                  </a:ext>
                </a:extLst>
              </p:cNvPr>
              <p:cNvGraphicFramePr>
                <a:graphicFrameLocks noChangeAspect="1"/>
              </p:cNvGraphicFramePr>
              <p:nvPr/>
            </p:nvGraphicFramePr>
            <p:xfrm>
              <a:off x="775504" y="2961447"/>
              <a:ext cx="4338764" cy="2440555"/>
            </p:xfrm>
            <a:graphic>
              <a:graphicData uri="http://schemas.microsoft.com/office/powerpoint/2016/slidezoom">
                <pslz:sldZm>
                  <pslz:sldZmObj sldId="909" cId="2654576592">
                    <pslz:zmPr id="{9BB744EC-BAF6-4327-8796-79E2EA04065C}" returnToParent="0" transitionDur="1000">
                      <p166:blipFill xmlns:p166="http://schemas.microsoft.com/office/powerpoint/2016/6/main">
                        <a:blip r:embed="rId4"/>
                        <a:stretch>
                          <a:fillRect/>
                        </a:stretch>
                      </p166:blipFill>
                      <p166:spPr xmlns:p166="http://schemas.microsoft.com/office/powerpoint/2016/6/main">
                        <a:xfrm>
                          <a:off x="0" y="0"/>
                          <a:ext cx="4338764" cy="2440555"/>
                        </a:xfrm>
                        <a:prstGeom prst="rect">
                          <a:avLst/>
                        </a:prstGeom>
                        <a:ln w="3175">
                          <a:solidFill>
                            <a:prstClr val="ltGray"/>
                          </a:solidFill>
                        </a:ln>
                      </p166:spPr>
                    </pslz:zmPr>
                  </pslz:sldZmObj>
                </pslz:sldZm>
              </a:graphicData>
            </a:graphic>
          </p:graphicFrame>
        </mc:Choice>
        <mc:Fallback xmlns="">
          <p:pic>
            <p:nvPicPr>
              <p:cNvPr id="9" name="Slide Zoom 8">
                <a:extLst>
                  <a:ext uri="{FF2B5EF4-FFF2-40B4-BE49-F238E27FC236}">
                    <a16:creationId xmlns:a16="http://schemas.microsoft.com/office/drawing/2014/main" id="{78FE8B47-1FA0-38AE-5327-D11A3900C396}"/>
                  </a:ext>
                </a:extLst>
              </p:cNvPr>
              <p:cNvPicPr>
                <a:picLocks noGrp="1" noRot="1" noChangeAspect="1" noMove="1" noResize="1" noEditPoints="1" noAdjustHandles="1" noChangeArrowheads="1" noChangeShapeType="1"/>
              </p:cNvPicPr>
              <p:nvPr/>
            </p:nvPicPr>
            <p:blipFill>
              <a:blip r:embed="rId5"/>
              <a:stretch>
                <a:fillRect/>
              </a:stretch>
            </p:blipFill>
            <p:spPr>
              <a:xfrm>
                <a:off x="775504" y="2961447"/>
                <a:ext cx="4338764" cy="244055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1" name="Slide Zoom 10">
                <a:extLst>
                  <a:ext uri="{FF2B5EF4-FFF2-40B4-BE49-F238E27FC236}">
                    <a16:creationId xmlns:a16="http://schemas.microsoft.com/office/drawing/2014/main" id="{7A6CF597-91C3-B74A-7077-D794539A3BAB}"/>
                  </a:ext>
                </a:extLst>
              </p:cNvPr>
              <p:cNvGraphicFramePr>
                <a:graphicFrameLocks noChangeAspect="1"/>
              </p:cNvGraphicFramePr>
              <p:nvPr/>
            </p:nvGraphicFramePr>
            <p:xfrm>
              <a:off x="6721031" y="2961447"/>
              <a:ext cx="4811211" cy="2706306"/>
            </p:xfrm>
            <a:graphic>
              <a:graphicData uri="http://schemas.microsoft.com/office/powerpoint/2016/slidezoom">
                <pslz:sldZm>
                  <pslz:sldZmObj sldId="910" cId="1815800720">
                    <pslz:zmPr id="{050B62D0-151C-4A48-992A-A865956D9F4A}" transitionDur="1000" showBg="0">
                      <p166:blipFill xmlns:p166="http://schemas.microsoft.com/office/powerpoint/2016/6/main">
                        <a:blip r:embed="rId6"/>
                        <a:stretch>
                          <a:fillRect/>
                        </a:stretch>
                      </p166:blipFill>
                      <p166:spPr xmlns:p166="http://schemas.microsoft.com/office/powerpoint/2016/6/main">
                        <a:xfrm>
                          <a:off x="0" y="0"/>
                          <a:ext cx="4811211" cy="2706306"/>
                        </a:xfrm>
                        <a:prstGeom prst="rect">
                          <a:avLst/>
                        </a:prstGeom>
                      </p166:spPr>
                    </pslz:zmPr>
                  </pslz:sldZmObj>
                </pslz:sldZm>
              </a:graphicData>
            </a:graphic>
          </p:graphicFrame>
        </mc:Choice>
        <mc:Fallback xmlns="">
          <p:pic>
            <p:nvPicPr>
              <p:cNvPr id="11" name="Slide Zoom 10">
                <a:extLst>
                  <a:ext uri="{FF2B5EF4-FFF2-40B4-BE49-F238E27FC236}">
                    <a16:creationId xmlns:a16="http://schemas.microsoft.com/office/drawing/2014/main" id="{7A6CF597-91C3-B74A-7077-D794539A3BAB}"/>
                  </a:ext>
                </a:extLst>
              </p:cNvPr>
              <p:cNvPicPr>
                <a:picLocks noGrp="1" noRot="1" noChangeAspect="1" noMove="1" noResize="1" noEditPoints="1" noAdjustHandles="1" noChangeArrowheads="1" noChangeShapeType="1"/>
              </p:cNvPicPr>
              <p:nvPr/>
            </p:nvPicPr>
            <p:blipFill>
              <a:blip r:embed="rId7"/>
              <a:stretch>
                <a:fillRect/>
              </a:stretch>
            </p:blipFill>
            <p:spPr>
              <a:xfrm>
                <a:off x="6721031" y="2961447"/>
                <a:ext cx="4811211" cy="2706306"/>
              </a:xfrm>
              <a:prstGeom prst="rect">
                <a:avLst/>
              </a:prstGeom>
            </p:spPr>
          </p:pic>
        </mc:Fallback>
      </mc:AlternateContent>
    </p:spTree>
    <p:extLst>
      <p:ext uri="{BB962C8B-B14F-4D97-AF65-F5344CB8AC3E}">
        <p14:creationId xmlns:p14="http://schemas.microsoft.com/office/powerpoint/2010/main" val="25337180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95DB0EA-33EF-26FC-4133-1169089871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591" y="-1"/>
            <a:ext cx="14467182" cy="6858002"/>
          </a:xfrm>
          <a:prstGeom prst="rect">
            <a:avLst/>
          </a:prstGeom>
        </p:spPr>
      </p:pic>
    </p:spTree>
    <p:extLst>
      <p:ext uri="{BB962C8B-B14F-4D97-AF65-F5344CB8AC3E}">
        <p14:creationId xmlns:p14="http://schemas.microsoft.com/office/powerpoint/2010/main" val="26545765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0D3332C6-C4DC-8A90-3D6F-D4B2C91644AA}"/>
                  </a:ext>
                </a:extLst>
              </p:cNvPr>
              <p:cNvGraphicFramePr>
                <a:graphicFrameLocks noChangeAspect="1"/>
              </p:cNvGraphicFramePr>
              <p:nvPr/>
            </p:nvGraphicFramePr>
            <p:xfrm>
              <a:off x="594169" y="619969"/>
              <a:ext cx="3896808" cy="2191954"/>
            </p:xfrm>
            <a:graphic>
              <a:graphicData uri="http://schemas.microsoft.com/office/powerpoint/2016/slidezoom">
                <pslz:sldZm>
                  <pslz:sldZmObj sldId="912" cId="1584606771">
                    <pslz:zmPr id="{C8AFA1B4-BA87-490D-A97B-C1CE2884760C}" returnToParent="0" transitionDur="1000">
                      <p166:blipFill xmlns:p166="http://schemas.microsoft.com/office/powerpoint/2016/6/main">
                        <a:blip r:embed="rId2"/>
                        <a:stretch>
                          <a:fillRect/>
                        </a:stretch>
                      </p166:blipFill>
                      <p166:spPr xmlns:p166="http://schemas.microsoft.com/office/powerpoint/2016/6/main">
                        <a:xfrm>
                          <a:off x="0" y="0"/>
                          <a:ext cx="3896808" cy="2191954"/>
                        </a:xfrm>
                        <a:prstGeom prst="rect">
                          <a:avLst/>
                        </a:prstGeom>
                        <a:ln w="3175">
                          <a:solidFill>
                            <a:prstClr val="ltGray"/>
                          </a:solidFill>
                        </a:ln>
                      </p166:spPr>
                    </pslz:zmPr>
                  </pslz:sldZmObj>
                </pslz:sldZm>
              </a:graphicData>
            </a:graphic>
          </p:graphicFrame>
        </mc:Choice>
        <mc:Fallback xmlns="">
          <p:pic>
            <p:nvPicPr>
              <p:cNvPr id="5" name="Slide Zoom 4">
                <a:extLst>
                  <a:ext uri="{FF2B5EF4-FFF2-40B4-BE49-F238E27FC236}">
                    <a16:creationId xmlns:a16="http://schemas.microsoft.com/office/drawing/2014/main" id="{0D3332C6-C4DC-8A90-3D6F-D4B2C91644AA}"/>
                  </a:ext>
                </a:extLst>
              </p:cNvPr>
              <p:cNvPicPr>
                <a:picLocks noGrp="1" noRot="1" noChangeAspect="1" noMove="1" noResize="1" noEditPoints="1" noAdjustHandles="1" noChangeArrowheads="1" noChangeShapeType="1"/>
              </p:cNvPicPr>
              <p:nvPr/>
            </p:nvPicPr>
            <p:blipFill>
              <a:blip r:embed="rId3"/>
              <a:stretch>
                <a:fillRect/>
              </a:stretch>
            </p:blipFill>
            <p:spPr>
              <a:xfrm>
                <a:off x="594169" y="619969"/>
                <a:ext cx="3896808" cy="2191954"/>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7" name="Slide Zoom 6">
                <a:extLst>
                  <a:ext uri="{FF2B5EF4-FFF2-40B4-BE49-F238E27FC236}">
                    <a16:creationId xmlns:a16="http://schemas.microsoft.com/office/drawing/2014/main" id="{36B23EE2-CAB9-507E-8209-E99AF6D0DFD2}"/>
                  </a:ext>
                </a:extLst>
              </p:cNvPr>
              <p:cNvGraphicFramePr>
                <a:graphicFrameLocks noChangeAspect="1"/>
              </p:cNvGraphicFramePr>
              <p:nvPr/>
            </p:nvGraphicFramePr>
            <p:xfrm>
              <a:off x="7400082" y="619969"/>
              <a:ext cx="3896808" cy="2191954"/>
            </p:xfrm>
            <a:graphic>
              <a:graphicData uri="http://schemas.microsoft.com/office/powerpoint/2016/slidezoom">
                <pslz:sldZm>
                  <pslz:sldZmObj sldId="913" cId="988200853">
                    <pslz:zmPr id="{B7E24AC5-E4E4-4578-B6E9-5C376069F05C}" returnToParent="0" transitionDur="1000">
                      <p166:blipFill xmlns:p166="http://schemas.microsoft.com/office/powerpoint/2016/6/main">
                        <a:blip r:embed="rId4"/>
                        <a:stretch>
                          <a:fillRect/>
                        </a:stretch>
                      </p166:blipFill>
                      <p166:spPr xmlns:p166="http://schemas.microsoft.com/office/powerpoint/2016/6/main">
                        <a:xfrm>
                          <a:off x="0" y="0"/>
                          <a:ext cx="3896808" cy="2191954"/>
                        </a:xfrm>
                        <a:prstGeom prst="rect">
                          <a:avLst/>
                        </a:prstGeom>
                        <a:ln w="3175">
                          <a:solidFill>
                            <a:prstClr val="ltGray"/>
                          </a:solidFill>
                        </a:ln>
                      </p166:spPr>
                    </pslz:zmPr>
                  </pslz:sldZmObj>
                </pslz:sldZm>
              </a:graphicData>
            </a:graphic>
          </p:graphicFrame>
        </mc:Choice>
        <mc:Fallback xmlns="">
          <p:pic>
            <p:nvPicPr>
              <p:cNvPr id="7" name="Slide Zoom 6">
                <a:extLst>
                  <a:ext uri="{FF2B5EF4-FFF2-40B4-BE49-F238E27FC236}">
                    <a16:creationId xmlns:a16="http://schemas.microsoft.com/office/drawing/2014/main" id="{36B23EE2-CAB9-507E-8209-E99AF6D0DFD2}"/>
                  </a:ext>
                </a:extLst>
              </p:cNvPr>
              <p:cNvPicPr>
                <a:picLocks noGrp="1" noRot="1" noChangeAspect="1" noMove="1" noResize="1" noEditPoints="1" noAdjustHandles="1" noChangeArrowheads="1" noChangeShapeType="1"/>
              </p:cNvPicPr>
              <p:nvPr/>
            </p:nvPicPr>
            <p:blipFill>
              <a:blip r:embed="rId5"/>
              <a:stretch>
                <a:fillRect/>
              </a:stretch>
            </p:blipFill>
            <p:spPr>
              <a:xfrm>
                <a:off x="7400082" y="619969"/>
                <a:ext cx="3896808" cy="2191954"/>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0" name="Slide Zoom 9">
                <a:extLst>
                  <a:ext uri="{FF2B5EF4-FFF2-40B4-BE49-F238E27FC236}">
                    <a16:creationId xmlns:a16="http://schemas.microsoft.com/office/drawing/2014/main" id="{6A6A5555-D52B-832C-EF22-B8BCAA3A8479}"/>
                  </a:ext>
                </a:extLst>
              </p:cNvPr>
              <p:cNvGraphicFramePr>
                <a:graphicFrameLocks noChangeAspect="1"/>
              </p:cNvGraphicFramePr>
              <p:nvPr/>
            </p:nvGraphicFramePr>
            <p:xfrm>
              <a:off x="594169" y="3606238"/>
              <a:ext cx="3896808" cy="2191954"/>
            </p:xfrm>
            <a:graphic>
              <a:graphicData uri="http://schemas.microsoft.com/office/powerpoint/2016/slidezoom">
                <pslz:sldZm>
                  <pslz:sldZmObj sldId="914" cId="1943658856">
                    <pslz:zmPr id="{2CCACAC9-DA34-4078-8502-E63708172655}" returnToParent="0" transitionDur="1000">
                      <p166:blipFill xmlns:p166="http://schemas.microsoft.com/office/powerpoint/2016/6/main">
                        <a:blip r:embed="rId6"/>
                        <a:stretch>
                          <a:fillRect/>
                        </a:stretch>
                      </p166:blipFill>
                      <p166:spPr xmlns:p166="http://schemas.microsoft.com/office/powerpoint/2016/6/main">
                        <a:xfrm>
                          <a:off x="0" y="0"/>
                          <a:ext cx="3896808" cy="2191954"/>
                        </a:xfrm>
                        <a:prstGeom prst="rect">
                          <a:avLst/>
                        </a:prstGeom>
                        <a:ln w="3175">
                          <a:solidFill>
                            <a:prstClr val="ltGray"/>
                          </a:solidFill>
                        </a:ln>
                      </p166:spPr>
                    </pslz:zmPr>
                  </pslz:sldZmObj>
                </pslz:sldZm>
              </a:graphicData>
            </a:graphic>
          </p:graphicFrame>
        </mc:Choice>
        <mc:Fallback xmlns="">
          <p:pic>
            <p:nvPicPr>
              <p:cNvPr id="10" name="Slide Zoom 9">
                <a:extLst>
                  <a:ext uri="{FF2B5EF4-FFF2-40B4-BE49-F238E27FC236}">
                    <a16:creationId xmlns:a16="http://schemas.microsoft.com/office/drawing/2014/main" id="{6A6A5555-D52B-832C-EF22-B8BCAA3A8479}"/>
                  </a:ext>
                </a:extLst>
              </p:cNvPr>
              <p:cNvPicPr>
                <a:picLocks noGrp="1" noRot="1" noChangeAspect="1" noMove="1" noResize="1" noEditPoints="1" noAdjustHandles="1" noChangeArrowheads="1" noChangeShapeType="1"/>
              </p:cNvPicPr>
              <p:nvPr/>
            </p:nvPicPr>
            <p:blipFill>
              <a:blip r:embed="rId7"/>
              <a:stretch>
                <a:fillRect/>
              </a:stretch>
            </p:blipFill>
            <p:spPr>
              <a:xfrm>
                <a:off x="594169" y="3606238"/>
                <a:ext cx="3896808" cy="2191954"/>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2" name="Slide Zoom 11">
                <a:extLst>
                  <a:ext uri="{FF2B5EF4-FFF2-40B4-BE49-F238E27FC236}">
                    <a16:creationId xmlns:a16="http://schemas.microsoft.com/office/drawing/2014/main" id="{B454C5EC-1EA8-066A-160C-4109032C743C}"/>
                  </a:ext>
                </a:extLst>
              </p:cNvPr>
              <p:cNvGraphicFramePr>
                <a:graphicFrameLocks noChangeAspect="1"/>
              </p:cNvGraphicFramePr>
              <p:nvPr/>
            </p:nvGraphicFramePr>
            <p:xfrm>
              <a:off x="7701023" y="3606238"/>
              <a:ext cx="3896808" cy="2191954"/>
            </p:xfrm>
            <a:graphic>
              <a:graphicData uri="http://schemas.microsoft.com/office/powerpoint/2016/slidezoom">
                <pslz:sldZm>
                  <pslz:sldZmObj sldId="911" cId="2371074530">
                    <pslz:zmPr id="{A585003E-F8A8-4CFC-9F49-CD2C6B655E13}" returnToParent="0" transitionDur="1000">
                      <p166:blipFill xmlns:p166="http://schemas.microsoft.com/office/powerpoint/2016/6/main">
                        <a:blip r:embed="rId8"/>
                        <a:stretch>
                          <a:fillRect/>
                        </a:stretch>
                      </p166:blipFill>
                      <p166:spPr xmlns:p166="http://schemas.microsoft.com/office/powerpoint/2016/6/main">
                        <a:xfrm>
                          <a:off x="0" y="0"/>
                          <a:ext cx="3896808" cy="2191954"/>
                        </a:xfrm>
                        <a:prstGeom prst="rect">
                          <a:avLst/>
                        </a:prstGeom>
                        <a:ln w="3175">
                          <a:solidFill>
                            <a:prstClr val="ltGray"/>
                          </a:solidFill>
                        </a:ln>
                      </p166:spPr>
                    </pslz:zmPr>
                  </pslz:sldZmObj>
                </pslz:sldZm>
              </a:graphicData>
            </a:graphic>
          </p:graphicFrame>
        </mc:Choice>
        <mc:Fallback xmlns="">
          <p:pic>
            <p:nvPicPr>
              <p:cNvPr id="12" name="Slide Zoom 11">
                <a:extLst>
                  <a:ext uri="{FF2B5EF4-FFF2-40B4-BE49-F238E27FC236}">
                    <a16:creationId xmlns:a16="http://schemas.microsoft.com/office/drawing/2014/main" id="{B454C5EC-1EA8-066A-160C-4109032C743C}"/>
                  </a:ext>
                </a:extLst>
              </p:cNvPr>
              <p:cNvPicPr>
                <a:picLocks noGrp="1" noRot="1" noChangeAspect="1" noMove="1" noResize="1" noEditPoints="1" noAdjustHandles="1" noChangeArrowheads="1" noChangeShapeType="1"/>
              </p:cNvPicPr>
              <p:nvPr/>
            </p:nvPicPr>
            <p:blipFill>
              <a:blip r:embed="rId9"/>
              <a:stretch>
                <a:fillRect/>
              </a:stretch>
            </p:blipFill>
            <p:spPr>
              <a:xfrm>
                <a:off x="7701023" y="3606238"/>
                <a:ext cx="3896808" cy="2191954"/>
              </a:xfrm>
              <a:prstGeom prst="rect">
                <a:avLst/>
              </a:prstGeom>
              <a:ln w="3175">
                <a:solidFill>
                  <a:prstClr val="ltGray"/>
                </a:solidFill>
              </a:ln>
            </p:spPr>
          </p:pic>
        </mc:Fallback>
      </mc:AlternateContent>
      <p:sp>
        <p:nvSpPr>
          <p:cNvPr id="14" name="TextBox 13">
            <a:extLst>
              <a:ext uri="{FF2B5EF4-FFF2-40B4-BE49-F238E27FC236}">
                <a16:creationId xmlns:a16="http://schemas.microsoft.com/office/drawing/2014/main" id="{4D0C7297-C454-5AA5-F76C-28FA9CAE7115}"/>
              </a:ext>
            </a:extLst>
          </p:cNvPr>
          <p:cNvSpPr txBox="1"/>
          <p:nvPr/>
        </p:nvSpPr>
        <p:spPr>
          <a:xfrm>
            <a:off x="1911752" y="96749"/>
            <a:ext cx="1261641"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Mosaic</a:t>
            </a:r>
            <a:endParaRPr lang="en-IN" sz="28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43327E76-10BC-68DE-4F1E-DA91F278F99E}"/>
              </a:ext>
            </a:extLst>
          </p:cNvPr>
          <p:cNvSpPr txBox="1"/>
          <p:nvPr/>
        </p:nvSpPr>
        <p:spPr>
          <a:xfrm>
            <a:off x="8717665" y="96749"/>
            <a:ext cx="1562583"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Red Rot</a:t>
            </a:r>
            <a:endParaRPr lang="en-IN" sz="2800"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1B756752-E0B0-327B-E148-535532F1EF64}"/>
              </a:ext>
            </a:extLst>
          </p:cNvPr>
          <p:cNvSpPr txBox="1"/>
          <p:nvPr/>
        </p:nvSpPr>
        <p:spPr>
          <a:xfrm>
            <a:off x="2005313" y="3083018"/>
            <a:ext cx="1074517"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Rust</a:t>
            </a:r>
            <a:endParaRPr lang="en-IN" sz="2800"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D550749F-0011-9BEC-F24B-EAAC20DCAA4C}"/>
              </a:ext>
            </a:extLst>
          </p:cNvPr>
          <p:cNvSpPr txBox="1"/>
          <p:nvPr/>
        </p:nvSpPr>
        <p:spPr>
          <a:xfrm>
            <a:off x="8961697" y="3105443"/>
            <a:ext cx="1318551"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Yellow</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5800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D92328-F063-52CC-A889-55BC3E6B83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43000"/>
            <a:ext cx="12192000" cy="9144000"/>
          </a:xfrm>
          <a:prstGeom prst="rect">
            <a:avLst/>
          </a:prstGeom>
        </p:spPr>
      </p:pic>
    </p:spTree>
    <p:extLst>
      <p:ext uri="{BB962C8B-B14F-4D97-AF65-F5344CB8AC3E}">
        <p14:creationId xmlns:p14="http://schemas.microsoft.com/office/powerpoint/2010/main" val="1584606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5C419A-D445-385F-7E39-8D2B83E1E6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4633" y="-506209"/>
            <a:ext cx="14661266" cy="7870418"/>
          </a:xfrm>
          <a:prstGeom prst="rect">
            <a:avLst/>
          </a:prstGeom>
        </p:spPr>
      </p:pic>
    </p:spTree>
    <p:extLst>
      <p:ext uri="{BB962C8B-B14F-4D97-AF65-F5344CB8AC3E}">
        <p14:creationId xmlns:p14="http://schemas.microsoft.com/office/powerpoint/2010/main" val="9882008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5A62078-5E4A-FE67-AFD5-CF428687A4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5428" y="-3044142"/>
            <a:ext cx="13202856" cy="9902142"/>
          </a:xfrm>
          <a:prstGeom prst="rect">
            <a:avLst/>
          </a:prstGeom>
        </p:spPr>
      </p:pic>
    </p:spTree>
    <p:extLst>
      <p:ext uri="{BB962C8B-B14F-4D97-AF65-F5344CB8AC3E}">
        <p14:creationId xmlns:p14="http://schemas.microsoft.com/office/powerpoint/2010/main" val="1943658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4FEB47B-6EE9-857E-E299-AAB8A15EFD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5104" y="-117332"/>
            <a:ext cx="14962208" cy="7092664"/>
          </a:xfrm>
          <a:prstGeom prst="rect">
            <a:avLst/>
          </a:prstGeom>
        </p:spPr>
      </p:pic>
    </p:spTree>
    <p:extLst>
      <p:ext uri="{BB962C8B-B14F-4D97-AF65-F5344CB8AC3E}">
        <p14:creationId xmlns:p14="http://schemas.microsoft.com/office/powerpoint/2010/main" val="23710745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B431A-28AB-DCF1-9F25-58808FC916A9}"/>
              </a:ext>
            </a:extLst>
          </p:cNvPr>
          <p:cNvSpPr>
            <a:spLocks noGrp="1"/>
          </p:cNvSpPr>
          <p:nvPr>
            <p:ph type="title"/>
          </p:nvPr>
        </p:nvSpPr>
        <p:spPr>
          <a:xfrm>
            <a:off x="479124" y="220834"/>
            <a:ext cx="2821794" cy="456628"/>
          </a:xfrm>
        </p:spPr>
        <p:txBody>
          <a:bodyPr>
            <a:noAutofit/>
          </a:bodyPr>
          <a:lstStyle/>
          <a:p>
            <a:r>
              <a:rPr lang="en-US" sz="3200" b="1" i="1" dirty="0">
                <a:solidFill>
                  <a:srgbClr val="C00000"/>
                </a:solidFill>
                <a:latin typeface="Times New Roman" panose="02020603050405020304" pitchFamily="18" charset="0"/>
                <a:cs typeface="Times New Roman" panose="02020603050405020304" pitchFamily="18" charset="0"/>
              </a:rPr>
              <a:t>Block Diagram</a:t>
            </a:r>
            <a:endParaRPr lang="en-IN" sz="3200" b="1" i="1" dirty="0">
              <a:solidFill>
                <a:srgbClr val="C00000"/>
              </a:solidFill>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94AFC867-0298-30D9-11F8-9DE4CFF3E008}"/>
              </a:ext>
            </a:extLst>
          </p:cNvPr>
          <p:cNvGrpSpPr/>
          <p:nvPr/>
        </p:nvGrpSpPr>
        <p:grpSpPr>
          <a:xfrm>
            <a:off x="86253" y="1217455"/>
            <a:ext cx="3810000" cy="1790704"/>
            <a:chOff x="476250" y="1190622"/>
            <a:chExt cx="3810000" cy="1790704"/>
          </a:xfrm>
        </p:grpSpPr>
        <p:sp>
          <p:nvSpPr>
            <p:cNvPr id="9" name="Rectangle: Rounded Corners 8">
              <a:extLst>
                <a:ext uri="{FF2B5EF4-FFF2-40B4-BE49-F238E27FC236}">
                  <a16:creationId xmlns:a16="http://schemas.microsoft.com/office/drawing/2014/main" id="{C3A718E1-6B43-38BA-6D64-91469C34E949}"/>
                </a:ext>
              </a:extLst>
            </p:cNvPr>
            <p:cNvSpPr/>
            <p:nvPr/>
          </p:nvSpPr>
          <p:spPr>
            <a:xfrm>
              <a:off x="476250" y="1266229"/>
              <a:ext cx="3809999" cy="1715096"/>
            </a:xfrm>
            <a:prstGeom prst="roundRect">
              <a:avLst/>
            </a:prstGeom>
            <a:gradFill>
              <a:gsLst>
                <a:gs pos="0">
                  <a:schemeClr val="accent1">
                    <a:alpha val="5000"/>
                    <a:lumMod val="9000"/>
                    <a:lumOff val="91000"/>
                  </a:schemeClr>
                </a:gs>
                <a:gs pos="100000">
                  <a:srgbClr val="B6114D">
                    <a:alpha val="20000"/>
                  </a:srgbClr>
                </a:gs>
              </a:gsLst>
              <a:path path="shape">
                <a:fillToRect l="50000" t="50000" r="50000" b="50000"/>
              </a:path>
            </a:gradFill>
            <a:ln>
              <a:gradFill>
                <a:gsLst>
                  <a:gs pos="0">
                    <a:srgbClr val="B6114D"/>
                  </a:gs>
                  <a:gs pos="100000">
                    <a:srgbClr val="B6114D"/>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8" name="Picture 7">
              <a:extLst>
                <a:ext uri="{FF2B5EF4-FFF2-40B4-BE49-F238E27FC236}">
                  <a16:creationId xmlns:a16="http://schemas.microsoft.com/office/drawing/2014/main" id="{F767B282-9427-D063-5BEA-B63FEFE4C5D7}"/>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778" b="89778" l="5778" r="96444">
                          <a14:foregroundMark x1="11111" y1="35556" x2="10667" y2="47556"/>
                          <a14:foregroundMark x1="6222" y1="40889" x2="7556" y2="46667"/>
                          <a14:foregroundMark x1="90222" y1="34222" x2="96444" y2="37778"/>
                        </a14:backgroundRemoval>
                      </a14:imgEffect>
                    </a14:imgLayer>
                  </a14:imgProps>
                </a:ext>
                <a:ext uri="{28A0092B-C50C-407E-A947-70E740481C1C}">
                  <a14:useLocalDpi xmlns:a14="http://schemas.microsoft.com/office/drawing/2010/main" val="0"/>
                </a:ext>
              </a:extLst>
            </a:blip>
            <a:stretch>
              <a:fillRect/>
            </a:stretch>
          </p:blipFill>
          <p:spPr>
            <a:xfrm>
              <a:off x="2521866" y="1190622"/>
              <a:ext cx="1764384" cy="1790704"/>
            </a:xfrm>
            <a:prstGeom prst="rect">
              <a:avLst/>
            </a:prstGeom>
          </p:spPr>
        </p:pic>
        <p:pic>
          <p:nvPicPr>
            <p:cNvPr id="16" name="Picture 15">
              <a:extLst>
                <a:ext uri="{FF2B5EF4-FFF2-40B4-BE49-F238E27FC236}">
                  <a16:creationId xmlns:a16="http://schemas.microsoft.com/office/drawing/2014/main" id="{912F6F32-B9E4-91A9-F09C-59ABA8C7319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8399" y="1685925"/>
              <a:ext cx="1298458" cy="875704"/>
            </a:xfrm>
            <a:prstGeom prst="rect">
              <a:avLst/>
            </a:prstGeom>
          </p:spPr>
        </p:pic>
        <p:cxnSp>
          <p:nvCxnSpPr>
            <p:cNvPr id="18" name="Straight Arrow Connector 17">
              <a:extLst>
                <a:ext uri="{FF2B5EF4-FFF2-40B4-BE49-F238E27FC236}">
                  <a16:creationId xmlns:a16="http://schemas.microsoft.com/office/drawing/2014/main" id="{58C8E6AA-44FD-26C2-EC50-457F07136F11}"/>
                </a:ext>
              </a:extLst>
            </p:cNvPr>
            <p:cNvCxnSpPr/>
            <p:nvPr/>
          </p:nvCxnSpPr>
          <p:spPr>
            <a:xfrm>
              <a:off x="1976857" y="2137410"/>
              <a:ext cx="60632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71FB302C-046E-8153-500C-DC9EC176DF78}"/>
              </a:ext>
            </a:extLst>
          </p:cNvPr>
          <p:cNvGrpSpPr/>
          <p:nvPr/>
        </p:nvGrpSpPr>
        <p:grpSpPr>
          <a:xfrm>
            <a:off x="4990995" y="753363"/>
            <a:ext cx="2612634" cy="2736326"/>
            <a:chOff x="5358348" y="717811"/>
            <a:chExt cx="3036386" cy="2736326"/>
          </a:xfrm>
        </p:grpSpPr>
        <p:sp>
          <p:nvSpPr>
            <p:cNvPr id="14" name="Rectangle: Rounded Corners 13">
              <a:extLst>
                <a:ext uri="{FF2B5EF4-FFF2-40B4-BE49-F238E27FC236}">
                  <a16:creationId xmlns:a16="http://schemas.microsoft.com/office/drawing/2014/main" id="{FC162ADE-89FB-45AD-CF28-30AA8CE77AB9}"/>
                </a:ext>
              </a:extLst>
            </p:cNvPr>
            <p:cNvSpPr/>
            <p:nvPr/>
          </p:nvSpPr>
          <p:spPr>
            <a:xfrm>
              <a:off x="5358348" y="717811"/>
              <a:ext cx="3036386" cy="2736326"/>
            </a:xfrm>
            <a:prstGeom prst="roundRect">
              <a:avLst/>
            </a:prstGeom>
            <a:gradFill>
              <a:gsLst>
                <a:gs pos="0">
                  <a:schemeClr val="accent1">
                    <a:alpha val="5000"/>
                    <a:lumMod val="9000"/>
                    <a:lumOff val="91000"/>
                  </a:schemeClr>
                </a:gs>
                <a:gs pos="100000">
                  <a:srgbClr val="B6114D">
                    <a:alpha val="20000"/>
                  </a:srgbClr>
                </a:gs>
              </a:gsLst>
              <a:path path="shape">
                <a:fillToRect l="50000" t="50000" r="50000" b="50000"/>
              </a:path>
            </a:gradFill>
            <a:ln>
              <a:gradFill>
                <a:gsLst>
                  <a:gs pos="0">
                    <a:srgbClr val="B6114D"/>
                  </a:gs>
                  <a:gs pos="100000">
                    <a:srgbClr val="B6114D"/>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6986BC81-648B-8FCA-B876-F265DF4852CA}"/>
                </a:ext>
              </a:extLst>
            </p:cNvPr>
            <p:cNvPicPr>
              <a:picLocks noChangeAspect="1"/>
            </p:cNvPicPr>
            <p:nvPr/>
          </p:nvPicPr>
          <p:blipFill>
            <a:blip r:embed="rId5" cstate="print">
              <a:extLst>
                <a:ext uri="{BEBA8EAE-BF5A-486C-A8C5-ECC9F3942E4B}">
                  <a14:imgProps xmlns:a14="http://schemas.microsoft.com/office/drawing/2010/main">
                    <a14:imgLayer r:embed="rId6">
                      <a14:imgEffect>
                        <a14:backgroundRemoval t="3681" b="93252" l="1299" r="96429">
                          <a14:foregroundMark x1="8766" y1="18405" x2="20779" y2="49693"/>
                          <a14:foregroundMark x1="20779" y1="49693" x2="20130" y2="77914"/>
                          <a14:foregroundMark x1="20130" y1="77914" x2="30519" y2="30675"/>
                          <a14:foregroundMark x1="30519" y1="30675" x2="31494" y2="12270"/>
                          <a14:foregroundMark x1="31494" y1="12270" x2="30519" y2="4294"/>
                          <a14:foregroundMark x1="4545" y1="18405" x2="16558" y2="69325"/>
                          <a14:foregroundMark x1="16558" y1="69325" x2="16558" y2="79755"/>
                          <a14:foregroundMark x1="16558" y1="79755" x2="13312" y2="92025"/>
                          <a14:foregroundMark x1="13312" y1="92025" x2="23377" y2="92025"/>
                          <a14:foregroundMark x1="23377" y1="92025" x2="28571" y2="91411"/>
                          <a14:foregroundMark x1="28571" y1="91411" x2="31494" y2="88957"/>
                          <a14:foregroundMark x1="5195" y1="17791" x2="5844" y2="28221"/>
                          <a14:foregroundMark x1="5844" y1="28221" x2="6494" y2="29448"/>
                          <a14:foregroundMark x1="1623" y1="19018" x2="1948" y2="25767"/>
                          <a14:foregroundMark x1="55844" y1="3681" x2="74351" y2="5521"/>
                          <a14:foregroundMark x1="90260" y1="17791" x2="96429" y2="28834"/>
                          <a14:foregroundMark x1="96429" y1="28834" x2="98377" y2="38650"/>
                          <a14:foregroundMark x1="98377" y1="38650" x2="97403" y2="55215"/>
                          <a14:foregroundMark x1="97403" y1="55215" x2="93506" y2="65644"/>
                          <a14:foregroundMark x1="93506" y1="65644" x2="83766" y2="73006"/>
                          <a14:foregroundMark x1="83766" y1="73006" x2="81169" y2="80982"/>
                          <a14:foregroundMark x1="81169" y1="80982" x2="79545" y2="91411"/>
                          <a14:foregroundMark x1="79545" y1="91411" x2="62338" y2="94479"/>
                          <a14:foregroundMark x1="62338" y1="94479" x2="56169" y2="93252"/>
                          <a14:foregroundMark x1="56169" y1="93252" x2="56169" y2="92638"/>
                          <a14:foregroundMark x1="92857" y1="20245" x2="97078" y2="42331"/>
                          <a14:foregroundMark x1="97078" y1="42331" x2="96429" y2="52147"/>
                          <a14:foregroundMark x1="96429" y1="52147" x2="91883" y2="66258"/>
                          <a14:foregroundMark x1="83117" y1="25767" x2="76299" y2="38037"/>
                          <a14:foregroundMark x1="76299" y1="38037" x2="76299" y2="39877"/>
                          <a14:foregroundMark x1="42208" y1="26994" x2="37987" y2="33129"/>
                          <a14:foregroundMark x1="37987" y1="33129" x2="36688" y2="41104"/>
                          <a14:foregroundMark x1="69481" y1="42945" x2="71104" y2="67485"/>
                        </a14:backgroundRemoval>
                      </a14:imgEffect>
                    </a14:imgLayer>
                  </a14:imgProps>
                </a:ext>
                <a:ext uri="{28A0092B-C50C-407E-A947-70E740481C1C}">
                  <a14:useLocalDpi xmlns:a14="http://schemas.microsoft.com/office/drawing/2010/main" val="0"/>
                </a:ext>
              </a:extLst>
            </a:blip>
            <a:stretch>
              <a:fillRect/>
            </a:stretch>
          </p:blipFill>
          <p:spPr>
            <a:xfrm>
              <a:off x="6422583" y="2706271"/>
              <a:ext cx="1039468" cy="550108"/>
            </a:xfrm>
            <a:prstGeom prst="rect">
              <a:avLst/>
            </a:prstGeom>
          </p:spPr>
        </p:pic>
        <mc:AlternateContent xmlns:mc="http://schemas.openxmlformats.org/markup-compatibility/2006" xmlns:pslz="http://schemas.microsoft.com/office/powerpoint/2016/slidezoom">
          <mc:Choice Requires="pslz">
            <p:graphicFrame>
              <p:nvGraphicFramePr>
                <p:cNvPr id="15" name="Slide Zoom 14">
                  <a:extLst>
                    <a:ext uri="{FF2B5EF4-FFF2-40B4-BE49-F238E27FC236}">
                      <a16:creationId xmlns:a16="http://schemas.microsoft.com/office/drawing/2014/main" id="{6A3F55C3-0E93-BC49-BD1B-69CF34168379}"/>
                    </a:ext>
                  </a:extLst>
                </p:cNvPr>
                <p:cNvGraphicFramePr>
                  <a:graphicFrameLocks noChangeAspect="1"/>
                </p:cNvGraphicFramePr>
                <p:nvPr>
                  <p:extLst>
                    <p:ext uri="{D42A27DB-BD31-4B8C-83A1-F6EECF244321}">
                      <p14:modId xmlns:p14="http://schemas.microsoft.com/office/powerpoint/2010/main" val="1247735964"/>
                    </p:ext>
                  </p:extLst>
                </p:nvPr>
              </p:nvGraphicFramePr>
              <p:xfrm>
                <a:off x="6195359" y="901969"/>
                <a:ext cx="1362364" cy="766330"/>
              </p:xfrm>
              <a:graphic>
                <a:graphicData uri="http://schemas.microsoft.com/office/powerpoint/2016/slidezoom">
                  <pslz:sldZm>
                    <pslz:sldZmObj sldId="903" cId="1300725762">
                      <pslz:zmPr id="{E2C0F6EF-CEF1-4106-86A2-E9A35A0F88C0}" transitionDur="1000" showBg="0">
                        <p166:blipFill xmlns:p166="http://schemas.microsoft.com/office/powerpoint/2016/6/main">
                          <a:blip r:embed="rId7"/>
                          <a:stretch>
                            <a:fillRect/>
                          </a:stretch>
                        </p166:blipFill>
                        <p166:spPr xmlns:p166="http://schemas.microsoft.com/office/powerpoint/2016/6/main">
                          <a:xfrm>
                            <a:off x="0" y="0"/>
                            <a:ext cx="1172235" cy="766330"/>
                          </a:xfrm>
                          <a:prstGeom prst="rect">
                            <a:avLst/>
                          </a:prstGeom>
                        </p166:spPr>
                      </pslz:zmPr>
                    </pslz:sldZmObj>
                  </pslz:sldZm>
                </a:graphicData>
              </a:graphic>
            </p:graphicFrame>
          </mc:Choice>
          <mc:Fallback xmlns="">
            <p:pic>
              <p:nvPicPr>
                <p:cNvPr id="15" name="Slide Zoom 14">
                  <a:hlinkClick r:id="rId8" action="ppaction://hlinksldjump"/>
                  <a:extLst>
                    <a:ext uri="{FF2B5EF4-FFF2-40B4-BE49-F238E27FC236}">
                      <a16:creationId xmlns:a16="http://schemas.microsoft.com/office/drawing/2014/main" id="{6A3F55C3-0E93-BC49-BD1B-69CF34168379}"/>
                    </a:ext>
                  </a:extLst>
                </p:cNvPr>
                <p:cNvPicPr>
                  <a:picLocks noGrp="1" noRot="1" noChangeAspect="1" noMove="1" noResize="1" noEditPoints="1" noAdjustHandles="1" noChangeArrowheads="1" noChangeShapeType="1"/>
                </p:cNvPicPr>
                <p:nvPr/>
              </p:nvPicPr>
              <p:blipFill>
                <a:blip r:embed="rId9"/>
                <a:stretch>
                  <a:fillRect/>
                </a:stretch>
              </p:blipFill>
              <p:spPr>
                <a:xfrm>
                  <a:off x="5711194" y="937521"/>
                  <a:ext cx="1172235" cy="766330"/>
                </a:xfrm>
                <a:prstGeom prst="rect">
                  <a:avLst/>
                </a:prstGeom>
              </p:spPr>
            </p:pic>
          </mc:Fallback>
        </mc:AlternateContent>
        <mc:AlternateContent xmlns:mc="http://schemas.openxmlformats.org/markup-compatibility/2006" xmlns:pslz="http://schemas.microsoft.com/office/powerpoint/2016/slidezoom">
          <mc:Choice Requires="pslz">
            <p:graphicFrame>
              <p:nvGraphicFramePr>
                <p:cNvPr id="19" name="Slide Zoom 18">
                  <a:extLst>
                    <a:ext uri="{FF2B5EF4-FFF2-40B4-BE49-F238E27FC236}">
                      <a16:creationId xmlns:a16="http://schemas.microsoft.com/office/drawing/2014/main" id="{E422DD67-6325-D704-ECA4-FB641803DF05}"/>
                    </a:ext>
                  </a:extLst>
                </p:cNvPr>
                <p:cNvGraphicFramePr>
                  <a:graphicFrameLocks noChangeAspect="1"/>
                </p:cNvGraphicFramePr>
                <p:nvPr>
                  <p:extLst>
                    <p:ext uri="{D42A27DB-BD31-4B8C-83A1-F6EECF244321}">
                      <p14:modId xmlns:p14="http://schemas.microsoft.com/office/powerpoint/2010/main" val="2530938349"/>
                    </p:ext>
                  </p:extLst>
                </p:nvPr>
              </p:nvGraphicFramePr>
              <p:xfrm>
                <a:off x="6195359" y="1795299"/>
                <a:ext cx="1362364" cy="766330"/>
              </p:xfrm>
              <a:graphic>
                <a:graphicData uri="http://schemas.microsoft.com/office/powerpoint/2016/slidezoom">
                  <pslz:sldZm>
                    <pslz:sldZmObj sldId="902" cId="2137308840">
                      <pslz:zmPr id="{8D2C5F7B-77E6-4F9D-B870-F8EE812A4FC9}" transitionDur="1000" showBg="0">
                        <p166:blipFill xmlns:p166="http://schemas.microsoft.com/office/powerpoint/2016/6/main">
                          <a:blip r:embed="rId10"/>
                          <a:stretch>
                            <a:fillRect/>
                          </a:stretch>
                        </p166:blipFill>
                        <p166:spPr xmlns:p166="http://schemas.microsoft.com/office/powerpoint/2016/6/main">
                          <a:xfrm>
                            <a:off x="0" y="0"/>
                            <a:ext cx="1172235" cy="766330"/>
                          </a:xfrm>
                          <a:prstGeom prst="rect">
                            <a:avLst/>
                          </a:prstGeom>
                        </p166:spPr>
                      </pslz:zmPr>
                    </pslz:sldZmObj>
                  </pslz:sldZm>
                </a:graphicData>
              </a:graphic>
            </p:graphicFrame>
          </mc:Choice>
          <mc:Fallback xmlns="">
            <p:pic>
              <p:nvPicPr>
                <p:cNvPr id="19" name="Slide Zoom 18">
                  <a:hlinkClick r:id="rId11" action="ppaction://hlinksldjump"/>
                  <a:extLst>
                    <a:ext uri="{FF2B5EF4-FFF2-40B4-BE49-F238E27FC236}">
                      <a16:creationId xmlns:a16="http://schemas.microsoft.com/office/drawing/2014/main" id="{E422DD67-6325-D704-ECA4-FB641803DF05}"/>
                    </a:ext>
                  </a:extLst>
                </p:cNvPr>
                <p:cNvPicPr>
                  <a:picLocks noGrp="1" noRot="1" noChangeAspect="1" noMove="1" noResize="1" noEditPoints="1" noAdjustHandles="1" noChangeArrowheads="1" noChangeShapeType="1"/>
                </p:cNvPicPr>
                <p:nvPr/>
              </p:nvPicPr>
              <p:blipFill>
                <a:blip r:embed="rId12"/>
                <a:stretch>
                  <a:fillRect/>
                </a:stretch>
              </p:blipFill>
              <p:spPr>
                <a:xfrm>
                  <a:off x="5711194" y="1830851"/>
                  <a:ext cx="1172235" cy="766330"/>
                </a:xfrm>
                <a:prstGeom prst="rect">
                  <a:avLst/>
                </a:prstGeom>
              </p:spPr>
            </p:pic>
          </mc:Fallback>
        </mc:AlternateContent>
      </p:grpSp>
      <p:cxnSp>
        <p:nvCxnSpPr>
          <p:cNvPr id="22" name="Straight Arrow Connector 21">
            <a:extLst>
              <a:ext uri="{FF2B5EF4-FFF2-40B4-BE49-F238E27FC236}">
                <a16:creationId xmlns:a16="http://schemas.microsoft.com/office/drawing/2014/main" id="{0CB4A40D-20C9-CBE7-9A3B-9904FC995317}"/>
              </a:ext>
            </a:extLst>
          </p:cNvPr>
          <p:cNvCxnSpPr>
            <a:stCxn id="9" idx="3"/>
            <a:endCxn id="14" idx="1"/>
          </p:cNvCxnSpPr>
          <p:nvPr/>
        </p:nvCxnSpPr>
        <p:spPr>
          <a:xfrm flipV="1">
            <a:off x="3896252" y="2121526"/>
            <a:ext cx="1094743" cy="290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ACA02E0A-EA34-ECBF-62AF-A0371C45D132}"/>
              </a:ext>
            </a:extLst>
          </p:cNvPr>
          <p:cNvGrpSpPr/>
          <p:nvPr/>
        </p:nvGrpSpPr>
        <p:grpSpPr>
          <a:xfrm>
            <a:off x="9062430" y="1217455"/>
            <a:ext cx="2435347" cy="1808143"/>
            <a:chOff x="9098498" y="1233338"/>
            <a:chExt cx="2435347" cy="1808143"/>
          </a:xfrm>
        </p:grpSpPr>
        <p:sp>
          <p:nvSpPr>
            <p:cNvPr id="25" name="Rectangle: Rounded Corners 24">
              <a:extLst>
                <a:ext uri="{FF2B5EF4-FFF2-40B4-BE49-F238E27FC236}">
                  <a16:creationId xmlns:a16="http://schemas.microsoft.com/office/drawing/2014/main" id="{CFB5F478-FD11-EC81-EA81-128C5A7303BA}"/>
                </a:ext>
              </a:extLst>
            </p:cNvPr>
            <p:cNvSpPr/>
            <p:nvPr/>
          </p:nvSpPr>
          <p:spPr>
            <a:xfrm>
              <a:off x="9098498" y="1233338"/>
              <a:ext cx="2435347" cy="1808143"/>
            </a:xfrm>
            <a:prstGeom prst="roundRect">
              <a:avLst/>
            </a:prstGeom>
            <a:gradFill>
              <a:gsLst>
                <a:gs pos="0">
                  <a:schemeClr val="accent1">
                    <a:alpha val="5000"/>
                    <a:lumMod val="9000"/>
                    <a:lumOff val="91000"/>
                  </a:schemeClr>
                </a:gs>
                <a:gs pos="100000">
                  <a:srgbClr val="B6114D">
                    <a:alpha val="20000"/>
                  </a:srgbClr>
                </a:gs>
              </a:gsLst>
              <a:path path="shape">
                <a:fillToRect l="50000" t="50000" r="50000" b="50000"/>
              </a:path>
            </a:gradFill>
            <a:ln>
              <a:gradFill>
                <a:gsLst>
                  <a:gs pos="0">
                    <a:srgbClr val="B6114D"/>
                  </a:gs>
                  <a:gs pos="100000">
                    <a:srgbClr val="B6114D"/>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8" name="TextBox 27">
              <a:extLst>
                <a:ext uri="{FF2B5EF4-FFF2-40B4-BE49-F238E27FC236}">
                  <a16:creationId xmlns:a16="http://schemas.microsoft.com/office/drawing/2014/main" id="{50964B1D-D6A0-1AFA-821B-C02B5DE1E96A}"/>
                </a:ext>
              </a:extLst>
            </p:cNvPr>
            <p:cNvSpPr txBox="1"/>
            <p:nvPr/>
          </p:nvSpPr>
          <p:spPr>
            <a:xfrm>
              <a:off x="9309407" y="1537245"/>
              <a:ext cx="2013528" cy="1200329"/>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Global Coordinates of Anomaly </a:t>
              </a:r>
              <a:endParaRPr lang="en-IN" sz="2400" dirty="0">
                <a:latin typeface="Times New Roman" panose="02020603050405020304" pitchFamily="18" charset="0"/>
                <a:cs typeface="Times New Roman" panose="02020603050405020304" pitchFamily="18" charset="0"/>
              </a:endParaRPr>
            </a:p>
          </p:txBody>
        </p:sp>
      </p:grpSp>
      <p:cxnSp>
        <p:nvCxnSpPr>
          <p:cNvPr id="33" name="Straight Arrow Connector 32">
            <a:extLst>
              <a:ext uri="{FF2B5EF4-FFF2-40B4-BE49-F238E27FC236}">
                <a16:creationId xmlns:a16="http://schemas.microsoft.com/office/drawing/2014/main" id="{D9630202-EDE1-31F6-7F26-301435FEA88A}"/>
              </a:ext>
            </a:extLst>
          </p:cNvPr>
          <p:cNvCxnSpPr>
            <a:cxnSpLocks/>
            <a:stCxn id="14" idx="3"/>
            <a:endCxn id="25" idx="1"/>
          </p:cNvCxnSpPr>
          <p:nvPr/>
        </p:nvCxnSpPr>
        <p:spPr>
          <a:xfrm>
            <a:off x="7603629" y="2121526"/>
            <a:ext cx="145880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35" name="Group 34">
            <a:extLst>
              <a:ext uri="{FF2B5EF4-FFF2-40B4-BE49-F238E27FC236}">
                <a16:creationId xmlns:a16="http://schemas.microsoft.com/office/drawing/2014/main" id="{4BA8CC45-D520-5B9B-B870-F61B4DC35AD9}"/>
              </a:ext>
            </a:extLst>
          </p:cNvPr>
          <p:cNvGrpSpPr/>
          <p:nvPr/>
        </p:nvGrpSpPr>
        <p:grpSpPr>
          <a:xfrm>
            <a:off x="9062430" y="4094967"/>
            <a:ext cx="2435347" cy="1808143"/>
            <a:chOff x="9098498" y="1266050"/>
            <a:chExt cx="2435347" cy="1808143"/>
          </a:xfrm>
        </p:grpSpPr>
        <p:sp>
          <p:nvSpPr>
            <p:cNvPr id="36" name="Rectangle: Rounded Corners 35">
              <a:extLst>
                <a:ext uri="{FF2B5EF4-FFF2-40B4-BE49-F238E27FC236}">
                  <a16:creationId xmlns:a16="http://schemas.microsoft.com/office/drawing/2014/main" id="{2C8E373B-6CE4-07B8-286B-45D871438BFF}"/>
                </a:ext>
              </a:extLst>
            </p:cNvPr>
            <p:cNvSpPr/>
            <p:nvPr/>
          </p:nvSpPr>
          <p:spPr>
            <a:xfrm>
              <a:off x="9098498" y="1266050"/>
              <a:ext cx="2435347" cy="1808143"/>
            </a:xfrm>
            <a:prstGeom prst="roundRect">
              <a:avLst/>
            </a:prstGeom>
            <a:gradFill>
              <a:gsLst>
                <a:gs pos="0">
                  <a:schemeClr val="accent1">
                    <a:alpha val="5000"/>
                    <a:lumMod val="9000"/>
                    <a:lumOff val="91000"/>
                  </a:schemeClr>
                </a:gs>
                <a:gs pos="100000">
                  <a:srgbClr val="B6114D">
                    <a:alpha val="20000"/>
                  </a:srgbClr>
                </a:gs>
              </a:gsLst>
              <a:path path="shape">
                <a:fillToRect l="50000" t="50000" r="50000" b="50000"/>
              </a:path>
            </a:gradFill>
            <a:ln>
              <a:gradFill>
                <a:gsLst>
                  <a:gs pos="0">
                    <a:srgbClr val="B6114D"/>
                  </a:gs>
                  <a:gs pos="100000">
                    <a:srgbClr val="B6114D"/>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7" name="TextBox 36">
              <a:extLst>
                <a:ext uri="{FF2B5EF4-FFF2-40B4-BE49-F238E27FC236}">
                  <a16:creationId xmlns:a16="http://schemas.microsoft.com/office/drawing/2014/main" id="{CC25E60F-6E15-1062-46F2-B7D72362221B}"/>
                </a:ext>
              </a:extLst>
            </p:cNvPr>
            <p:cNvSpPr txBox="1"/>
            <p:nvPr/>
          </p:nvSpPr>
          <p:spPr>
            <a:xfrm>
              <a:off x="9309407" y="1385291"/>
              <a:ext cx="2013528" cy="1569660"/>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Path Planning algorithms to reach those coordinates</a:t>
              </a:r>
              <a:endParaRPr lang="en-IN" sz="2400" dirty="0">
                <a:latin typeface="Times New Roman" panose="02020603050405020304" pitchFamily="18" charset="0"/>
                <a:cs typeface="Times New Roman" panose="02020603050405020304" pitchFamily="18" charset="0"/>
              </a:endParaRPr>
            </a:p>
          </p:txBody>
        </p:sp>
      </p:grpSp>
      <p:grpSp>
        <p:nvGrpSpPr>
          <p:cNvPr id="38" name="Group 37">
            <a:extLst>
              <a:ext uri="{FF2B5EF4-FFF2-40B4-BE49-F238E27FC236}">
                <a16:creationId xmlns:a16="http://schemas.microsoft.com/office/drawing/2014/main" id="{3826E07C-7822-2D41-8D6F-08C1B4033A51}"/>
              </a:ext>
            </a:extLst>
          </p:cNvPr>
          <p:cNvGrpSpPr/>
          <p:nvPr/>
        </p:nvGrpSpPr>
        <p:grpSpPr>
          <a:xfrm>
            <a:off x="5257048" y="4112336"/>
            <a:ext cx="2435347" cy="1808143"/>
            <a:chOff x="9098498" y="1266050"/>
            <a:chExt cx="2435347" cy="1808143"/>
          </a:xfrm>
        </p:grpSpPr>
        <p:sp>
          <p:nvSpPr>
            <p:cNvPr id="39" name="Rectangle: Rounded Corners 38">
              <a:extLst>
                <a:ext uri="{FF2B5EF4-FFF2-40B4-BE49-F238E27FC236}">
                  <a16:creationId xmlns:a16="http://schemas.microsoft.com/office/drawing/2014/main" id="{8E6FF315-48F6-C16E-8BE7-388D6F6418E4}"/>
                </a:ext>
              </a:extLst>
            </p:cNvPr>
            <p:cNvSpPr/>
            <p:nvPr/>
          </p:nvSpPr>
          <p:spPr>
            <a:xfrm>
              <a:off x="9098498" y="1266050"/>
              <a:ext cx="2435347" cy="1808143"/>
            </a:xfrm>
            <a:prstGeom prst="roundRect">
              <a:avLst/>
            </a:prstGeom>
            <a:gradFill>
              <a:gsLst>
                <a:gs pos="0">
                  <a:schemeClr val="accent1">
                    <a:alpha val="5000"/>
                    <a:lumMod val="9000"/>
                    <a:lumOff val="91000"/>
                  </a:schemeClr>
                </a:gs>
                <a:gs pos="100000">
                  <a:srgbClr val="B6114D">
                    <a:alpha val="20000"/>
                  </a:srgbClr>
                </a:gs>
              </a:gsLst>
              <a:path path="shape">
                <a:fillToRect l="50000" t="50000" r="50000" b="50000"/>
              </a:path>
            </a:gradFill>
            <a:ln>
              <a:gradFill>
                <a:gsLst>
                  <a:gs pos="0">
                    <a:srgbClr val="B6114D"/>
                  </a:gs>
                  <a:gs pos="100000">
                    <a:srgbClr val="B6114D"/>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0" name="TextBox 39">
              <a:extLst>
                <a:ext uri="{FF2B5EF4-FFF2-40B4-BE49-F238E27FC236}">
                  <a16:creationId xmlns:a16="http://schemas.microsoft.com/office/drawing/2014/main" id="{DA6E4EA5-E73A-2320-8C64-8284618C9459}"/>
                </a:ext>
              </a:extLst>
            </p:cNvPr>
            <p:cNvSpPr txBox="1"/>
            <p:nvPr/>
          </p:nvSpPr>
          <p:spPr>
            <a:xfrm>
              <a:off x="9309407" y="1385291"/>
              <a:ext cx="2013528" cy="1569660"/>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Send Coordinates to Drone Flight controller</a:t>
              </a:r>
              <a:endParaRPr lang="en-IN" sz="2400" dirty="0">
                <a:latin typeface="Times New Roman" panose="02020603050405020304" pitchFamily="18" charset="0"/>
                <a:cs typeface="Times New Roman" panose="02020603050405020304" pitchFamily="18" charset="0"/>
              </a:endParaRPr>
            </a:p>
          </p:txBody>
        </p:sp>
      </p:grpSp>
      <p:cxnSp>
        <p:nvCxnSpPr>
          <p:cNvPr id="42" name="Straight Arrow Connector 41">
            <a:extLst>
              <a:ext uri="{FF2B5EF4-FFF2-40B4-BE49-F238E27FC236}">
                <a16:creationId xmlns:a16="http://schemas.microsoft.com/office/drawing/2014/main" id="{19D54E00-DE7E-40F1-0C52-DF8EFAA8B635}"/>
              </a:ext>
            </a:extLst>
          </p:cNvPr>
          <p:cNvCxnSpPr>
            <a:stCxn id="25" idx="2"/>
            <a:endCxn id="36" idx="0"/>
          </p:cNvCxnSpPr>
          <p:nvPr/>
        </p:nvCxnSpPr>
        <p:spPr>
          <a:xfrm>
            <a:off x="10280104" y="3025598"/>
            <a:ext cx="0" cy="10693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57EACC6B-6629-2EEE-4E5F-1A807B8DF110}"/>
              </a:ext>
            </a:extLst>
          </p:cNvPr>
          <p:cNvCxnSpPr>
            <a:stCxn id="36" idx="1"/>
            <a:endCxn id="39" idx="3"/>
          </p:cNvCxnSpPr>
          <p:nvPr/>
        </p:nvCxnSpPr>
        <p:spPr>
          <a:xfrm flipH="1">
            <a:off x="7692395" y="4999039"/>
            <a:ext cx="1370035" cy="173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21425CAE-ADFD-24A1-00B6-19594DE8B815}"/>
              </a:ext>
            </a:extLst>
          </p:cNvPr>
          <p:cNvSpPr txBox="1"/>
          <p:nvPr/>
        </p:nvSpPr>
        <p:spPr>
          <a:xfrm>
            <a:off x="1130445" y="3677329"/>
            <a:ext cx="3171602"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Reach the Coordinates</a:t>
            </a:r>
            <a:endParaRPr lang="en-IN" sz="2400" dirty="0">
              <a:latin typeface="Times New Roman" panose="02020603050405020304" pitchFamily="18" charset="0"/>
              <a:cs typeface="Times New Roman" panose="02020603050405020304" pitchFamily="18" charset="0"/>
            </a:endParaRPr>
          </a:p>
        </p:txBody>
      </p:sp>
      <p:grpSp>
        <p:nvGrpSpPr>
          <p:cNvPr id="51" name="Group 50">
            <a:extLst>
              <a:ext uri="{FF2B5EF4-FFF2-40B4-BE49-F238E27FC236}">
                <a16:creationId xmlns:a16="http://schemas.microsoft.com/office/drawing/2014/main" id="{2332997A-1C07-F3C2-B6B1-3DD74E2976F3}"/>
              </a:ext>
            </a:extLst>
          </p:cNvPr>
          <p:cNvGrpSpPr/>
          <p:nvPr/>
        </p:nvGrpSpPr>
        <p:grpSpPr>
          <a:xfrm>
            <a:off x="1498573" y="4112336"/>
            <a:ext cx="2435347" cy="1808143"/>
            <a:chOff x="1796387" y="4112336"/>
            <a:chExt cx="2435347" cy="1808143"/>
          </a:xfrm>
        </p:grpSpPr>
        <p:sp>
          <p:nvSpPr>
            <p:cNvPr id="47" name="Rectangle: Rounded Corners 46">
              <a:extLst>
                <a:ext uri="{FF2B5EF4-FFF2-40B4-BE49-F238E27FC236}">
                  <a16:creationId xmlns:a16="http://schemas.microsoft.com/office/drawing/2014/main" id="{B584A34A-D8EE-99E9-8F3C-E1BBC09A31A3}"/>
                </a:ext>
              </a:extLst>
            </p:cNvPr>
            <p:cNvSpPr/>
            <p:nvPr/>
          </p:nvSpPr>
          <p:spPr>
            <a:xfrm>
              <a:off x="1796387" y="4112336"/>
              <a:ext cx="2435347" cy="1808143"/>
            </a:xfrm>
            <a:prstGeom prst="roundRect">
              <a:avLst/>
            </a:prstGeom>
            <a:gradFill>
              <a:gsLst>
                <a:gs pos="0">
                  <a:schemeClr val="accent1">
                    <a:alpha val="5000"/>
                    <a:lumMod val="9000"/>
                    <a:lumOff val="91000"/>
                  </a:schemeClr>
                </a:gs>
                <a:gs pos="100000">
                  <a:srgbClr val="B6114D">
                    <a:alpha val="20000"/>
                  </a:srgbClr>
                </a:gs>
              </a:gsLst>
              <a:path path="shape">
                <a:fillToRect l="50000" t="50000" r="50000" b="50000"/>
              </a:path>
            </a:gradFill>
            <a:ln>
              <a:gradFill>
                <a:gsLst>
                  <a:gs pos="0">
                    <a:srgbClr val="B6114D"/>
                  </a:gs>
                  <a:gs pos="100000">
                    <a:srgbClr val="B6114D"/>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50" name="Picture 49">
              <a:extLst>
                <a:ext uri="{FF2B5EF4-FFF2-40B4-BE49-F238E27FC236}">
                  <a16:creationId xmlns:a16="http://schemas.microsoft.com/office/drawing/2014/main" id="{A9353F89-16CC-D681-0898-3408FF988A7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144642" y="4412668"/>
              <a:ext cx="1788416" cy="1190110"/>
            </a:xfrm>
            <a:prstGeom prst="rect">
              <a:avLst/>
            </a:prstGeom>
          </p:spPr>
        </p:pic>
      </p:grpSp>
      <p:cxnSp>
        <p:nvCxnSpPr>
          <p:cNvPr id="53" name="Straight Arrow Connector 52">
            <a:extLst>
              <a:ext uri="{FF2B5EF4-FFF2-40B4-BE49-F238E27FC236}">
                <a16:creationId xmlns:a16="http://schemas.microsoft.com/office/drawing/2014/main" id="{4271C376-2DA2-7A9C-957A-4A509194301E}"/>
              </a:ext>
            </a:extLst>
          </p:cNvPr>
          <p:cNvCxnSpPr>
            <a:stCxn id="39" idx="1"/>
            <a:endCxn id="47" idx="3"/>
          </p:cNvCxnSpPr>
          <p:nvPr/>
        </p:nvCxnSpPr>
        <p:spPr>
          <a:xfrm flipH="1">
            <a:off x="3933920" y="5016408"/>
            <a:ext cx="13231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B4E60489-77DE-F3FA-F290-744AEE74A32B}"/>
              </a:ext>
            </a:extLst>
          </p:cNvPr>
          <p:cNvSpPr txBox="1"/>
          <p:nvPr/>
        </p:nvSpPr>
        <p:spPr>
          <a:xfrm>
            <a:off x="4711510" y="254653"/>
            <a:ext cx="3171602"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Deep Learning Models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35880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B431A-28AB-DCF1-9F25-58808FC916A9}"/>
              </a:ext>
            </a:extLst>
          </p:cNvPr>
          <p:cNvSpPr>
            <a:spLocks noGrp="1"/>
          </p:cNvSpPr>
          <p:nvPr>
            <p:ph type="title"/>
          </p:nvPr>
        </p:nvSpPr>
        <p:spPr>
          <a:xfrm>
            <a:off x="595661" y="246126"/>
            <a:ext cx="10515600" cy="456628"/>
          </a:xfrm>
        </p:spPr>
        <p:txBody>
          <a:bodyPr>
            <a:noAutofit/>
          </a:bodyPr>
          <a:lstStyle/>
          <a:p>
            <a:r>
              <a:rPr lang="en-US" sz="3200" b="1" i="1" dirty="0">
                <a:solidFill>
                  <a:srgbClr val="C00000"/>
                </a:solidFill>
                <a:latin typeface="Times New Roman" panose="02020603050405020304" pitchFamily="18" charset="0"/>
                <a:cs typeface="Times New Roman" panose="02020603050405020304" pitchFamily="18" charset="0"/>
              </a:rPr>
              <a:t>CNN Architecture</a:t>
            </a:r>
            <a:endParaRPr lang="en-IN" sz="3200" b="1" i="1" dirty="0">
              <a:solidFill>
                <a:srgbClr val="C00000"/>
              </a:solidFill>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C0220141-0D99-A68B-A7A3-C307C40EE8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5940" y="783545"/>
            <a:ext cx="9315042" cy="4644364"/>
          </a:xfrm>
          <a:prstGeom prst="rect">
            <a:avLst/>
          </a:prstGeom>
        </p:spPr>
      </p:pic>
      <p:sp>
        <p:nvSpPr>
          <p:cNvPr id="6" name="TextBox 5">
            <a:extLst>
              <a:ext uri="{FF2B5EF4-FFF2-40B4-BE49-F238E27FC236}">
                <a16:creationId xmlns:a16="http://schemas.microsoft.com/office/drawing/2014/main" id="{3E94DC32-A432-768A-F5BE-C0A7468F5E66}"/>
              </a:ext>
            </a:extLst>
          </p:cNvPr>
          <p:cNvSpPr txBox="1"/>
          <p:nvPr/>
        </p:nvSpPr>
        <p:spPr>
          <a:xfrm>
            <a:off x="595661" y="5621846"/>
            <a:ext cx="10363200" cy="369332"/>
          </a:xfrm>
          <a:prstGeom prst="rect">
            <a:avLst/>
          </a:prstGeom>
          <a:noFill/>
        </p:spPr>
        <p:txBody>
          <a:bodyPr wrap="square">
            <a:spAutoFit/>
          </a:bodyPr>
          <a:lstStyle/>
          <a:p>
            <a:r>
              <a:rPr lang="en-IN" dirty="0"/>
              <a:t>Source </a:t>
            </a:r>
            <a:r>
              <a:rPr lang="en-IN" dirty="0">
                <a:hlinkClick r:id="rId3"/>
              </a:rPr>
              <a:t>: https://www.analyticsvidhya.com/blog/2022/01/convolutional-neural-network-an-overview/</a:t>
            </a:r>
            <a:endParaRPr lang="en-IN" dirty="0"/>
          </a:p>
        </p:txBody>
      </p:sp>
    </p:spTree>
    <p:extLst>
      <p:ext uri="{BB962C8B-B14F-4D97-AF65-F5344CB8AC3E}">
        <p14:creationId xmlns:p14="http://schemas.microsoft.com/office/powerpoint/2010/main" val="13007257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B431A-28AB-DCF1-9F25-58808FC916A9}"/>
              </a:ext>
            </a:extLst>
          </p:cNvPr>
          <p:cNvSpPr>
            <a:spLocks noGrp="1"/>
          </p:cNvSpPr>
          <p:nvPr>
            <p:ph type="title"/>
          </p:nvPr>
        </p:nvSpPr>
        <p:spPr>
          <a:xfrm>
            <a:off x="595661" y="246126"/>
            <a:ext cx="10515600" cy="456628"/>
          </a:xfrm>
        </p:spPr>
        <p:txBody>
          <a:bodyPr>
            <a:noAutofit/>
          </a:bodyPr>
          <a:lstStyle/>
          <a:p>
            <a:r>
              <a:rPr lang="en-US" sz="3200" b="1" i="1" dirty="0">
                <a:solidFill>
                  <a:srgbClr val="C00000"/>
                </a:solidFill>
                <a:latin typeface="Times New Roman" panose="02020603050405020304" pitchFamily="18" charset="0"/>
                <a:cs typeface="Times New Roman" panose="02020603050405020304" pitchFamily="18" charset="0"/>
              </a:rPr>
              <a:t>Block Diagram - RCNN</a:t>
            </a:r>
            <a:endParaRPr lang="en-IN" sz="3200" b="1" i="1" dirty="0">
              <a:solidFill>
                <a:srgbClr val="C0000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603120A8-C191-BC21-DD08-21EA9A524B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074" y="609600"/>
            <a:ext cx="11961852" cy="5259708"/>
          </a:xfrm>
          <a:prstGeom prst="rect">
            <a:avLst/>
          </a:prstGeom>
        </p:spPr>
      </p:pic>
      <p:sp>
        <p:nvSpPr>
          <p:cNvPr id="6" name="TextBox 5">
            <a:extLst>
              <a:ext uri="{FF2B5EF4-FFF2-40B4-BE49-F238E27FC236}">
                <a16:creationId xmlns:a16="http://schemas.microsoft.com/office/drawing/2014/main" id="{FD44E1A7-4FA2-1E87-8BBD-0905591A2A3B}"/>
              </a:ext>
            </a:extLst>
          </p:cNvPr>
          <p:cNvSpPr txBox="1"/>
          <p:nvPr/>
        </p:nvSpPr>
        <p:spPr>
          <a:xfrm>
            <a:off x="3297382" y="5684642"/>
            <a:ext cx="6576291" cy="369332"/>
          </a:xfrm>
          <a:prstGeom prst="rect">
            <a:avLst/>
          </a:prstGeom>
          <a:noFill/>
        </p:spPr>
        <p:txBody>
          <a:bodyPr wrap="square">
            <a:spAutoFit/>
          </a:bodyPr>
          <a:lstStyle/>
          <a:p>
            <a:r>
              <a:rPr lang="en-IN" dirty="0"/>
              <a:t>Source : </a:t>
            </a:r>
            <a:r>
              <a:rPr lang="en-IN" dirty="0">
                <a:hlinkClick r:id="rId3"/>
              </a:rPr>
              <a:t>https://www.geeksforgeeks.org/r-cnn-region-based-cnns/</a:t>
            </a:r>
            <a:endParaRPr lang="en-IN" dirty="0"/>
          </a:p>
        </p:txBody>
      </p:sp>
    </p:spTree>
    <p:extLst>
      <p:ext uri="{BB962C8B-B14F-4D97-AF65-F5344CB8AC3E}">
        <p14:creationId xmlns:p14="http://schemas.microsoft.com/office/powerpoint/2010/main" val="21373088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7A2DE-D677-FE01-C0E4-F0BB6B6592EF}"/>
              </a:ext>
            </a:extLst>
          </p:cNvPr>
          <p:cNvSpPr>
            <a:spLocks noGrp="1"/>
          </p:cNvSpPr>
          <p:nvPr>
            <p:ph type="title"/>
          </p:nvPr>
        </p:nvSpPr>
        <p:spPr>
          <a:xfrm>
            <a:off x="838200" y="365127"/>
            <a:ext cx="10515600" cy="625473"/>
          </a:xfrm>
        </p:spPr>
        <p:txBody>
          <a:bodyPr>
            <a:normAutofit fontScale="90000"/>
          </a:bodyPr>
          <a:lstStyle/>
          <a:p>
            <a:r>
              <a:rPr lang="en-US" b="1" dirty="0">
                <a:solidFill>
                  <a:srgbClr val="CC0066"/>
                </a:solidFill>
                <a:latin typeface="Times New Roman" panose="02020603050405020304" pitchFamily="18" charset="0"/>
                <a:cs typeface="Times New Roman" panose="02020603050405020304" pitchFamily="18" charset="0"/>
              </a:rPr>
              <a:t>Contributions</a:t>
            </a:r>
          </a:p>
        </p:txBody>
      </p:sp>
      <p:graphicFrame>
        <p:nvGraphicFramePr>
          <p:cNvPr id="5" name="Content Placeholder 4">
            <a:extLst>
              <a:ext uri="{FF2B5EF4-FFF2-40B4-BE49-F238E27FC236}">
                <a16:creationId xmlns:a16="http://schemas.microsoft.com/office/drawing/2014/main" id="{EDFCC67A-6EAA-A882-EC2C-332FA3F3C051}"/>
              </a:ext>
            </a:extLst>
          </p:cNvPr>
          <p:cNvGraphicFramePr>
            <a:graphicFrameLocks noGrp="1"/>
          </p:cNvGraphicFramePr>
          <p:nvPr>
            <p:ph idx="1"/>
            <p:extLst>
              <p:ext uri="{D42A27DB-BD31-4B8C-83A1-F6EECF244321}">
                <p14:modId xmlns:p14="http://schemas.microsoft.com/office/powerpoint/2010/main" val="2020615832"/>
              </p:ext>
            </p:extLst>
          </p:nvPr>
        </p:nvGraphicFramePr>
        <p:xfrm>
          <a:off x="838200" y="1460954"/>
          <a:ext cx="10515600" cy="3212646"/>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4118981284"/>
                    </a:ext>
                  </a:extLst>
                </a:gridCol>
                <a:gridCol w="2155371">
                  <a:extLst>
                    <a:ext uri="{9D8B030D-6E8A-4147-A177-3AD203B41FA5}">
                      <a16:colId xmlns:a16="http://schemas.microsoft.com/office/drawing/2014/main" val="3362724327"/>
                    </a:ext>
                  </a:extLst>
                </a:gridCol>
                <a:gridCol w="2865747">
                  <a:extLst>
                    <a:ext uri="{9D8B030D-6E8A-4147-A177-3AD203B41FA5}">
                      <a16:colId xmlns:a16="http://schemas.microsoft.com/office/drawing/2014/main" val="3714134445"/>
                    </a:ext>
                  </a:extLst>
                </a:gridCol>
                <a:gridCol w="2865582">
                  <a:extLst>
                    <a:ext uri="{9D8B030D-6E8A-4147-A177-3AD203B41FA5}">
                      <a16:colId xmlns:a16="http://schemas.microsoft.com/office/drawing/2014/main" val="290440193"/>
                    </a:ext>
                  </a:extLst>
                </a:gridCol>
              </a:tblGrid>
              <a:tr h="1026262">
                <a:tc>
                  <a:txBody>
                    <a:bodyPr/>
                    <a:lstStyle/>
                    <a:p>
                      <a:pPr algn="ctr"/>
                      <a:r>
                        <a:rPr lang="en-US" sz="2000" dirty="0">
                          <a:latin typeface="Times New Roman" panose="02020603050405020304" pitchFamily="18" charset="0"/>
                          <a:cs typeface="Times New Roman" panose="02020603050405020304" pitchFamily="18" charset="0"/>
                        </a:rPr>
                        <a:t>Roll.No</a:t>
                      </a:r>
                    </a:p>
                  </a:txBody>
                  <a:tcPr/>
                </a:tc>
                <a:tc>
                  <a:txBody>
                    <a:bodyPr/>
                    <a:lstStyle/>
                    <a:p>
                      <a:pPr algn="ctr"/>
                      <a:r>
                        <a:rPr lang="en-US" sz="2000" dirty="0">
                          <a:latin typeface="Times New Roman" panose="02020603050405020304" pitchFamily="18" charset="0"/>
                          <a:cs typeface="Times New Roman" panose="02020603050405020304" pitchFamily="18" charset="0"/>
                        </a:rPr>
                        <a:t>Name</a:t>
                      </a:r>
                    </a:p>
                  </a:txBody>
                  <a:tcPr/>
                </a:tc>
                <a:tc>
                  <a:txBody>
                    <a:bodyPr/>
                    <a:lstStyle/>
                    <a:p>
                      <a:pPr algn="ctr"/>
                      <a:r>
                        <a:rPr lang="en-US" sz="2000" dirty="0">
                          <a:latin typeface="Times New Roman" panose="02020603050405020304" pitchFamily="18" charset="0"/>
                          <a:cs typeface="Times New Roman" panose="02020603050405020304" pitchFamily="18" charset="0"/>
                        </a:rPr>
                        <a:t>Contribution</a:t>
                      </a:r>
                    </a:p>
                  </a:txBody>
                  <a:tcPr/>
                </a:tc>
                <a:tc>
                  <a:txBody>
                    <a:bodyPr/>
                    <a:lstStyle/>
                    <a:p>
                      <a:pPr algn="ctr"/>
                      <a:r>
                        <a:rPr lang="en-US" sz="2000" dirty="0">
                          <a:latin typeface="Times New Roman" panose="02020603050405020304" pitchFamily="18" charset="0"/>
                          <a:cs typeface="Times New Roman" panose="02020603050405020304" pitchFamily="18" charset="0"/>
                        </a:rPr>
                        <a:t>Uniqueness in Contribution</a:t>
                      </a:r>
                    </a:p>
                  </a:txBody>
                  <a:tcPr/>
                </a:tc>
                <a:extLst>
                  <a:ext uri="{0D108BD9-81ED-4DB2-BD59-A6C34878D82A}">
                    <a16:rowId xmlns:a16="http://schemas.microsoft.com/office/drawing/2014/main" val="427488512"/>
                  </a:ext>
                </a:extLst>
              </a:tr>
              <a:tr h="580061">
                <a:tc>
                  <a:txBody>
                    <a:bodyPr/>
                    <a:lstStyle/>
                    <a:p>
                      <a:pPr algn="ctr"/>
                      <a:r>
                        <a:rPr lang="en-US" sz="2000" dirty="0">
                          <a:latin typeface="Times New Roman" panose="02020603050405020304" pitchFamily="18" charset="0"/>
                          <a:cs typeface="Times New Roman" panose="02020603050405020304" pitchFamily="18" charset="0"/>
                        </a:rPr>
                        <a:t>CB.EN.U4AEE21034</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Erukala Sashank</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Equal</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YOLO V8</a:t>
                      </a:r>
                    </a:p>
                  </a:txBody>
                  <a:tcPr anchor="ctr"/>
                </a:tc>
                <a:extLst>
                  <a:ext uri="{0D108BD9-81ED-4DB2-BD59-A6C34878D82A}">
                    <a16:rowId xmlns:a16="http://schemas.microsoft.com/office/drawing/2014/main" val="2123802123"/>
                  </a:ext>
                </a:extLst>
              </a:tr>
              <a:tr h="1026262">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CB.EN.U4AEE21046</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Vishwa K</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Equal</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Fast R - CNN</a:t>
                      </a:r>
                    </a:p>
                  </a:txBody>
                  <a:tcPr anchor="ctr"/>
                </a:tc>
                <a:extLst>
                  <a:ext uri="{0D108BD9-81ED-4DB2-BD59-A6C34878D82A}">
                    <a16:rowId xmlns:a16="http://schemas.microsoft.com/office/drawing/2014/main" val="4276564814"/>
                  </a:ext>
                </a:extLst>
              </a:tr>
              <a:tr h="580061">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CB.EN.U4AEE21057</a:t>
                      </a:r>
                    </a:p>
                  </a:txBody>
                  <a:tcPr anchor="ctr"/>
                </a:tc>
                <a:tc>
                  <a:txBody>
                    <a:bodyPr/>
                    <a:lstStyle/>
                    <a:p>
                      <a:pPr algn="ctr"/>
                      <a:r>
                        <a:rPr lang="en-US" sz="2000" dirty="0" err="1">
                          <a:latin typeface="Times New Roman" panose="02020603050405020304" pitchFamily="18" charset="0"/>
                          <a:cs typeface="Times New Roman" panose="02020603050405020304" pitchFamily="18" charset="0"/>
                        </a:rPr>
                        <a:t>Magesvar</a:t>
                      </a:r>
                      <a:r>
                        <a:rPr lang="en-US" sz="2000" dirty="0">
                          <a:latin typeface="Times New Roman" panose="02020603050405020304" pitchFamily="18" charset="0"/>
                          <a:cs typeface="Times New Roman" panose="02020603050405020304" pitchFamily="18" charset="0"/>
                        </a:rPr>
                        <a:t> V R</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Equal</a:t>
                      </a:r>
                    </a:p>
                  </a:txBody>
                  <a:tcPr anchor="ctr"/>
                </a:tc>
                <a:tc>
                  <a:txBody>
                    <a:bodyPr/>
                    <a:lstStyle/>
                    <a:p>
                      <a:pPr algn="ctr"/>
                      <a:r>
                        <a:rPr lang="en-US" sz="2000" dirty="0">
                          <a:latin typeface="Times New Roman" panose="02020603050405020304" pitchFamily="18" charset="0"/>
                          <a:cs typeface="Times New Roman" panose="02020603050405020304" pitchFamily="18" charset="0"/>
                        </a:rPr>
                        <a:t> CNN</a:t>
                      </a:r>
                    </a:p>
                  </a:txBody>
                  <a:tcPr anchor="ctr"/>
                </a:tc>
                <a:extLst>
                  <a:ext uri="{0D108BD9-81ED-4DB2-BD59-A6C34878D82A}">
                    <a16:rowId xmlns:a16="http://schemas.microsoft.com/office/drawing/2014/main" val="47960820"/>
                  </a:ext>
                </a:extLst>
              </a:tr>
            </a:tbl>
          </a:graphicData>
        </a:graphic>
      </p:graphicFrame>
    </p:spTree>
    <p:extLst>
      <p:ext uri="{BB962C8B-B14F-4D97-AF65-F5344CB8AC3E}">
        <p14:creationId xmlns:p14="http://schemas.microsoft.com/office/powerpoint/2010/main" val="1095090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571500" y="250828"/>
            <a:ext cx="4610100" cy="669016"/>
          </a:xfrm>
        </p:spPr>
        <p:txBody>
          <a:bodyPr>
            <a:normAutofit/>
          </a:bodyPr>
          <a:lstStyle/>
          <a:p>
            <a:r>
              <a:rPr lang="en-US" sz="4000" b="1" dirty="0">
                <a:solidFill>
                  <a:srgbClr val="CC0066"/>
                </a:solidFill>
                <a:latin typeface="Times New Roman" panose="02020603050405020304" pitchFamily="18" charset="0"/>
                <a:cs typeface="Times New Roman" panose="02020603050405020304" pitchFamily="18" charset="0"/>
              </a:rPr>
              <a:t>Research Questions</a:t>
            </a:r>
          </a:p>
        </p:txBody>
      </p:sp>
      <p:sp>
        <p:nvSpPr>
          <p:cNvPr id="3" name="Content Placeholder 2">
            <a:extLst>
              <a:ext uri="{FF2B5EF4-FFF2-40B4-BE49-F238E27FC236}">
                <a16:creationId xmlns:a16="http://schemas.microsoft.com/office/drawing/2014/main" id="{1DE22E77-B818-9594-6288-535C38AC7812}"/>
              </a:ext>
            </a:extLst>
          </p:cNvPr>
          <p:cNvSpPr>
            <a:spLocks noGrp="1"/>
          </p:cNvSpPr>
          <p:nvPr>
            <p:ph idx="1"/>
          </p:nvPr>
        </p:nvSpPr>
        <p:spPr>
          <a:xfrm>
            <a:off x="101601" y="1149392"/>
            <a:ext cx="11406907" cy="2674463"/>
          </a:xfrm>
        </p:spPr>
        <p:txBody>
          <a:bodyPr>
            <a:normAutofit/>
          </a:bodyPr>
          <a:lstStyle/>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sz="2800" b="0" i="0" u="none" strike="noStrike" cap="none" normalizeH="0" baseline="0" dirty="0">
                <a:ln>
                  <a:noFill/>
                </a:ln>
                <a:solidFill>
                  <a:schemeClr val="tx1"/>
                </a:solidFill>
                <a:effectLst/>
                <a:latin typeface="Arial" panose="020B0604020202020204" pitchFamily="34" charset="0"/>
              </a:rPr>
              <a:t>Can your product estimate the area of the field</a:t>
            </a:r>
            <a:r>
              <a:rPr lang="en-US" altLang="en-US" dirty="0">
                <a:latin typeface="Arial" panose="020B0604020202020204" pitchFamily="34" charset="0"/>
              </a:rPr>
              <a:t>?</a:t>
            </a:r>
          </a:p>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sz="2800" b="0" i="0" u="none" strike="noStrike" cap="none" normalizeH="0" baseline="0" dirty="0">
                <a:ln>
                  <a:noFill/>
                </a:ln>
                <a:solidFill>
                  <a:schemeClr val="tx1"/>
                </a:solidFill>
                <a:effectLst/>
                <a:latin typeface="Arial" panose="020B0604020202020204" pitchFamily="34" charset="0"/>
              </a:rPr>
              <a:t> What height should the Drone fly and how it is related to the crop?</a:t>
            </a:r>
          </a:p>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sz="2800" b="0" i="0" u="none" strike="noStrike" cap="none" normalizeH="0" baseline="0" dirty="0">
                <a:ln>
                  <a:noFill/>
                </a:ln>
                <a:solidFill>
                  <a:schemeClr val="tx1"/>
                </a:solidFill>
                <a:effectLst/>
                <a:latin typeface="Arial" panose="020B0604020202020204" pitchFamily="34" charset="0"/>
              </a:rPr>
              <a:t> Can Drone capturing mechanism damage the crop?</a:t>
            </a:r>
            <a:endParaRPr lang="en-US" altLang="en-US" dirty="0">
              <a:latin typeface="Arial" panose="020B0604020202020204" pitchFamily="34" charset="0"/>
            </a:endParaRPr>
          </a:p>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sz="2800" b="0" i="0" u="none" strike="noStrike" cap="none" normalizeH="0" baseline="0" dirty="0">
                <a:ln>
                  <a:noFill/>
                </a:ln>
                <a:solidFill>
                  <a:schemeClr val="tx1"/>
                </a:solidFill>
                <a:effectLst/>
                <a:latin typeface="Arial" panose="020B0604020202020204" pitchFamily="34" charset="0"/>
              </a:rPr>
              <a:t> What is the novelty of the output?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80944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571500" y="250828"/>
            <a:ext cx="10515600" cy="669016"/>
          </a:xfrm>
        </p:spPr>
        <p:txBody>
          <a:bodyPr>
            <a:normAutofit/>
          </a:bodyPr>
          <a:lstStyle/>
          <a:p>
            <a:r>
              <a:rPr lang="en-US" sz="3600" b="1" dirty="0">
                <a:solidFill>
                  <a:srgbClr val="CC0066"/>
                </a:solidFill>
                <a:latin typeface="Times New Roman" panose="02020603050405020304" pitchFamily="18" charset="0"/>
                <a:cs typeface="Times New Roman" panose="02020603050405020304" pitchFamily="18" charset="0"/>
              </a:rPr>
              <a:t>Statistical Reference</a:t>
            </a:r>
          </a:p>
        </p:txBody>
      </p:sp>
      <p:sp>
        <p:nvSpPr>
          <p:cNvPr id="4" name="Rectangle 1">
            <a:extLst>
              <a:ext uri="{FF2B5EF4-FFF2-40B4-BE49-F238E27FC236}">
                <a16:creationId xmlns:a16="http://schemas.microsoft.com/office/drawing/2014/main" id="{0930BC59-F236-CE29-994B-276828CB1F59}"/>
              </a:ext>
            </a:extLst>
          </p:cNvPr>
          <p:cNvSpPr>
            <a:spLocks noGrp="1" noChangeArrowheads="1"/>
          </p:cNvSpPr>
          <p:nvPr>
            <p:ph idx="1"/>
          </p:nvPr>
        </p:nvSpPr>
        <p:spPr bwMode="auto">
          <a:xfrm>
            <a:off x="417683" y="837425"/>
            <a:ext cx="11356633" cy="518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b="0" i="0" u="none" strike="noStrike" cap="none" normalizeH="0" baseline="0" dirty="0">
                <a:ln>
                  <a:noFill/>
                </a:ln>
                <a:solidFill>
                  <a:schemeClr val="tx1"/>
                </a:solidFill>
                <a:effectLst/>
                <a:latin typeface="Arial" panose="020B0604020202020204" pitchFamily="34" charset="0"/>
              </a:rPr>
              <a:t>Up to 40% of global crop yields are lost annually due to pests, diseases, and nutrient deficiencies.</a:t>
            </a:r>
          </a:p>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b="0" i="0" u="none" strike="noStrike" cap="none" normalizeH="0" baseline="0" dirty="0">
                <a:ln>
                  <a:noFill/>
                </a:ln>
                <a:solidFill>
                  <a:schemeClr val="tx1"/>
                </a:solidFill>
                <a:effectLst/>
                <a:latin typeface="Arial" panose="020B0604020202020204" pitchFamily="34" charset="0"/>
              </a:rPr>
              <a:t>Early detection of crop issues can improve yield by up to 20% through timely intervention.</a:t>
            </a:r>
          </a:p>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b="0" i="0" u="none" strike="noStrike" cap="none" normalizeH="0" baseline="0" dirty="0">
                <a:ln>
                  <a:noFill/>
                </a:ln>
                <a:solidFill>
                  <a:schemeClr val="tx1"/>
                </a:solidFill>
                <a:effectLst/>
                <a:latin typeface="Arial" panose="020B0604020202020204" pitchFamily="34" charset="0"/>
              </a:rPr>
              <a:t>Precision agriculture technologies can reduce pesticide use by 10-30%, minimizing environmental impact.</a:t>
            </a:r>
          </a:p>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b="0" i="0" u="none" strike="noStrike" cap="none" normalizeH="0" baseline="0" dirty="0">
                <a:ln>
                  <a:noFill/>
                </a:ln>
                <a:solidFill>
                  <a:schemeClr val="tx1"/>
                </a:solidFill>
                <a:effectLst/>
                <a:latin typeface="Arial" panose="020B0604020202020204" pitchFamily="34" charset="0"/>
              </a:rPr>
              <a:t>Automated systems can lower labor costs by 15-25% while improving treatment accuracy. </a:t>
            </a:r>
          </a:p>
        </p:txBody>
      </p:sp>
    </p:spTree>
    <p:extLst>
      <p:ext uri="{BB962C8B-B14F-4D97-AF65-F5344CB8AC3E}">
        <p14:creationId xmlns:p14="http://schemas.microsoft.com/office/powerpoint/2010/main" val="38020618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681038" y="111932"/>
            <a:ext cx="3468065" cy="669016"/>
          </a:xfrm>
        </p:spPr>
        <p:txBody>
          <a:bodyPr>
            <a:normAutofit/>
          </a:bodyPr>
          <a:lstStyle/>
          <a:p>
            <a:r>
              <a:rPr lang="en-US" sz="3600" b="1" dirty="0">
                <a:solidFill>
                  <a:srgbClr val="CC0066"/>
                </a:solidFill>
                <a:latin typeface="Times New Roman" panose="02020603050405020304" pitchFamily="18" charset="0"/>
                <a:cs typeface="Times New Roman" panose="02020603050405020304" pitchFamily="18" charset="0"/>
              </a:rPr>
              <a:t>Social Relevance</a:t>
            </a:r>
          </a:p>
        </p:txBody>
      </p:sp>
      <p:sp>
        <p:nvSpPr>
          <p:cNvPr id="4" name="Rectangle 1">
            <a:extLst>
              <a:ext uri="{FF2B5EF4-FFF2-40B4-BE49-F238E27FC236}">
                <a16:creationId xmlns:a16="http://schemas.microsoft.com/office/drawing/2014/main" id="{003155CA-91FA-7F72-AE5F-CC84AEDE05CE}"/>
              </a:ext>
            </a:extLst>
          </p:cNvPr>
          <p:cNvSpPr>
            <a:spLocks noGrp="1" noChangeArrowheads="1"/>
          </p:cNvSpPr>
          <p:nvPr>
            <p:ph idx="1"/>
          </p:nvPr>
        </p:nvSpPr>
        <p:spPr bwMode="auto">
          <a:xfrm>
            <a:off x="340519" y="780948"/>
            <a:ext cx="11510962" cy="518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b="1" i="0" u="none" strike="noStrike" cap="none" normalizeH="0" baseline="0" dirty="0">
                <a:ln>
                  <a:noFill/>
                </a:ln>
                <a:solidFill>
                  <a:schemeClr val="tx1"/>
                </a:solidFill>
                <a:effectLst/>
                <a:latin typeface="Arial" panose="020B0604020202020204" pitchFamily="34" charset="0"/>
              </a:rPr>
              <a:t>Food Security:</a:t>
            </a:r>
            <a:r>
              <a:rPr kumimoji="0" lang="en-US" altLang="en-US" i="0" u="none" strike="noStrike" cap="none" normalizeH="0" baseline="0" dirty="0">
                <a:ln>
                  <a:noFill/>
                </a:ln>
                <a:solidFill>
                  <a:schemeClr val="tx1"/>
                </a:solidFill>
                <a:effectLst/>
                <a:latin typeface="Arial" panose="020B0604020202020204" pitchFamily="34" charset="0"/>
              </a:rPr>
              <a:t> Enhances crop yield and quality, contributing to a more reliable food supply.</a:t>
            </a:r>
          </a:p>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b="1" i="0" u="none" strike="noStrike" cap="none" normalizeH="0" baseline="0" dirty="0">
                <a:ln>
                  <a:noFill/>
                </a:ln>
                <a:solidFill>
                  <a:schemeClr val="tx1"/>
                </a:solidFill>
                <a:effectLst/>
                <a:latin typeface="Arial" panose="020B0604020202020204" pitchFamily="34" charset="0"/>
              </a:rPr>
              <a:t>Sustainable Agriculture: </a:t>
            </a:r>
            <a:r>
              <a:rPr kumimoji="0" lang="en-US" altLang="en-US" i="0" u="none" strike="noStrike" cap="none" normalizeH="0" baseline="0" dirty="0">
                <a:ln>
                  <a:noFill/>
                </a:ln>
                <a:solidFill>
                  <a:schemeClr val="tx1"/>
                </a:solidFill>
                <a:effectLst/>
                <a:latin typeface="Arial" panose="020B0604020202020204" pitchFamily="34" charset="0"/>
              </a:rPr>
              <a:t>Reduces pesticide use and promotes eco-friendly farming practices.</a:t>
            </a:r>
          </a:p>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b="1" i="0" u="none" strike="noStrike" cap="none" normalizeH="0" baseline="0" dirty="0">
                <a:ln>
                  <a:noFill/>
                </a:ln>
                <a:solidFill>
                  <a:schemeClr val="tx1"/>
                </a:solidFill>
                <a:effectLst/>
                <a:latin typeface="Arial" panose="020B0604020202020204" pitchFamily="34" charset="0"/>
              </a:rPr>
              <a:t>Economic Impact: </a:t>
            </a:r>
            <a:r>
              <a:rPr kumimoji="0" lang="en-US" altLang="en-US" i="0" u="none" strike="noStrike" cap="none" normalizeH="0" baseline="0" dirty="0">
                <a:ln>
                  <a:noFill/>
                </a:ln>
                <a:solidFill>
                  <a:schemeClr val="tx1"/>
                </a:solidFill>
                <a:effectLst/>
                <a:latin typeface="Arial" panose="020B0604020202020204" pitchFamily="34" charset="0"/>
              </a:rPr>
              <a:t>Lowers operational costs for farmers and increases agricultural productivity.</a:t>
            </a:r>
          </a:p>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b="1" i="0" u="none" strike="noStrike" cap="none" normalizeH="0" baseline="0" dirty="0">
                <a:ln>
                  <a:noFill/>
                </a:ln>
                <a:solidFill>
                  <a:schemeClr val="tx1"/>
                </a:solidFill>
                <a:effectLst/>
                <a:latin typeface="Arial" panose="020B0604020202020204" pitchFamily="34" charset="0"/>
              </a:rPr>
              <a:t>Labor Efficiency: </a:t>
            </a:r>
            <a:r>
              <a:rPr kumimoji="0" lang="en-US" altLang="en-US" i="0" u="none" strike="noStrike" cap="none" normalizeH="0" baseline="0" dirty="0">
                <a:ln>
                  <a:noFill/>
                </a:ln>
                <a:solidFill>
                  <a:schemeClr val="tx1"/>
                </a:solidFill>
                <a:effectLst/>
                <a:latin typeface="Arial" panose="020B0604020202020204" pitchFamily="34" charset="0"/>
              </a:rPr>
              <a:t>Automates routine tasks, freeing up labor for more skilled agricultural work. </a:t>
            </a:r>
          </a:p>
        </p:txBody>
      </p:sp>
    </p:spTree>
    <p:extLst>
      <p:ext uri="{BB962C8B-B14F-4D97-AF65-F5344CB8AC3E}">
        <p14:creationId xmlns:p14="http://schemas.microsoft.com/office/powerpoint/2010/main" val="36624936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542142" y="224886"/>
            <a:ext cx="4296076" cy="669016"/>
          </a:xfrm>
        </p:spPr>
        <p:txBody>
          <a:bodyPr>
            <a:normAutofit/>
          </a:bodyPr>
          <a:lstStyle/>
          <a:p>
            <a:r>
              <a:rPr lang="en-US" sz="3600" b="1" dirty="0">
                <a:solidFill>
                  <a:srgbClr val="CC0066"/>
                </a:solidFill>
                <a:latin typeface="Times New Roman" panose="02020603050405020304" pitchFamily="18" charset="0"/>
                <a:cs typeface="Times New Roman" panose="02020603050405020304" pitchFamily="18" charset="0"/>
              </a:rPr>
              <a:t>Problem Statement</a:t>
            </a:r>
          </a:p>
        </p:txBody>
      </p:sp>
      <p:sp>
        <p:nvSpPr>
          <p:cNvPr id="4" name="Rectangle 1">
            <a:extLst>
              <a:ext uri="{FF2B5EF4-FFF2-40B4-BE49-F238E27FC236}">
                <a16:creationId xmlns:a16="http://schemas.microsoft.com/office/drawing/2014/main" id="{003155CA-91FA-7F72-AE5F-CC84AEDE05CE}"/>
              </a:ext>
            </a:extLst>
          </p:cNvPr>
          <p:cNvSpPr>
            <a:spLocks noGrp="1" noChangeArrowheads="1"/>
          </p:cNvSpPr>
          <p:nvPr>
            <p:ph idx="1"/>
          </p:nvPr>
        </p:nvSpPr>
        <p:spPr bwMode="auto">
          <a:xfrm>
            <a:off x="340519" y="718671"/>
            <a:ext cx="11510962" cy="518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lnSpc>
                <a:spcPct val="150000"/>
              </a:lnSpc>
              <a:spcBef>
                <a:spcPct val="0"/>
              </a:spcBef>
              <a:spcAft>
                <a:spcPct val="0"/>
              </a:spcAft>
              <a:buFont typeface="Wingdings" panose="05000000000000000000" pitchFamily="2" charset="2"/>
              <a:buChar char="Ø"/>
            </a:pPr>
            <a:r>
              <a:rPr lang="en-US" dirty="0">
                <a:latin typeface="Arial" panose="020B0604020202020204" pitchFamily="34" charset="0"/>
                <a:cs typeface="Arial" panose="020B0604020202020204" pitchFamily="34" charset="0"/>
              </a:rPr>
              <a:t>Current methods for monitoring crop health and managing agricultural spraying are often inefficient and labor-intensive, leading to suboptimal crop yields and increased pesticide use. There is a need for an advanced system that combines machine learning and drone technology to detect anomalies in crop health early and automate the creation of precise, customized flight paths for treatment. This will address issues of inefficiency, high operational costs, and environmental impact in modern agriculture.</a:t>
            </a:r>
            <a:endPar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44689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0" y="0"/>
            <a:ext cx="7724403" cy="818823"/>
          </a:xfrm>
        </p:spPr>
        <p:txBody>
          <a:bodyPr>
            <a:normAutofit fontScale="90000"/>
          </a:bodyPr>
          <a:lstStyle/>
          <a:p>
            <a:r>
              <a:rPr lang="en-US" sz="3600" b="1" dirty="0">
                <a:solidFill>
                  <a:srgbClr val="CC0066"/>
                </a:solidFill>
                <a:latin typeface="Times New Roman" panose="02020603050405020304" pitchFamily="18" charset="0"/>
                <a:cs typeface="Times New Roman" panose="02020603050405020304" pitchFamily="18" charset="0"/>
              </a:rPr>
              <a:t>Pros and Cons of using different approach</a:t>
            </a:r>
          </a:p>
        </p:txBody>
      </p:sp>
      <p:sp>
        <p:nvSpPr>
          <p:cNvPr id="5" name="Rectangle 1">
            <a:extLst>
              <a:ext uri="{FF2B5EF4-FFF2-40B4-BE49-F238E27FC236}">
                <a16:creationId xmlns:a16="http://schemas.microsoft.com/office/drawing/2014/main" id="{012C30BF-330D-852A-AF22-8DACFA421320}"/>
              </a:ext>
            </a:extLst>
          </p:cNvPr>
          <p:cNvSpPr>
            <a:spLocks noGrp="1" noChangeArrowheads="1"/>
          </p:cNvSpPr>
          <p:nvPr>
            <p:ph idx="1"/>
          </p:nvPr>
        </p:nvSpPr>
        <p:spPr bwMode="auto">
          <a:xfrm>
            <a:off x="927642" y="718673"/>
            <a:ext cx="3963626" cy="518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Data Mining</a:t>
            </a:r>
          </a:p>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Machine Learning</a:t>
            </a:r>
          </a:p>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Deep learning</a:t>
            </a:r>
          </a:p>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Explainable AI</a:t>
            </a:r>
          </a:p>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Federated Learning</a:t>
            </a:r>
          </a:p>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Transfer Learning</a:t>
            </a:r>
          </a:p>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Generative AI</a:t>
            </a:r>
          </a:p>
          <a:p>
            <a:pPr defTabSz="914400" eaLnBrk="0" fontAlgn="base" hangingPunct="0">
              <a:lnSpc>
                <a:spcPct val="150000"/>
              </a:lnSpc>
              <a:spcBef>
                <a:spcPct val="0"/>
              </a:spcBef>
              <a:spcAft>
                <a:spcPct val="0"/>
              </a:spcAft>
              <a:buFont typeface="Wingdings" panose="05000000000000000000" pitchFamily="2" charset="2"/>
              <a:buChar char="Ø"/>
            </a:pP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Agent AI</a:t>
            </a:r>
          </a:p>
        </p:txBody>
      </p:sp>
    </p:spTree>
    <p:extLst>
      <p:ext uri="{BB962C8B-B14F-4D97-AF65-F5344CB8AC3E}">
        <p14:creationId xmlns:p14="http://schemas.microsoft.com/office/powerpoint/2010/main" val="18655631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4724400" y="0"/>
            <a:ext cx="2743200" cy="818823"/>
          </a:xfrm>
        </p:spPr>
        <p:txBody>
          <a:bodyPr>
            <a:normAutofit/>
          </a:bodyPr>
          <a:lstStyle/>
          <a:p>
            <a:r>
              <a:rPr lang="en-US" sz="3600" b="1" dirty="0">
                <a:solidFill>
                  <a:srgbClr val="CC0066"/>
                </a:solidFill>
                <a:latin typeface="Times New Roman" panose="02020603050405020304" pitchFamily="18" charset="0"/>
                <a:cs typeface="Times New Roman" panose="02020603050405020304" pitchFamily="18" charset="0"/>
              </a:rPr>
              <a:t>Data Mining</a:t>
            </a:r>
          </a:p>
        </p:txBody>
      </p:sp>
      <p:sp>
        <p:nvSpPr>
          <p:cNvPr id="5" name="Rectangle 1">
            <a:extLst>
              <a:ext uri="{FF2B5EF4-FFF2-40B4-BE49-F238E27FC236}">
                <a16:creationId xmlns:a16="http://schemas.microsoft.com/office/drawing/2014/main" id="{012C30BF-330D-852A-AF22-8DACFA421320}"/>
              </a:ext>
            </a:extLst>
          </p:cNvPr>
          <p:cNvSpPr>
            <a:spLocks noGrp="1" noChangeArrowheads="1"/>
          </p:cNvSpPr>
          <p:nvPr>
            <p:ph idx="1"/>
          </p:nvPr>
        </p:nvSpPr>
        <p:spPr bwMode="auto">
          <a:xfrm>
            <a:off x="1" y="818823"/>
            <a:ext cx="12192000" cy="5037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000" b="1" dirty="0">
                <a:latin typeface="Arial" panose="020B0604020202020204" pitchFamily="34" charset="0"/>
                <a:cs typeface="Arial" panose="020B0604020202020204" pitchFamily="34" charset="0"/>
              </a:rPr>
              <a:t>Advantages:</a:t>
            </a:r>
            <a:endParaRPr lang="en-US" sz="2000" dirty="0">
              <a:latin typeface="Arial" panose="020B0604020202020204" pitchFamily="34" charset="0"/>
              <a:cs typeface="Arial" panose="020B0604020202020204" pitchFamily="34" charset="0"/>
            </a:endParaRPr>
          </a:p>
          <a:p>
            <a:pPr>
              <a:buFont typeface="Arial" panose="020B0604020202020204" pitchFamily="34" charset="0"/>
              <a:buChar char="•"/>
            </a:pPr>
            <a:r>
              <a:rPr lang="en-US" sz="2000" b="1" dirty="0">
                <a:latin typeface="Arial" panose="020B0604020202020204" pitchFamily="34" charset="0"/>
                <a:cs typeface="Arial" panose="020B0604020202020204" pitchFamily="34" charset="0"/>
              </a:rPr>
              <a:t>Pattern Discovery:</a:t>
            </a:r>
            <a:r>
              <a:rPr lang="en-US" sz="2000" dirty="0">
                <a:latin typeface="Arial" panose="020B0604020202020204" pitchFamily="34" charset="0"/>
                <a:cs typeface="Arial" panose="020B0604020202020204" pitchFamily="34" charset="0"/>
              </a:rPr>
              <a:t> Efficiently identifies hidden patterns and correlations in large datasets, which is crucial for understanding crop health trends.</a:t>
            </a:r>
          </a:p>
          <a:p>
            <a:pPr>
              <a:buFont typeface="Arial" panose="020B0604020202020204" pitchFamily="34" charset="0"/>
              <a:buChar char="•"/>
            </a:pPr>
            <a:r>
              <a:rPr lang="en-US" sz="2000" b="1" dirty="0">
                <a:latin typeface="Arial" panose="020B0604020202020204" pitchFamily="34" charset="0"/>
                <a:cs typeface="Arial" panose="020B0604020202020204" pitchFamily="34" charset="0"/>
              </a:rPr>
              <a:t>Data-Driven Decisions:</a:t>
            </a:r>
            <a:r>
              <a:rPr lang="en-US" sz="2000" dirty="0">
                <a:latin typeface="Arial" panose="020B0604020202020204" pitchFamily="34" charset="0"/>
                <a:cs typeface="Arial" panose="020B0604020202020204" pitchFamily="34" charset="0"/>
              </a:rPr>
              <a:t> Helps in making informed decisions based on historical data and trends, leading to optimized spraying schedules and routes.</a:t>
            </a:r>
          </a:p>
          <a:p>
            <a:pPr>
              <a:buFont typeface="Arial" panose="020B0604020202020204" pitchFamily="34" charset="0"/>
              <a:buChar char="•"/>
            </a:pPr>
            <a:r>
              <a:rPr lang="en-US" sz="2000" b="1" dirty="0">
                <a:latin typeface="Arial" panose="020B0604020202020204" pitchFamily="34" charset="0"/>
                <a:cs typeface="Arial" panose="020B0604020202020204" pitchFamily="34" charset="0"/>
              </a:rPr>
              <a:t>Cost-Effective:</a:t>
            </a:r>
            <a:r>
              <a:rPr lang="en-US" sz="2000" dirty="0">
                <a:latin typeface="Arial" panose="020B0604020202020204" pitchFamily="34" charset="0"/>
                <a:cs typeface="Arial" panose="020B0604020202020204" pitchFamily="34" charset="0"/>
              </a:rPr>
              <a:t> Generally less computationally intensive than more advanced ML techniques, making it accessible for initial stages of analysis.</a:t>
            </a:r>
          </a:p>
          <a:p>
            <a:pPr marL="0" indent="0">
              <a:buNone/>
            </a:pPr>
            <a:r>
              <a:rPr lang="en-US" sz="2000" b="1" dirty="0">
                <a:latin typeface="Arial" panose="020B0604020202020204" pitchFamily="34" charset="0"/>
                <a:cs typeface="Arial" panose="020B0604020202020204" pitchFamily="34" charset="0"/>
              </a:rPr>
              <a:t>Limitations:</a:t>
            </a:r>
            <a:endParaRPr lang="en-US" sz="2000" dirty="0">
              <a:latin typeface="Arial" panose="020B0604020202020204" pitchFamily="34" charset="0"/>
              <a:cs typeface="Arial" panose="020B0604020202020204" pitchFamily="34" charset="0"/>
            </a:endParaRPr>
          </a:p>
          <a:p>
            <a:pPr>
              <a:buFont typeface="Arial" panose="020B0604020202020204" pitchFamily="34" charset="0"/>
              <a:buChar char="•"/>
            </a:pPr>
            <a:r>
              <a:rPr lang="en-US" sz="2000" b="1" dirty="0">
                <a:latin typeface="Arial" panose="020B0604020202020204" pitchFamily="34" charset="0"/>
                <a:cs typeface="Arial" panose="020B0604020202020204" pitchFamily="34" charset="0"/>
              </a:rPr>
              <a:t>Limited Predictive Power:</a:t>
            </a:r>
            <a:r>
              <a:rPr lang="en-US" sz="2000" dirty="0">
                <a:latin typeface="Arial" panose="020B0604020202020204" pitchFamily="34" charset="0"/>
                <a:cs typeface="Arial" panose="020B0604020202020204" pitchFamily="34" charset="0"/>
              </a:rPr>
              <a:t> May not be as effective in predicting future anomalies or changes in crop health compared to ML or DL methods.</a:t>
            </a:r>
          </a:p>
          <a:p>
            <a:pPr>
              <a:buFont typeface="Arial" panose="020B0604020202020204" pitchFamily="34" charset="0"/>
              <a:buChar char="•"/>
            </a:pPr>
            <a:r>
              <a:rPr lang="en-US" sz="2000" b="1" dirty="0">
                <a:latin typeface="Arial" panose="020B0604020202020204" pitchFamily="34" charset="0"/>
                <a:cs typeface="Arial" panose="020B0604020202020204" pitchFamily="34" charset="0"/>
              </a:rPr>
              <a:t>Static Analysis:</a:t>
            </a:r>
            <a:r>
              <a:rPr lang="en-US" sz="2000" dirty="0">
                <a:latin typeface="Arial" panose="020B0604020202020204" pitchFamily="34" charset="0"/>
                <a:cs typeface="Arial" panose="020B0604020202020204" pitchFamily="34" charset="0"/>
              </a:rPr>
              <a:t> Lacks the adaptability and learning capabilities of machine learning models, making it less effective for dynamic and evolving agricultural environments.</a:t>
            </a:r>
          </a:p>
          <a:p>
            <a:pPr>
              <a:buFont typeface="Arial" panose="020B0604020202020204" pitchFamily="34" charset="0"/>
              <a:buChar char="•"/>
            </a:pPr>
            <a:r>
              <a:rPr lang="en-US" sz="2000" b="1" dirty="0">
                <a:latin typeface="Arial" panose="020B0604020202020204" pitchFamily="34" charset="0"/>
                <a:cs typeface="Arial" panose="020B0604020202020204" pitchFamily="34" charset="0"/>
              </a:rPr>
              <a:t>Dependency on Quality of Data:</a:t>
            </a:r>
            <a:r>
              <a:rPr lang="en-US" sz="2000" dirty="0">
                <a:latin typeface="Arial" panose="020B0604020202020204" pitchFamily="34" charset="0"/>
                <a:cs typeface="Arial" panose="020B0604020202020204" pitchFamily="34" charset="0"/>
              </a:rPr>
              <a:t> Highly dependent on the quality and completeness of the data available, which can be a limiting factor in rural or underdeveloped areas.</a:t>
            </a:r>
          </a:p>
        </p:txBody>
      </p:sp>
    </p:spTree>
    <p:extLst>
      <p:ext uri="{BB962C8B-B14F-4D97-AF65-F5344CB8AC3E}">
        <p14:creationId xmlns:p14="http://schemas.microsoft.com/office/powerpoint/2010/main" val="28093801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4064000" y="0"/>
            <a:ext cx="3403600" cy="818823"/>
          </a:xfrm>
        </p:spPr>
        <p:txBody>
          <a:bodyPr>
            <a:normAutofit fontScale="90000"/>
          </a:bodyPr>
          <a:lstStyle/>
          <a:p>
            <a:r>
              <a:rPr lang="en-US" sz="3600" b="1" dirty="0">
                <a:solidFill>
                  <a:srgbClr val="CC0066"/>
                </a:solidFill>
                <a:latin typeface="Times New Roman" panose="02020603050405020304" pitchFamily="18" charset="0"/>
                <a:cs typeface="Times New Roman" panose="02020603050405020304" pitchFamily="18" charset="0"/>
              </a:rPr>
              <a:t>Machine Learning</a:t>
            </a:r>
          </a:p>
        </p:txBody>
      </p:sp>
      <p:sp>
        <p:nvSpPr>
          <p:cNvPr id="5" name="Rectangle 1">
            <a:extLst>
              <a:ext uri="{FF2B5EF4-FFF2-40B4-BE49-F238E27FC236}">
                <a16:creationId xmlns:a16="http://schemas.microsoft.com/office/drawing/2014/main" id="{012C30BF-330D-852A-AF22-8DACFA421320}"/>
              </a:ext>
            </a:extLst>
          </p:cNvPr>
          <p:cNvSpPr>
            <a:spLocks noGrp="1" noChangeArrowheads="1"/>
          </p:cNvSpPr>
          <p:nvPr>
            <p:ph idx="1"/>
          </p:nvPr>
        </p:nvSpPr>
        <p:spPr bwMode="auto">
          <a:xfrm>
            <a:off x="1" y="903448"/>
            <a:ext cx="12192000" cy="4867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000" b="1" dirty="0">
                <a:latin typeface="Arial" panose="020B0604020202020204" pitchFamily="34" charset="0"/>
                <a:cs typeface="Arial" panose="020B0604020202020204" pitchFamily="34" charset="0"/>
              </a:rPr>
              <a:t>Advantages:</a:t>
            </a:r>
            <a:endParaRPr lang="en-US" sz="20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Predictive Modeling:</a:t>
            </a:r>
            <a:r>
              <a:rPr lang="en-US" sz="2000" dirty="0">
                <a:latin typeface="Arial" panose="020B0604020202020204" pitchFamily="34" charset="0"/>
                <a:cs typeface="Arial" panose="020B0604020202020204" pitchFamily="34" charset="0"/>
              </a:rPr>
              <a:t> Capable of building predictive models that can anticipate crop health issues before they become severe, allowing for proactive measures.</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Adaptability:</a:t>
            </a:r>
            <a:r>
              <a:rPr lang="en-US" sz="2000" dirty="0">
                <a:latin typeface="Arial" panose="020B0604020202020204" pitchFamily="34" charset="0"/>
                <a:cs typeface="Arial" panose="020B0604020202020204" pitchFamily="34" charset="0"/>
              </a:rPr>
              <a:t> Can adapt to new data and improve over time, providing increasingly accurate predictions and recommendations.</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Versatility:</a:t>
            </a:r>
            <a:r>
              <a:rPr lang="en-US" sz="2000" dirty="0">
                <a:latin typeface="Arial" panose="020B0604020202020204" pitchFamily="34" charset="0"/>
                <a:cs typeface="Arial" panose="020B0604020202020204" pitchFamily="34" charset="0"/>
              </a:rPr>
              <a:t> Applicable to various types of data (e.g., soil, weather, crop images), enabling a holistic approach to anomaly detection and flight path planning.</a:t>
            </a:r>
          </a:p>
          <a:p>
            <a:pPr marL="0" indent="0">
              <a:buNone/>
            </a:pPr>
            <a:r>
              <a:rPr lang="en-US" sz="2000" b="1" dirty="0">
                <a:latin typeface="Arial" panose="020B0604020202020204" pitchFamily="34" charset="0"/>
                <a:cs typeface="Arial" panose="020B0604020202020204" pitchFamily="34" charset="0"/>
              </a:rPr>
              <a:t>Limitations:</a:t>
            </a:r>
            <a:endParaRPr lang="en-US" sz="20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Data Requirements:</a:t>
            </a:r>
            <a:r>
              <a:rPr lang="en-US" sz="2000" dirty="0">
                <a:latin typeface="Arial" panose="020B0604020202020204" pitchFamily="34" charset="0"/>
                <a:cs typeface="Arial" panose="020B0604020202020204" pitchFamily="34" charset="0"/>
              </a:rPr>
              <a:t> Requires substantial amounts of labeled data to train accurate models, which can be challenging to gather in agricultural settings.</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Complexity:</a:t>
            </a:r>
            <a:r>
              <a:rPr lang="en-US" sz="2000" dirty="0">
                <a:latin typeface="Arial" panose="020B0604020202020204" pitchFamily="34" charset="0"/>
                <a:cs typeface="Arial" panose="020B0604020202020204" pitchFamily="34" charset="0"/>
              </a:rPr>
              <a:t> Implementing and maintaining ML models can be complex and may require specialized knowledge and resources.</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Overfitting Risk:</a:t>
            </a:r>
            <a:r>
              <a:rPr lang="en-US" sz="2000" dirty="0">
                <a:latin typeface="Arial" panose="020B0604020202020204" pitchFamily="34" charset="0"/>
                <a:cs typeface="Arial" panose="020B0604020202020204" pitchFamily="34" charset="0"/>
              </a:rPr>
              <a:t> ML models may overfit to training data, reducing their effectiveness on new, unseen data if not properly managed.</a:t>
            </a:r>
          </a:p>
        </p:txBody>
      </p:sp>
    </p:spTree>
    <p:extLst>
      <p:ext uri="{BB962C8B-B14F-4D97-AF65-F5344CB8AC3E}">
        <p14:creationId xmlns:p14="http://schemas.microsoft.com/office/powerpoint/2010/main" val="10864019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4064000" y="0"/>
            <a:ext cx="3403600" cy="818823"/>
          </a:xfrm>
        </p:spPr>
        <p:txBody>
          <a:bodyPr>
            <a:normAutofit/>
          </a:bodyPr>
          <a:lstStyle/>
          <a:p>
            <a:r>
              <a:rPr lang="en-US" sz="3600" b="1" dirty="0">
                <a:solidFill>
                  <a:srgbClr val="CC0066"/>
                </a:solidFill>
                <a:latin typeface="Times New Roman" panose="02020603050405020304" pitchFamily="18" charset="0"/>
                <a:cs typeface="Times New Roman" panose="02020603050405020304" pitchFamily="18" charset="0"/>
              </a:rPr>
              <a:t>Deep Learning</a:t>
            </a:r>
          </a:p>
        </p:txBody>
      </p:sp>
      <p:sp>
        <p:nvSpPr>
          <p:cNvPr id="5" name="Rectangle 1">
            <a:extLst>
              <a:ext uri="{FF2B5EF4-FFF2-40B4-BE49-F238E27FC236}">
                <a16:creationId xmlns:a16="http://schemas.microsoft.com/office/drawing/2014/main" id="{012C30BF-330D-852A-AF22-8DACFA421320}"/>
              </a:ext>
            </a:extLst>
          </p:cNvPr>
          <p:cNvSpPr>
            <a:spLocks noGrp="1" noChangeArrowheads="1"/>
          </p:cNvSpPr>
          <p:nvPr>
            <p:ph idx="1"/>
          </p:nvPr>
        </p:nvSpPr>
        <p:spPr bwMode="auto">
          <a:xfrm>
            <a:off x="1" y="903448"/>
            <a:ext cx="12192000" cy="4867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000" b="1" dirty="0">
                <a:latin typeface="Arial" panose="020B0604020202020204" pitchFamily="34" charset="0"/>
                <a:cs typeface="Arial" panose="020B0604020202020204" pitchFamily="34" charset="0"/>
              </a:rPr>
              <a:t>Advantages:</a:t>
            </a:r>
            <a:endParaRPr lang="en-US" sz="20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High Accuracy:</a:t>
            </a:r>
            <a:r>
              <a:rPr lang="en-US" sz="2000" dirty="0">
                <a:latin typeface="Arial" panose="020B0604020202020204" pitchFamily="34" charset="0"/>
                <a:cs typeface="Arial" panose="020B0604020202020204" pitchFamily="34" charset="0"/>
              </a:rPr>
              <a:t> Capable of achieving high levels of accuracy in anomaly detection due to its ability to model complex patterns in large datasets.</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Automation:</a:t>
            </a:r>
            <a:r>
              <a:rPr lang="en-US" sz="2000" dirty="0">
                <a:latin typeface="Arial" panose="020B0604020202020204" pitchFamily="34" charset="0"/>
                <a:cs typeface="Arial" panose="020B0604020202020204" pitchFamily="34" charset="0"/>
              </a:rPr>
              <a:t> Can automate feature extraction, reducing the need for manual intervention and allowing for the discovery of subtle patterns.</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Scalability:</a:t>
            </a:r>
            <a:r>
              <a:rPr lang="en-US" sz="2000" dirty="0">
                <a:latin typeface="Arial" panose="020B0604020202020204" pitchFamily="34" charset="0"/>
                <a:cs typeface="Arial" panose="020B0604020202020204" pitchFamily="34" charset="0"/>
              </a:rPr>
              <a:t> Effective in handling large-scale data from diverse sources, such as satellite imagery, drone footage, and IoT sensor data.</a:t>
            </a:r>
          </a:p>
          <a:p>
            <a:pPr marL="0" indent="0">
              <a:buNone/>
            </a:pPr>
            <a:r>
              <a:rPr lang="en-US" sz="2000" b="1" dirty="0">
                <a:latin typeface="Arial" panose="020B0604020202020204" pitchFamily="34" charset="0"/>
                <a:cs typeface="Arial" panose="020B0604020202020204" pitchFamily="34" charset="0"/>
              </a:rPr>
              <a:t>Limitations:</a:t>
            </a:r>
            <a:endParaRPr lang="en-US" sz="20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Resource Intensive:</a:t>
            </a:r>
            <a:r>
              <a:rPr lang="en-US" sz="2000" dirty="0">
                <a:latin typeface="Arial" panose="020B0604020202020204" pitchFamily="34" charset="0"/>
                <a:cs typeface="Arial" panose="020B0604020202020204" pitchFamily="34" charset="0"/>
              </a:rPr>
              <a:t> Requires significant computational resources and large labeled datasets for training, which may not be feasible in all settings.</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Interpretability:</a:t>
            </a:r>
            <a:r>
              <a:rPr lang="en-US" sz="2000" dirty="0">
                <a:latin typeface="Arial" panose="020B0604020202020204" pitchFamily="34" charset="0"/>
                <a:cs typeface="Arial" panose="020B0604020202020204" pitchFamily="34" charset="0"/>
              </a:rPr>
              <a:t> Deep learning models are often seen as "black boxes," making it difficult to understand and interpret their decisions.</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Deployment Complexity:</a:t>
            </a:r>
            <a:r>
              <a:rPr lang="en-US" sz="2000" dirty="0">
                <a:latin typeface="Arial" panose="020B0604020202020204" pitchFamily="34" charset="0"/>
                <a:cs typeface="Arial" panose="020B0604020202020204" pitchFamily="34" charset="0"/>
              </a:rPr>
              <a:t> Implementing and maintaining DL models in real-world agricultural environments can be challenging and costly.</a:t>
            </a:r>
          </a:p>
        </p:txBody>
      </p:sp>
    </p:spTree>
    <p:extLst>
      <p:ext uri="{BB962C8B-B14F-4D97-AF65-F5344CB8AC3E}">
        <p14:creationId xmlns:p14="http://schemas.microsoft.com/office/powerpoint/2010/main" val="2317932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4064000" y="0"/>
            <a:ext cx="3403600" cy="818823"/>
          </a:xfrm>
        </p:spPr>
        <p:txBody>
          <a:bodyPr>
            <a:normAutofit/>
          </a:bodyPr>
          <a:lstStyle/>
          <a:p>
            <a:r>
              <a:rPr lang="en-US" sz="3600" b="1" dirty="0">
                <a:solidFill>
                  <a:srgbClr val="CC0066"/>
                </a:solidFill>
                <a:latin typeface="Times New Roman" panose="02020603050405020304" pitchFamily="18" charset="0"/>
                <a:cs typeface="Times New Roman" panose="02020603050405020304" pitchFamily="18" charset="0"/>
              </a:rPr>
              <a:t>Explainable AI</a:t>
            </a:r>
          </a:p>
        </p:txBody>
      </p:sp>
      <p:sp>
        <p:nvSpPr>
          <p:cNvPr id="5" name="Rectangle 1">
            <a:extLst>
              <a:ext uri="{FF2B5EF4-FFF2-40B4-BE49-F238E27FC236}">
                <a16:creationId xmlns:a16="http://schemas.microsoft.com/office/drawing/2014/main" id="{012C30BF-330D-852A-AF22-8DACFA421320}"/>
              </a:ext>
            </a:extLst>
          </p:cNvPr>
          <p:cNvSpPr>
            <a:spLocks noGrp="1" noChangeArrowheads="1"/>
          </p:cNvSpPr>
          <p:nvPr>
            <p:ph idx="1"/>
          </p:nvPr>
        </p:nvSpPr>
        <p:spPr bwMode="auto">
          <a:xfrm>
            <a:off x="1" y="903448"/>
            <a:ext cx="12192000" cy="4867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000" b="1" dirty="0">
                <a:latin typeface="Arial" panose="020B0604020202020204" pitchFamily="34" charset="0"/>
                <a:cs typeface="Arial" panose="020B0604020202020204" pitchFamily="34" charset="0"/>
              </a:rPr>
              <a:t>Advantages:</a:t>
            </a:r>
            <a:endParaRPr lang="en-US" sz="2000" dirty="0">
              <a:latin typeface="Arial" panose="020B0604020202020204" pitchFamily="34" charset="0"/>
              <a:cs typeface="Arial" panose="020B0604020202020204" pitchFamily="34" charset="0"/>
            </a:endParaRPr>
          </a:p>
          <a:p>
            <a:pPr>
              <a:buFont typeface="Arial" panose="020B0604020202020204" pitchFamily="34" charset="0"/>
              <a:buChar char="•"/>
            </a:pPr>
            <a:r>
              <a:rPr lang="en-US" sz="2000" b="1" dirty="0">
                <a:latin typeface="Arial" panose="020B0604020202020204" pitchFamily="34" charset="0"/>
                <a:cs typeface="Arial" panose="020B0604020202020204" pitchFamily="34" charset="0"/>
              </a:rPr>
              <a:t>Transparency:</a:t>
            </a:r>
            <a:r>
              <a:rPr lang="en-US" sz="2000" dirty="0">
                <a:latin typeface="Arial" panose="020B0604020202020204" pitchFamily="34" charset="0"/>
                <a:cs typeface="Arial" panose="020B0604020202020204" pitchFamily="34" charset="0"/>
              </a:rPr>
              <a:t> Provides clear insights into how decisions are made, increasing trust and acceptance among stakeholders.</a:t>
            </a:r>
          </a:p>
          <a:p>
            <a:pPr>
              <a:buFont typeface="Arial" panose="020B0604020202020204" pitchFamily="34" charset="0"/>
              <a:buChar char="•"/>
            </a:pPr>
            <a:r>
              <a:rPr lang="en-US" sz="2000" b="1" dirty="0">
                <a:latin typeface="Arial" panose="020B0604020202020204" pitchFamily="34" charset="0"/>
                <a:cs typeface="Arial" panose="020B0604020202020204" pitchFamily="34" charset="0"/>
              </a:rPr>
              <a:t>Regulatory Compliance:</a:t>
            </a:r>
            <a:r>
              <a:rPr lang="en-US" sz="2000" dirty="0">
                <a:latin typeface="Arial" panose="020B0604020202020204" pitchFamily="34" charset="0"/>
                <a:cs typeface="Arial" panose="020B0604020202020204" pitchFamily="34" charset="0"/>
              </a:rPr>
              <a:t> Helps in meeting regulatory requirements by providing explanations for automated decisions.</a:t>
            </a:r>
          </a:p>
          <a:p>
            <a:pPr>
              <a:buFont typeface="Arial" panose="020B0604020202020204" pitchFamily="34" charset="0"/>
              <a:buChar char="•"/>
            </a:pPr>
            <a:r>
              <a:rPr lang="en-US" sz="2000" b="1" dirty="0">
                <a:latin typeface="Arial" panose="020B0604020202020204" pitchFamily="34" charset="0"/>
                <a:cs typeface="Arial" panose="020B0604020202020204" pitchFamily="34" charset="0"/>
              </a:rPr>
              <a:t>Improved Model Understanding:</a:t>
            </a:r>
            <a:r>
              <a:rPr lang="en-US" sz="2000" dirty="0">
                <a:latin typeface="Arial" panose="020B0604020202020204" pitchFamily="34" charset="0"/>
                <a:cs typeface="Arial" panose="020B0604020202020204" pitchFamily="34" charset="0"/>
              </a:rPr>
              <a:t> Enhances the ability to debug and improve models by understanding their decision-making processes.</a:t>
            </a:r>
          </a:p>
          <a:p>
            <a:pPr marL="0" indent="0">
              <a:buNone/>
            </a:pPr>
            <a:r>
              <a:rPr lang="en-US" sz="2000" b="1" dirty="0">
                <a:latin typeface="Arial" panose="020B0604020202020204" pitchFamily="34" charset="0"/>
                <a:cs typeface="Arial" panose="020B0604020202020204" pitchFamily="34" charset="0"/>
              </a:rPr>
              <a:t>Limitations:</a:t>
            </a:r>
            <a:endParaRPr lang="en-US" sz="2000" dirty="0">
              <a:latin typeface="Arial" panose="020B0604020202020204" pitchFamily="34" charset="0"/>
              <a:cs typeface="Arial" panose="020B0604020202020204" pitchFamily="34" charset="0"/>
            </a:endParaRPr>
          </a:p>
          <a:p>
            <a:pPr>
              <a:buFont typeface="Arial" panose="020B0604020202020204" pitchFamily="34" charset="0"/>
              <a:buChar char="•"/>
            </a:pPr>
            <a:r>
              <a:rPr lang="en-US" sz="2000" b="1" dirty="0">
                <a:latin typeface="Arial" panose="020B0604020202020204" pitchFamily="34" charset="0"/>
                <a:cs typeface="Arial" panose="020B0604020202020204" pitchFamily="34" charset="0"/>
              </a:rPr>
              <a:t>Complexity:</a:t>
            </a:r>
            <a:r>
              <a:rPr lang="en-US" sz="2000" dirty="0">
                <a:latin typeface="Arial" panose="020B0604020202020204" pitchFamily="34" charset="0"/>
                <a:cs typeface="Arial" panose="020B0604020202020204" pitchFamily="34" charset="0"/>
              </a:rPr>
              <a:t> Developing explainable models can be more complex and may require trade-offs between accuracy and interpretability.</a:t>
            </a:r>
          </a:p>
          <a:p>
            <a:pPr>
              <a:buFont typeface="Arial" panose="020B0604020202020204" pitchFamily="34" charset="0"/>
              <a:buChar char="•"/>
            </a:pPr>
            <a:r>
              <a:rPr lang="en-US" sz="2000" b="1" dirty="0">
                <a:latin typeface="Arial" panose="020B0604020202020204" pitchFamily="34" charset="0"/>
                <a:cs typeface="Arial" panose="020B0604020202020204" pitchFamily="34" charset="0"/>
              </a:rPr>
              <a:t>Performance Trade-offs:</a:t>
            </a:r>
            <a:r>
              <a:rPr lang="en-US" sz="2000" dirty="0">
                <a:latin typeface="Arial" panose="020B0604020202020204" pitchFamily="34" charset="0"/>
                <a:cs typeface="Arial" panose="020B0604020202020204" pitchFamily="34" charset="0"/>
              </a:rPr>
              <a:t> Explainable models may not always achieve the same level of performance as less interpretable models.</a:t>
            </a:r>
          </a:p>
          <a:p>
            <a:pPr>
              <a:buFont typeface="Arial" panose="020B0604020202020204" pitchFamily="34" charset="0"/>
              <a:buChar char="•"/>
            </a:pPr>
            <a:r>
              <a:rPr lang="en-US" sz="2000" b="1" dirty="0">
                <a:latin typeface="Arial" panose="020B0604020202020204" pitchFamily="34" charset="0"/>
                <a:cs typeface="Arial" panose="020B0604020202020204" pitchFamily="34" charset="0"/>
              </a:rPr>
              <a:t>Limited Tools:</a:t>
            </a:r>
            <a:r>
              <a:rPr lang="en-US" sz="2000" dirty="0">
                <a:latin typeface="Arial" panose="020B0604020202020204" pitchFamily="34" charset="0"/>
                <a:cs typeface="Arial" panose="020B0604020202020204" pitchFamily="34" charset="0"/>
              </a:rPr>
              <a:t> The field of explainable AI is still evolving, with limited tools and frameworks available compared to traditional ML/DL.</a:t>
            </a:r>
          </a:p>
        </p:txBody>
      </p:sp>
    </p:spTree>
    <p:extLst>
      <p:ext uri="{BB962C8B-B14F-4D97-AF65-F5344CB8AC3E}">
        <p14:creationId xmlns:p14="http://schemas.microsoft.com/office/powerpoint/2010/main" val="3340661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4063999" y="0"/>
            <a:ext cx="3666837" cy="818823"/>
          </a:xfrm>
        </p:spPr>
        <p:txBody>
          <a:bodyPr>
            <a:normAutofit fontScale="90000"/>
          </a:bodyPr>
          <a:lstStyle/>
          <a:p>
            <a:r>
              <a:rPr lang="en-US" sz="3600" b="1" dirty="0">
                <a:solidFill>
                  <a:srgbClr val="CC0066"/>
                </a:solidFill>
                <a:latin typeface="Times New Roman" panose="02020603050405020304" pitchFamily="18" charset="0"/>
                <a:cs typeface="Times New Roman" panose="02020603050405020304" pitchFamily="18" charset="0"/>
              </a:rPr>
              <a:t>Federated Learning</a:t>
            </a:r>
          </a:p>
        </p:txBody>
      </p:sp>
      <p:sp>
        <p:nvSpPr>
          <p:cNvPr id="5" name="Rectangle 1">
            <a:extLst>
              <a:ext uri="{FF2B5EF4-FFF2-40B4-BE49-F238E27FC236}">
                <a16:creationId xmlns:a16="http://schemas.microsoft.com/office/drawing/2014/main" id="{012C30BF-330D-852A-AF22-8DACFA421320}"/>
              </a:ext>
            </a:extLst>
          </p:cNvPr>
          <p:cNvSpPr>
            <a:spLocks noGrp="1" noChangeArrowheads="1"/>
          </p:cNvSpPr>
          <p:nvPr>
            <p:ph idx="1"/>
          </p:nvPr>
        </p:nvSpPr>
        <p:spPr bwMode="auto">
          <a:xfrm>
            <a:off x="1" y="903448"/>
            <a:ext cx="12192000" cy="4867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000" b="1" dirty="0">
                <a:latin typeface="Arial" panose="020B0604020202020204" pitchFamily="34" charset="0"/>
                <a:cs typeface="Arial" panose="020B0604020202020204" pitchFamily="34" charset="0"/>
              </a:rPr>
              <a:t>Advantages:</a:t>
            </a:r>
            <a:endParaRPr lang="en-US" sz="20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Data Privacy:</a:t>
            </a:r>
            <a:r>
              <a:rPr lang="en-US" sz="2000" dirty="0">
                <a:latin typeface="Arial" panose="020B0604020202020204" pitchFamily="34" charset="0"/>
                <a:cs typeface="Arial" panose="020B0604020202020204" pitchFamily="34" charset="0"/>
              </a:rPr>
              <a:t> Enables the use of distributed data without requiring it to be centralized, preserving privacy and security.</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Collaboration:</a:t>
            </a:r>
            <a:r>
              <a:rPr lang="en-US" sz="2000" dirty="0">
                <a:latin typeface="Arial" panose="020B0604020202020204" pitchFamily="34" charset="0"/>
                <a:cs typeface="Arial" panose="020B0604020202020204" pitchFamily="34" charset="0"/>
              </a:rPr>
              <a:t> Facilitates collaboration among different organizations or farms, leading to more robust and diverse models.</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Scalability:</a:t>
            </a:r>
            <a:r>
              <a:rPr lang="en-US" sz="2000" dirty="0">
                <a:latin typeface="Arial" panose="020B0604020202020204" pitchFamily="34" charset="0"/>
                <a:cs typeface="Arial" panose="020B0604020202020204" pitchFamily="34" charset="0"/>
              </a:rPr>
              <a:t> Can scale across multiple devices and locations, making it suitable for large-scale agricultural deployments.</a:t>
            </a:r>
          </a:p>
          <a:p>
            <a:pPr marL="0" indent="0">
              <a:buNone/>
            </a:pPr>
            <a:r>
              <a:rPr lang="en-US" sz="2000" b="1" dirty="0">
                <a:latin typeface="Arial" panose="020B0604020202020204" pitchFamily="34" charset="0"/>
                <a:cs typeface="Arial" panose="020B0604020202020204" pitchFamily="34" charset="0"/>
              </a:rPr>
              <a:t>Limitations:</a:t>
            </a:r>
            <a:endParaRPr lang="en-US" sz="20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Communication Overhead:</a:t>
            </a:r>
            <a:r>
              <a:rPr lang="en-US" sz="2000" dirty="0">
                <a:latin typeface="Arial" panose="020B0604020202020204" pitchFamily="34" charset="0"/>
                <a:cs typeface="Arial" panose="020B0604020202020204" pitchFamily="34" charset="0"/>
              </a:rPr>
              <a:t> Requires efficient communication protocols to handle the exchange of model updates, which can be challenging in remote areas.</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Heterogeneity:</a:t>
            </a:r>
            <a:r>
              <a:rPr lang="en-US" sz="2000" dirty="0">
                <a:latin typeface="Arial" panose="020B0604020202020204" pitchFamily="34" charset="0"/>
                <a:cs typeface="Arial" panose="020B0604020202020204" pitchFamily="34" charset="0"/>
              </a:rPr>
              <a:t> Managing heterogeneous data and models from different sources can be complex and may affect model performance.</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Limited Control:</a:t>
            </a:r>
            <a:r>
              <a:rPr lang="en-US" sz="2000" dirty="0">
                <a:latin typeface="Arial" panose="020B0604020202020204" pitchFamily="34" charset="0"/>
                <a:cs typeface="Arial" panose="020B0604020202020204" pitchFamily="34" charset="0"/>
              </a:rPr>
              <a:t> Reduces control over individual data, which may impact the ability to fine-tune and optimize models for specific use cases.</a:t>
            </a:r>
          </a:p>
        </p:txBody>
      </p:sp>
    </p:spTree>
    <p:extLst>
      <p:ext uri="{BB962C8B-B14F-4D97-AF65-F5344CB8AC3E}">
        <p14:creationId xmlns:p14="http://schemas.microsoft.com/office/powerpoint/2010/main" val="1969553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4063999" y="0"/>
            <a:ext cx="3666837" cy="818823"/>
          </a:xfrm>
        </p:spPr>
        <p:txBody>
          <a:bodyPr>
            <a:normAutofit fontScale="90000"/>
          </a:bodyPr>
          <a:lstStyle/>
          <a:p>
            <a:r>
              <a:rPr lang="en-US" sz="3600" b="1" dirty="0">
                <a:solidFill>
                  <a:srgbClr val="CC0066"/>
                </a:solidFill>
                <a:latin typeface="Times New Roman" panose="02020603050405020304" pitchFamily="18" charset="0"/>
                <a:cs typeface="Times New Roman" panose="02020603050405020304" pitchFamily="18" charset="0"/>
              </a:rPr>
              <a:t>Transfer Learning</a:t>
            </a:r>
          </a:p>
        </p:txBody>
      </p:sp>
      <p:sp>
        <p:nvSpPr>
          <p:cNvPr id="5" name="Rectangle 1">
            <a:extLst>
              <a:ext uri="{FF2B5EF4-FFF2-40B4-BE49-F238E27FC236}">
                <a16:creationId xmlns:a16="http://schemas.microsoft.com/office/drawing/2014/main" id="{012C30BF-330D-852A-AF22-8DACFA421320}"/>
              </a:ext>
            </a:extLst>
          </p:cNvPr>
          <p:cNvSpPr>
            <a:spLocks noGrp="1" noChangeArrowheads="1"/>
          </p:cNvSpPr>
          <p:nvPr>
            <p:ph idx="1"/>
          </p:nvPr>
        </p:nvSpPr>
        <p:spPr bwMode="auto">
          <a:xfrm>
            <a:off x="1" y="903449"/>
            <a:ext cx="12192000" cy="4867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000" b="1" dirty="0">
                <a:latin typeface="Arial" panose="020B0604020202020204" pitchFamily="34" charset="0"/>
                <a:cs typeface="Arial" panose="020B0604020202020204" pitchFamily="34" charset="0"/>
              </a:rPr>
              <a:t>Advantages:</a:t>
            </a:r>
            <a:endParaRPr lang="en-US" sz="20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Reduced Training Time:</a:t>
            </a:r>
            <a:r>
              <a:rPr lang="en-US" sz="2000" dirty="0">
                <a:latin typeface="Arial" panose="020B0604020202020204" pitchFamily="34" charset="0"/>
                <a:cs typeface="Arial" panose="020B0604020202020204" pitchFamily="34" charset="0"/>
              </a:rPr>
              <a:t> Leverages pre-trained models to reduce the amount of training data and time required to develop accurate models.</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Enhanced Performance:</a:t>
            </a:r>
            <a:r>
              <a:rPr lang="en-US" sz="2000" dirty="0">
                <a:latin typeface="Arial" panose="020B0604020202020204" pitchFamily="34" charset="0"/>
                <a:cs typeface="Arial" panose="020B0604020202020204" pitchFamily="34" charset="0"/>
              </a:rPr>
              <a:t> Can improve performance by transferring knowledge from related tasks or domains.</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Resource Efficiency:</a:t>
            </a:r>
            <a:r>
              <a:rPr lang="en-US" sz="2000" dirty="0">
                <a:latin typeface="Arial" panose="020B0604020202020204" pitchFamily="34" charset="0"/>
                <a:cs typeface="Arial" panose="020B0604020202020204" pitchFamily="34" charset="0"/>
              </a:rPr>
              <a:t> Minimizes the need for extensive computational resources and large datasets, making it accessible for smaller farms.</a:t>
            </a:r>
          </a:p>
          <a:p>
            <a:pPr marL="0" indent="0">
              <a:buNone/>
            </a:pPr>
            <a:r>
              <a:rPr lang="en-US" sz="2000" b="1" dirty="0">
                <a:latin typeface="Arial" panose="020B0604020202020204" pitchFamily="34" charset="0"/>
                <a:cs typeface="Arial" panose="020B0604020202020204" pitchFamily="34" charset="0"/>
              </a:rPr>
              <a:t>Limitations:</a:t>
            </a:r>
            <a:endParaRPr lang="en-US" sz="20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Domain Adaptation:</a:t>
            </a:r>
            <a:r>
              <a:rPr lang="en-US" sz="2000" dirty="0">
                <a:latin typeface="Arial" panose="020B0604020202020204" pitchFamily="34" charset="0"/>
                <a:cs typeface="Arial" panose="020B0604020202020204" pitchFamily="34" charset="0"/>
              </a:rPr>
              <a:t> May require significant adaptation to fit the specific context of crop health monitoring and anomaly detection.</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Data Mismatch:</a:t>
            </a:r>
            <a:r>
              <a:rPr lang="en-US" sz="2000" dirty="0">
                <a:latin typeface="Arial" panose="020B0604020202020204" pitchFamily="34" charset="0"/>
                <a:cs typeface="Arial" panose="020B0604020202020204" pitchFamily="34" charset="0"/>
              </a:rPr>
              <a:t> Differences between the source and target domains can impact the effectiveness of transfer learning.</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Limited Applicability:</a:t>
            </a:r>
            <a:r>
              <a:rPr lang="en-US" sz="2000" dirty="0">
                <a:latin typeface="Arial" panose="020B0604020202020204" pitchFamily="34" charset="0"/>
                <a:cs typeface="Arial" panose="020B0604020202020204" pitchFamily="34" charset="0"/>
              </a:rPr>
              <a:t> Not all pre-trained models may be suitable for agricultural applications, requiring careful selection and customization.</a:t>
            </a:r>
          </a:p>
        </p:txBody>
      </p:sp>
    </p:spTree>
    <p:extLst>
      <p:ext uri="{BB962C8B-B14F-4D97-AF65-F5344CB8AC3E}">
        <p14:creationId xmlns:p14="http://schemas.microsoft.com/office/powerpoint/2010/main" val="31142359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4063999" y="0"/>
            <a:ext cx="3666837" cy="818823"/>
          </a:xfrm>
        </p:spPr>
        <p:txBody>
          <a:bodyPr>
            <a:normAutofit/>
          </a:bodyPr>
          <a:lstStyle/>
          <a:p>
            <a:r>
              <a:rPr lang="en-US" sz="3600" b="1" dirty="0">
                <a:solidFill>
                  <a:srgbClr val="CC0066"/>
                </a:solidFill>
                <a:latin typeface="Times New Roman" panose="02020603050405020304" pitchFamily="18" charset="0"/>
                <a:cs typeface="Times New Roman" panose="02020603050405020304" pitchFamily="18" charset="0"/>
              </a:rPr>
              <a:t>Generative AI</a:t>
            </a:r>
          </a:p>
        </p:txBody>
      </p:sp>
      <p:sp>
        <p:nvSpPr>
          <p:cNvPr id="5" name="Rectangle 1">
            <a:extLst>
              <a:ext uri="{FF2B5EF4-FFF2-40B4-BE49-F238E27FC236}">
                <a16:creationId xmlns:a16="http://schemas.microsoft.com/office/drawing/2014/main" id="{012C30BF-330D-852A-AF22-8DACFA421320}"/>
              </a:ext>
            </a:extLst>
          </p:cNvPr>
          <p:cNvSpPr>
            <a:spLocks noGrp="1" noChangeArrowheads="1"/>
          </p:cNvSpPr>
          <p:nvPr>
            <p:ph idx="1"/>
          </p:nvPr>
        </p:nvSpPr>
        <p:spPr bwMode="auto">
          <a:xfrm>
            <a:off x="498763" y="1133500"/>
            <a:ext cx="11194474" cy="45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buNone/>
            </a:pPr>
            <a:r>
              <a:rPr lang="en-US" sz="2000" b="1" dirty="0">
                <a:latin typeface="Arial" panose="020B0604020202020204" pitchFamily="34" charset="0"/>
                <a:cs typeface="Arial" panose="020B0604020202020204" pitchFamily="34" charset="0"/>
              </a:rPr>
              <a:t>Advantages:</a:t>
            </a:r>
            <a:endParaRPr lang="en-US" sz="2000" dirty="0">
              <a:latin typeface="Arial" panose="020B0604020202020204" pitchFamily="34" charset="0"/>
              <a:cs typeface="Arial" panose="020B0604020202020204" pitchFamily="34" charset="0"/>
            </a:endParaRPr>
          </a:p>
          <a:p>
            <a:pPr algn="just">
              <a:buFont typeface="Wingdings" panose="05000000000000000000" pitchFamily="2" charset="2"/>
              <a:buChar char="Ø"/>
            </a:pPr>
            <a:r>
              <a:rPr lang="en-US" sz="2000" b="1" dirty="0">
                <a:latin typeface="Arial" panose="020B0604020202020204" pitchFamily="34" charset="0"/>
                <a:cs typeface="Arial" panose="020B0604020202020204" pitchFamily="34" charset="0"/>
              </a:rPr>
              <a:t>Data Augmentation:</a:t>
            </a:r>
            <a:r>
              <a:rPr lang="en-US" sz="2000" dirty="0">
                <a:latin typeface="Arial" panose="020B0604020202020204" pitchFamily="34" charset="0"/>
                <a:cs typeface="Arial" panose="020B0604020202020204" pitchFamily="34" charset="0"/>
              </a:rPr>
              <a:t> Can generate synthetic data to augment training datasets, improving model robustness and performance.</a:t>
            </a:r>
          </a:p>
          <a:p>
            <a:pPr algn="just">
              <a:buFont typeface="Wingdings" panose="05000000000000000000" pitchFamily="2" charset="2"/>
              <a:buChar char="Ø"/>
            </a:pPr>
            <a:r>
              <a:rPr lang="en-US" sz="2000" b="1" dirty="0">
                <a:latin typeface="Arial" panose="020B0604020202020204" pitchFamily="34" charset="0"/>
                <a:cs typeface="Arial" panose="020B0604020202020204" pitchFamily="34" charset="0"/>
              </a:rPr>
              <a:t>Scenario Simulation:</a:t>
            </a:r>
            <a:r>
              <a:rPr lang="en-US" sz="2000" dirty="0">
                <a:latin typeface="Arial" panose="020B0604020202020204" pitchFamily="34" charset="0"/>
                <a:cs typeface="Arial" panose="020B0604020202020204" pitchFamily="34" charset="0"/>
              </a:rPr>
              <a:t> Allows for the simulation of various scenarios and conditions, aiding in the development of robust models.</a:t>
            </a:r>
          </a:p>
          <a:p>
            <a:pPr algn="just">
              <a:buFont typeface="Wingdings" panose="05000000000000000000" pitchFamily="2" charset="2"/>
              <a:buChar char="Ø"/>
            </a:pPr>
            <a:r>
              <a:rPr lang="en-US" sz="2000" b="1" dirty="0">
                <a:latin typeface="Arial" panose="020B0604020202020204" pitchFamily="34" charset="0"/>
                <a:cs typeface="Arial" panose="020B0604020202020204" pitchFamily="34" charset="0"/>
              </a:rPr>
              <a:t>Innovative Solutions:</a:t>
            </a:r>
            <a:r>
              <a:rPr lang="en-US" sz="2000" dirty="0">
                <a:latin typeface="Arial" panose="020B0604020202020204" pitchFamily="34" charset="0"/>
                <a:cs typeface="Arial" panose="020B0604020202020204" pitchFamily="34" charset="0"/>
              </a:rPr>
              <a:t> Enables the exploration of innovative solutions and techniques for anomaly detection and flight path planning.</a:t>
            </a:r>
          </a:p>
          <a:p>
            <a:pPr marL="0" indent="0" algn="just">
              <a:buNone/>
            </a:pPr>
            <a:r>
              <a:rPr lang="en-US" sz="2000" b="1" dirty="0">
                <a:latin typeface="Arial" panose="020B0604020202020204" pitchFamily="34" charset="0"/>
                <a:cs typeface="Arial" panose="020B0604020202020204" pitchFamily="34" charset="0"/>
              </a:rPr>
              <a:t>Limitations:</a:t>
            </a:r>
            <a:endParaRPr lang="en-US" sz="2000" dirty="0">
              <a:latin typeface="Arial" panose="020B0604020202020204" pitchFamily="34" charset="0"/>
              <a:cs typeface="Arial" panose="020B0604020202020204" pitchFamily="34" charset="0"/>
            </a:endParaRPr>
          </a:p>
          <a:p>
            <a:pPr algn="just">
              <a:buFont typeface="Wingdings" panose="05000000000000000000" pitchFamily="2" charset="2"/>
              <a:buChar char="Ø"/>
            </a:pPr>
            <a:r>
              <a:rPr lang="en-US" sz="2000" b="1" dirty="0">
                <a:latin typeface="Arial" panose="020B0604020202020204" pitchFamily="34" charset="0"/>
                <a:cs typeface="Arial" panose="020B0604020202020204" pitchFamily="34" charset="0"/>
              </a:rPr>
              <a:t>Complexity:</a:t>
            </a:r>
            <a:r>
              <a:rPr lang="en-US" sz="2000" dirty="0">
                <a:latin typeface="Arial" panose="020B0604020202020204" pitchFamily="34" charset="0"/>
                <a:cs typeface="Arial" panose="020B0604020202020204" pitchFamily="34" charset="0"/>
              </a:rPr>
              <a:t> Developing and training generative models can be complex and resource-intensive.</a:t>
            </a:r>
          </a:p>
          <a:p>
            <a:pPr algn="just">
              <a:buFont typeface="Wingdings" panose="05000000000000000000" pitchFamily="2" charset="2"/>
              <a:buChar char="Ø"/>
            </a:pPr>
            <a:r>
              <a:rPr lang="en-US" sz="2000" b="1" dirty="0">
                <a:latin typeface="Arial" panose="020B0604020202020204" pitchFamily="34" charset="0"/>
                <a:cs typeface="Arial" panose="020B0604020202020204" pitchFamily="34" charset="0"/>
              </a:rPr>
              <a:t>Quality Control:</a:t>
            </a:r>
            <a:r>
              <a:rPr lang="en-US" sz="2000" dirty="0">
                <a:latin typeface="Arial" panose="020B0604020202020204" pitchFamily="34" charset="0"/>
                <a:cs typeface="Arial" panose="020B0604020202020204" pitchFamily="34" charset="0"/>
              </a:rPr>
              <a:t> Ensuring the quality and realism of generated data can be challenging, impacting model performance.</a:t>
            </a:r>
          </a:p>
          <a:p>
            <a:pPr algn="just">
              <a:buFont typeface="Wingdings" panose="05000000000000000000" pitchFamily="2" charset="2"/>
              <a:buChar char="Ø"/>
            </a:pPr>
            <a:r>
              <a:rPr lang="en-US" sz="2000" b="1" dirty="0">
                <a:latin typeface="Arial" panose="020B0604020202020204" pitchFamily="34" charset="0"/>
                <a:cs typeface="Arial" panose="020B0604020202020204" pitchFamily="34" charset="0"/>
              </a:rPr>
              <a:t>Ethical Considerations:</a:t>
            </a:r>
            <a:r>
              <a:rPr lang="en-US" sz="2000" dirty="0">
                <a:latin typeface="Arial" panose="020B0604020202020204" pitchFamily="34" charset="0"/>
                <a:cs typeface="Arial" panose="020B0604020202020204" pitchFamily="34" charset="0"/>
              </a:rPr>
              <a:t> Raises ethical concerns around data generation and potential misuse.</a:t>
            </a:r>
          </a:p>
        </p:txBody>
      </p:sp>
    </p:spTree>
    <p:extLst>
      <p:ext uri="{BB962C8B-B14F-4D97-AF65-F5344CB8AC3E}">
        <p14:creationId xmlns:p14="http://schemas.microsoft.com/office/powerpoint/2010/main" val="35294860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5144654" y="0"/>
            <a:ext cx="2032001" cy="818823"/>
          </a:xfrm>
        </p:spPr>
        <p:txBody>
          <a:bodyPr>
            <a:normAutofit/>
          </a:bodyPr>
          <a:lstStyle/>
          <a:p>
            <a:r>
              <a:rPr lang="en-US" sz="3600" b="1" dirty="0">
                <a:solidFill>
                  <a:srgbClr val="CC0066"/>
                </a:solidFill>
                <a:latin typeface="Times New Roman" panose="02020603050405020304" pitchFamily="18" charset="0"/>
                <a:cs typeface="Times New Roman" panose="02020603050405020304" pitchFamily="18" charset="0"/>
              </a:rPr>
              <a:t>Agent AI</a:t>
            </a:r>
          </a:p>
        </p:txBody>
      </p:sp>
      <p:sp>
        <p:nvSpPr>
          <p:cNvPr id="5" name="Rectangle 1">
            <a:extLst>
              <a:ext uri="{FF2B5EF4-FFF2-40B4-BE49-F238E27FC236}">
                <a16:creationId xmlns:a16="http://schemas.microsoft.com/office/drawing/2014/main" id="{012C30BF-330D-852A-AF22-8DACFA421320}"/>
              </a:ext>
            </a:extLst>
          </p:cNvPr>
          <p:cNvSpPr>
            <a:spLocks noGrp="1" noChangeArrowheads="1"/>
          </p:cNvSpPr>
          <p:nvPr>
            <p:ph idx="1"/>
          </p:nvPr>
        </p:nvSpPr>
        <p:spPr bwMode="auto">
          <a:xfrm>
            <a:off x="498763" y="1133500"/>
            <a:ext cx="11194474" cy="45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buNone/>
            </a:pPr>
            <a:r>
              <a:rPr lang="en-US" sz="2000" b="1" dirty="0">
                <a:latin typeface="Arial" panose="020B0604020202020204" pitchFamily="34" charset="0"/>
                <a:cs typeface="Arial" panose="020B0604020202020204" pitchFamily="34" charset="0"/>
              </a:rPr>
              <a:t>Advantages:</a:t>
            </a:r>
            <a:endParaRPr lang="en-US" sz="2000" dirty="0">
              <a:latin typeface="Arial" panose="020B0604020202020204" pitchFamily="34" charset="0"/>
              <a:cs typeface="Arial" panose="020B0604020202020204" pitchFamily="34" charset="0"/>
            </a:endParaRPr>
          </a:p>
          <a:p>
            <a:pPr algn="just">
              <a:buFont typeface="Wingdings" panose="05000000000000000000" pitchFamily="2" charset="2"/>
              <a:buChar char="Ø"/>
            </a:pPr>
            <a:r>
              <a:rPr lang="en-US" sz="2000" b="1" dirty="0">
                <a:latin typeface="Arial" panose="020B0604020202020204" pitchFamily="34" charset="0"/>
                <a:cs typeface="Arial" panose="020B0604020202020204" pitchFamily="34" charset="0"/>
              </a:rPr>
              <a:t>Autonomous Decision-Making:</a:t>
            </a:r>
            <a:r>
              <a:rPr lang="en-US" sz="2000" dirty="0">
                <a:latin typeface="Arial" panose="020B0604020202020204" pitchFamily="34" charset="0"/>
                <a:cs typeface="Arial" panose="020B0604020202020204" pitchFamily="34" charset="0"/>
              </a:rPr>
              <a:t> Enables the development of autonomous agents that can make real-time decisions, reducing the need for human intervention.</a:t>
            </a:r>
          </a:p>
          <a:p>
            <a:pPr algn="just">
              <a:buFont typeface="Wingdings" panose="05000000000000000000" pitchFamily="2" charset="2"/>
              <a:buChar char="Ø"/>
            </a:pPr>
            <a:r>
              <a:rPr lang="en-US" sz="2000" b="1" dirty="0">
                <a:latin typeface="Arial" panose="020B0604020202020204" pitchFamily="34" charset="0"/>
                <a:cs typeface="Arial" panose="020B0604020202020204" pitchFamily="34" charset="0"/>
              </a:rPr>
              <a:t>Scalability:</a:t>
            </a:r>
            <a:r>
              <a:rPr lang="en-US" sz="2000" dirty="0">
                <a:latin typeface="Arial" panose="020B0604020202020204" pitchFamily="34" charset="0"/>
                <a:cs typeface="Arial" panose="020B0604020202020204" pitchFamily="34" charset="0"/>
              </a:rPr>
              <a:t> Can scale across large agricultural fields, managing multiple tasks simultaneously.</a:t>
            </a:r>
          </a:p>
          <a:p>
            <a:pPr algn="just">
              <a:buFont typeface="Wingdings" panose="05000000000000000000" pitchFamily="2" charset="2"/>
              <a:buChar char="Ø"/>
            </a:pPr>
            <a:r>
              <a:rPr lang="en-US" sz="2000" b="1" dirty="0">
                <a:latin typeface="Arial" panose="020B0604020202020204" pitchFamily="34" charset="0"/>
                <a:cs typeface="Arial" panose="020B0604020202020204" pitchFamily="34" charset="0"/>
              </a:rPr>
              <a:t>Adaptability:</a:t>
            </a:r>
            <a:r>
              <a:rPr lang="en-US" sz="2000" dirty="0">
                <a:latin typeface="Arial" panose="020B0604020202020204" pitchFamily="34" charset="0"/>
                <a:cs typeface="Arial" panose="020B0604020202020204" pitchFamily="34" charset="0"/>
              </a:rPr>
              <a:t> Agents can adapt to changing conditions and continuously learn from their environment.</a:t>
            </a:r>
          </a:p>
          <a:p>
            <a:pPr marL="0" indent="0" algn="just">
              <a:buNone/>
            </a:pPr>
            <a:r>
              <a:rPr lang="en-US" sz="2000" b="1" dirty="0">
                <a:latin typeface="Arial" panose="020B0604020202020204" pitchFamily="34" charset="0"/>
                <a:cs typeface="Arial" panose="020B0604020202020204" pitchFamily="34" charset="0"/>
              </a:rPr>
              <a:t>Limitations:</a:t>
            </a:r>
            <a:endParaRPr lang="en-US" sz="2000" dirty="0">
              <a:latin typeface="Arial" panose="020B0604020202020204" pitchFamily="34" charset="0"/>
              <a:cs typeface="Arial" panose="020B0604020202020204" pitchFamily="34" charset="0"/>
            </a:endParaRPr>
          </a:p>
          <a:p>
            <a:pPr algn="just">
              <a:buFont typeface="Wingdings" panose="05000000000000000000" pitchFamily="2" charset="2"/>
              <a:buChar char="Ø"/>
            </a:pPr>
            <a:r>
              <a:rPr lang="en-US" sz="2000" b="1" dirty="0">
                <a:latin typeface="Arial" panose="020B0604020202020204" pitchFamily="34" charset="0"/>
                <a:cs typeface="Arial" panose="020B0604020202020204" pitchFamily="34" charset="0"/>
              </a:rPr>
              <a:t>Complex Development:</a:t>
            </a:r>
            <a:r>
              <a:rPr lang="en-US" sz="2000" dirty="0">
                <a:latin typeface="Arial" panose="020B0604020202020204" pitchFamily="34" charset="0"/>
                <a:cs typeface="Arial" panose="020B0604020202020204" pitchFamily="34" charset="0"/>
              </a:rPr>
              <a:t> Developing intelligent agents requires advanced knowledge and resources, which may not be readily available.</a:t>
            </a:r>
          </a:p>
          <a:p>
            <a:pPr algn="just">
              <a:buFont typeface="Wingdings" panose="05000000000000000000" pitchFamily="2" charset="2"/>
              <a:buChar char="Ø"/>
            </a:pPr>
            <a:r>
              <a:rPr lang="en-US" sz="2000" b="1" dirty="0">
                <a:latin typeface="Arial" panose="020B0604020202020204" pitchFamily="34" charset="0"/>
                <a:cs typeface="Arial" panose="020B0604020202020204" pitchFamily="34" charset="0"/>
              </a:rPr>
              <a:t>Integration Challenges:</a:t>
            </a:r>
            <a:r>
              <a:rPr lang="en-US" sz="2000" dirty="0">
                <a:latin typeface="Arial" panose="020B0604020202020204" pitchFamily="34" charset="0"/>
                <a:cs typeface="Arial" panose="020B0604020202020204" pitchFamily="34" charset="0"/>
              </a:rPr>
              <a:t> Integrating agent AI with existing systems and processes can be challenging.</a:t>
            </a:r>
          </a:p>
          <a:p>
            <a:pPr algn="just">
              <a:buFont typeface="Wingdings" panose="05000000000000000000" pitchFamily="2" charset="2"/>
              <a:buChar char="Ø"/>
            </a:pPr>
            <a:r>
              <a:rPr lang="en-US" sz="2000" b="1" dirty="0">
                <a:latin typeface="Arial" panose="020B0604020202020204" pitchFamily="34" charset="0"/>
                <a:cs typeface="Arial" panose="020B0604020202020204" pitchFamily="34" charset="0"/>
              </a:rPr>
              <a:t>Maintenance:</a:t>
            </a:r>
            <a:r>
              <a:rPr lang="en-US" sz="2000" dirty="0">
                <a:latin typeface="Arial" panose="020B0604020202020204" pitchFamily="34" charset="0"/>
                <a:cs typeface="Arial" panose="020B0604020202020204" pitchFamily="34" charset="0"/>
              </a:rPr>
              <a:t> Requires ongoing maintenance and updates to ensure optimal performance and adaptability.</a:t>
            </a:r>
          </a:p>
        </p:txBody>
      </p:sp>
    </p:spTree>
    <p:extLst>
      <p:ext uri="{BB962C8B-B14F-4D97-AF65-F5344CB8AC3E}">
        <p14:creationId xmlns:p14="http://schemas.microsoft.com/office/powerpoint/2010/main" val="5355561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3135745" y="332509"/>
            <a:ext cx="5163128" cy="818823"/>
          </a:xfrm>
        </p:spPr>
        <p:txBody>
          <a:bodyPr>
            <a:normAutofit fontScale="90000"/>
          </a:bodyPr>
          <a:lstStyle/>
          <a:p>
            <a:r>
              <a:rPr lang="en-US" sz="3600" b="1" dirty="0">
                <a:solidFill>
                  <a:srgbClr val="CC0066"/>
                </a:solidFill>
                <a:latin typeface="Times New Roman" panose="02020603050405020304" pitchFamily="18" charset="0"/>
                <a:cs typeface="Times New Roman" panose="02020603050405020304" pitchFamily="18" charset="0"/>
              </a:rPr>
              <a:t>Types of Machine Learning</a:t>
            </a:r>
          </a:p>
        </p:txBody>
      </p:sp>
      <p:sp>
        <p:nvSpPr>
          <p:cNvPr id="4" name="Rectangle 1">
            <a:extLst>
              <a:ext uri="{FF2B5EF4-FFF2-40B4-BE49-F238E27FC236}">
                <a16:creationId xmlns:a16="http://schemas.microsoft.com/office/drawing/2014/main" id="{0B78F3F3-B971-9204-C1DB-8C29755738F9}"/>
              </a:ext>
            </a:extLst>
          </p:cNvPr>
          <p:cNvSpPr>
            <a:spLocks noGrp="1" noChangeArrowheads="1"/>
          </p:cNvSpPr>
          <p:nvPr>
            <p:ph idx="1"/>
          </p:nvPr>
        </p:nvSpPr>
        <p:spPr bwMode="auto">
          <a:xfrm>
            <a:off x="1311562" y="1899586"/>
            <a:ext cx="4682837" cy="2028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buFont typeface="Wingdings" panose="05000000000000000000" pitchFamily="2" charset="2"/>
              <a:buChar char="Ø"/>
            </a:pPr>
            <a:r>
              <a:rPr lang="en-US" dirty="0">
                <a:latin typeface="Arial" panose="020B0604020202020204" pitchFamily="34" charset="0"/>
                <a:cs typeface="Arial" panose="020B0604020202020204" pitchFamily="34" charset="0"/>
              </a:rPr>
              <a:t>Supervised Learning</a:t>
            </a:r>
          </a:p>
          <a:p>
            <a:pPr algn="just">
              <a:buFont typeface="Wingdings" panose="05000000000000000000" pitchFamily="2" charset="2"/>
              <a:buChar char="Ø"/>
            </a:pPr>
            <a:r>
              <a:rPr lang="en-US" dirty="0">
                <a:latin typeface="Arial" panose="020B0604020202020204" pitchFamily="34" charset="0"/>
                <a:cs typeface="Arial" panose="020B0604020202020204" pitchFamily="34" charset="0"/>
              </a:rPr>
              <a:t>Unsupervised Learning</a:t>
            </a:r>
          </a:p>
          <a:p>
            <a:pPr algn="just">
              <a:buFont typeface="Wingdings" panose="05000000000000000000" pitchFamily="2" charset="2"/>
              <a:buChar char="Ø"/>
            </a:pPr>
            <a:r>
              <a:rPr lang="en-US" dirty="0">
                <a:latin typeface="Arial" panose="020B0604020202020204" pitchFamily="34" charset="0"/>
                <a:cs typeface="Arial" panose="020B0604020202020204" pitchFamily="34" charset="0"/>
              </a:rPr>
              <a:t>Reinforcement Learning</a:t>
            </a:r>
          </a:p>
          <a:p>
            <a:pPr algn="just">
              <a:buFont typeface="Wingdings" panose="05000000000000000000" pitchFamily="2" charset="2"/>
              <a:buChar char="Ø"/>
            </a:pPr>
            <a:r>
              <a:rPr lang="en-US" dirty="0">
                <a:latin typeface="Arial" panose="020B0604020202020204" pitchFamily="34" charset="0"/>
                <a:cs typeface="Arial" panose="020B0604020202020204" pitchFamily="34" charset="0"/>
              </a:rPr>
              <a:t>Deep Learning</a:t>
            </a:r>
          </a:p>
        </p:txBody>
      </p:sp>
    </p:spTree>
    <p:extLst>
      <p:ext uri="{BB962C8B-B14F-4D97-AF65-F5344CB8AC3E}">
        <p14:creationId xmlns:p14="http://schemas.microsoft.com/office/powerpoint/2010/main" val="21300172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3185845" y="211324"/>
            <a:ext cx="5435600" cy="818823"/>
          </a:xfrm>
        </p:spPr>
        <p:txBody>
          <a:bodyPr>
            <a:normAutofit fontScale="90000"/>
          </a:bodyPr>
          <a:lstStyle/>
          <a:p>
            <a:r>
              <a:rPr lang="en-US" sz="3600" b="1" dirty="0">
                <a:solidFill>
                  <a:srgbClr val="CC0066"/>
                </a:solidFill>
                <a:latin typeface="Times New Roman" panose="02020603050405020304" pitchFamily="18" charset="0"/>
                <a:cs typeface="Times New Roman" panose="02020603050405020304" pitchFamily="18" charset="0"/>
              </a:rPr>
              <a:t>Computer Vision Algorithms</a:t>
            </a:r>
          </a:p>
        </p:txBody>
      </p:sp>
      <p:sp>
        <p:nvSpPr>
          <p:cNvPr id="4" name="Rectangle 1">
            <a:extLst>
              <a:ext uri="{FF2B5EF4-FFF2-40B4-BE49-F238E27FC236}">
                <a16:creationId xmlns:a16="http://schemas.microsoft.com/office/drawing/2014/main" id="{0B78F3F3-B971-9204-C1DB-8C29755738F9}"/>
              </a:ext>
            </a:extLst>
          </p:cNvPr>
          <p:cNvSpPr>
            <a:spLocks noGrp="1" noChangeArrowheads="1"/>
          </p:cNvSpPr>
          <p:nvPr>
            <p:ph idx="1"/>
          </p:nvPr>
        </p:nvSpPr>
        <p:spPr bwMode="auto">
          <a:xfrm>
            <a:off x="358816" y="1030147"/>
            <a:ext cx="11089658" cy="5079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Wingdings" panose="05000000000000000000" pitchFamily="2" charset="2"/>
              <a:buChar char="Ø"/>
            </a:pPr>
            <a:r>
              <a:rPr lang="en-IN" sz="2400" b="1" dirty="0">
                <a:latin typeface="Arial" panose="020B0604020202020204" pitchFamily="34" charset="0"/>
                <a:cs typeface="Arial" panose="020B0604020202020204" pitchFamily="34" charset="0"/>
              </a:rPr>
              <a:t> Convolutional Neural Networks (CNNs) (1980) </a:t>
            </a:r>
          </a:p>
          <a:p>
            <a:pPr marL="0" indent="0">
              <a:buNone/>
            </a:pPr>
            <a:r>
              <a:rPr lang="en-IN" sz="2400" dirty="0">
                <a:latin typeface="Arial" panose="020B0604020202020204" pitchFamily="34" charset="0"/>
                <a:cs typeface="Arial" panose="020B0604020202020204" pitchFamily="34" charset="0"/>
              </a:rPr>
              <a:t> 	Application: Image recognition, classification </a:t>
            </a:r>
          </a:p>
          <a:p>
            <a:pPr>
              <a:buFont typeface="Wingdings" panose="05000000000000000000" pitchFamily="2" charset="2"/>
              <a:buChar char="Ø"/>
            </a:pPr>
            <a:r>
              <a:rPr lang="en-US" sz="24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Region-Based Convolutional Neural Networks (R-CNNs) (2014)</a:t>
            </a:r>
          </a:p>
          <a:p>
            <a:pPr marL="0" indent="0">
              <a:buNone/>
            </a:pPr>
            <a:r>
              <a:rPr lang="en-IN" sz="2400" dirty="0">
                <a:latin typeface="Arial" panose="020B0604020202020204" pitchFamily="34" charset="0"/>
                <a:cs typeface="Arial" panose="020B0604020202020204" pitchFamily="34" charset="0"/>
              </a:rPr>
              <a:t>	Application: Object detection </a:t>
            </a:r>
          </a:p>
          <a:p>
            <a:pPr>
              <a:buFont typeface="Wingdings" panose="05000000000000000000" pitchFamily="2" charset="2"/>
              <a:buChar char="Ø"/>
            </a:pPr>
            <a:r>
              <a:rPr lang="en-US" sz="2400" b="1" dirty="0">
                <a:latin typeface="Arial" panose="020B0604020202020204" pitchFamily="34" charset="0"/>
                <a:cs typeface="Arial" panose="020B0604020202020204" pitchFamily="34" charset="0"/>
              </a:rPr>
              <a:t>YOLO (You Only Look Once) (2016)</a:t>
            </a:r>
          </a:p>
          <a:p>
            <a:pPr marL="0" indent="0">
              <a:buNone/>
            </a:pPr>
            <a:r>
              <a:rPr lang="en-IN" sz="2400" dirty="0">
                <a:latin typeface="Arial" panose="020B0604020202020204" pitchFamily="34" charset="0"/>
                <a:cs typeface="Arial" panose="020B0604020202020204" pitchFamily="34" charset="0"/>
              </a:rPr>
              <a:t>	 Application: Real-time object detection </a:t>
            </a:r>
          </a:p>
          <a:p>
            <a:pPr>
              <a:buFont typeface="Wingdings" panose="05000000000000000000" pitchFamily="2" charset="2"/>
              <a:buChar char="Ø"/>
            </a:pPr>
            <a:r>
              <a:rPr lang="en-IN" sz="2400" b="1" dirty="0">
                <a:latin typeface="Arial" panose="020B0604020202020204" pitchFamily="34" charset="0"/>
                <a:cs typeface="Arial" panose="020B0604020202020204" pitchFamily="34" charset="0"/>
              </a:rPr>
              <a:t>SSD (Single Shot Detector) (1991)</a:t>
            </a:r>
          </a:p>
          <a:p>
            <a:pPr marL="0" indent="0">
              <a:buNone/>
            </a:pPr>
            <a:r>
              <a:rPr lang="en-IN" sz="2400" dirty="0">
                <a:latin typeface="Arial" panose="020B0604020202020204" pitchFamily="34" charset="0"/>
                <a:cs typeface="Arial" panose="020B0604020202020204" pitchFamily="34" charset="0"/>
              </a:rPr>
              <a:t>	 Application: Real-time object detection </a:t>
            </a:r>
          </a:p>
          <a:p>
            <a:pPr>
              <a:buFont typeface="Wingdings" panose="05000000000000000000" pitchFamily="2" charset="2"/>
              <a:buChar char="Ø"/>
            </a:pPr>
            <a:r>
              <a:rPr lang="en-IN" sz="2400" b="1" dirty="0">
                <a:latin typeface="Arial" panose="020B0604020202020204" pitchFamily="34" charset="0"/>
                <a:cs typeface="Arial" panose="020B0604020202020204" pitchFamily="34" charset="0"/>
              </a:rPr>
              <a:t>Mask R-CNN (2017)</a:t>
            </a:r>
          </a:p>
          <a:p>
            <a:pPr marL="0" indent="0">
              <a:buNone/>
            </a:pPr>
            <a:r>
              <a:rPr lang="en-IN" sz="2400" dirty="0">
                <a:latin typeface="Arial" panose="020B0604020202020204" pitchFamily="34" charset="0"/>
                <a:cs typeface="Arial" panose="020B0604020202020204" pitchFamily="34" charset="0"/>
              </a:rPr>
              <a:t>	 Application: Object instance segmentation </a:t>
            </a:r>
          </a:p>
          <a:p>
            <a:pPr algn="just">
              <a:buFont typeface="Wingdings" panose="05000000000000000000" pitchFamily="2" charset="2"/>
              <a:buChar char="Ø"/>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19739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3066296" y="240078"/>
            <a:ext cx="5435600" cy="818823"/>
          </a:xfrm>
        </p:spPr>
        <p:txBody>
          <a:bodyPr>
            <a:normAutofit fontScale="90000"/>
          </a:bodyPr>
          <a:lstStyle/>
          <a:p>
            <a:r>
              <a:rPr lang="en-US" sz="3600" b="1" dirty="0">
                <a:solidFill>
                  <a:srgbClr val="CC0066"/>
                </a:solidFill>
                <a:latin typeface="Times New Roman" panose="02020603050405020304" pitchFamily="18" charset="0"/>
                <a:cs typeface="Times New Roman" panose="02020603050405020304" pitchFamily="18" charset="0"/>
              </a:rPr>
              <a:t>Computer Vision Algorithms</a:t>
            </a:r>
          </a:p>
        </p:txBody>
      </p:sp>
      <p:sp>
        <p:nvSpPr>
          <p:cNvPr id="4" name="Rectangle 1">
            <a:extLst>
              <a:ext uri="{FF2B5EF4-FFF2-40B4-BE49-F238E27FC236}">
                <a16:creationId xmlns:a16="http://schemas.microsoft.com/office/drawing/2014/main" id="{0B78F3F3-B971-9204-C1DB-8C29755738F9}"/>
              </a:ext>
            </a:extLst>
          </p:cNvPr>
          <p:cNvSpPr>
            <a:spLocks noGrp="1" noChangeArrowheads="1"/>
          </p:cNvSpPr>
          <p:nvPr>
            <p:ph idx="1"/>
          </p:nvPr>
        </p:nvSpPr>
        <p:spPr bwMode="auto">
          <a:xfrm>
            <a:off x="439838" y="1228617"/>
            <a:ext cx="11470511" cy="4570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Wingdings" panose="05000000000000000000" pitchFamily="2" charset="2"/>
              <a:buChar char="Ø"/>
            </a:pPr>
            <a:r>
              <a:rPr lang="en-IN" sz="2400" b="1" dirty="0">
                <a:latin typeface="Arial" panose="020B0604020202020204" pitchFamily="34" charset="0"/>
                <a:cs typeface="Arial" panose="020B0604020202020204" pitchFamily="34" charset="0"/>
              </a:rPr>
              <a:t>Generative Adversarial Networks (GANs) (2014)</a:t>
            </a:r>
          </a:p>
          <a:p>
            <a:pPr marL="0" indent="0">
              <a:buNone/>
            </a:pPr>
            <a:r>
              <a:rPr lang="en-IN" sz="2400" dirty="0">
                <a:latin typeface="Arial" panose="020B0604020202020204" pitchFamily="34" charset="0"/>
                <a:cs typeface="Arial" panose="020B0604020202020204" pitchFamily="34" charset="0"/>
              </a:rPr>
              <a:t>	 Application: Image generation, style transfer </a:t>
            </a:r>
          </a:p>
          <a:p>
            <a:pPr>
              <a:buFont typeface="Wingdings" panose="05000000000000000000" pitchFamily="2" charset="2"/>
              <a:buChar char="Ø"/>
            </a:pPr>
            <a:r>
              <a:rPr lang="en-IN" sz="2400" b="1" dirty="0">
                <a:latin typeface="Arial" panose="020B0604020202020204" pitchFamily="34" charset="0"/>
                <a:cs typeface="Arial" panose="020B0604020202020204" pitchFamily="34" charset="0"/>
              </a:rPr>
              <a:t>Optical Character Recognition (OCR) (1993)</a:t>
            </a:r>
          </a:p>
          <a:p>
            <a:pPr marL="0" indent="0">
              <a:buNone/>
            </a:pPr>
            <a:r>
              <a:rPr lang="en-US" sz="2400" dirty="0">
                <a:latin typeface="Arial" panose="020B0604020202020204" pitchFamily="34" charset="0"/>
                <a:cs typeface="Arial" panose="020B0604020202020204" pitchFamily="34" charset="0"/>
              </a:rPr>
              <a:t>	Application: Text detection and recognition </a:t>
            </a:r>
            <a:endParaRPr lang="en-IN" sz="24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IN" sz="2400" b="1" dirty="0">
                <a:latin typeface="Arial" panose="020B0604020202020204" pitchFamily="34" charset="0"/>
                <a:cs typeface="Arial" panose="020B0604020202020204" pitchFamily="34" charset="0"/>
              </a:rPr>
              <a:t>SIFT (Scale-Invariant Feature Transform) (1999)</a:t>
            </a:r>
          </a:p>
          <a:p>
            <a:pPr marL="0" indent="0">
              <a:buNone/>
            </a:pPr>
            <a:r>
              <a:rPr lang="en-US" sz="2400" dirty="0">
                <a:latin typeface="Arial" panose="020B0604020202020204" pitchFamily="34" charset="0"/>
                <a:cs typeface="Arial" panose="020B0604020202020204" pitchFamily="34" charset="0"/>
              </a:rPr>
              <a:t> 	Application: Image matching and object recognition </a:t>
            </a:r>
          </a:p>
          <a:p>
            <a:pPr>
              <a:buFont typeface="Wingdings" panose="05000000000000000000" pitchFamily="2" charset="2"/>
              <a:buChar char="Ø"/>
            </a:pPr>
            <a:r>
              <a:rPr lang="en-IN" sz="2400" b="1" dirty="0">
                <a:latin typeface="Arial" panose="020B0604020202020204" pitchFamily="34" charset="0"/>
                <a:cs typeface="Arial" panose="020B0604020202020204" pitchFamily="34" charset="0"/>
              </a:rPr>
              <a:t>Eigenfaces and </a:t>
            </a:r>
            <a:r>
              <a:rPr lang="en-IN" sz="2400" b="1" dirty="0" err="1">
                <a:latin typeface="Arial" panose="020B0604020202020204" pitchFamily="34" charset="0"/>
                <a:cs typeface="Arial" panose="020B0604020202020204" pitchFamily="34" charset="0"/>
              </a:rPr>
              <a:t>Fisherfaces</a:t>
            </a:r>
            <a:r>
              <a:rPr lang="en-IN" sz="2400" b="1" dirty="0">
                <a:latin typeface="Arial" panose="020B0604020202020204" pitchFamily="34" charset="0"/>
                <a:cs typeface="Arial" panose="020B0604020202020204" pitchFamily="34" charset="0"/>
              </a:rPr>
              <a:t> </a:t>
            </a:r>
          </a:p>
          <a:p>
            <a:pPr marL="0" indent="0">
              <a:buNone/>
            </a:pPr>
            <a:r>
              <a:rPr lang="en-IN" sz="2400" dirty="0">
                <a:latin typeface="Arial" panose="020B0604020202020204" pitchFamily="34" charset="0"/>
                <a:cs typeface="Arial" panose="020B0604020202020204" pitchFamily="34" charset="0"/>
              </a:rPr>
              <a:t>	Application: Face recognition </a:t>
            </a:r>
          </a:p>
          <a:p>
            <a:pPr>
              <a:buFont typeface="Wingdings" panose="05000000000000000000" pitchFamily="2" charset="2"/>
              <a:buChar char="Ø"/>
            </a:pPr>
            <a:r>
              <a:rPr lang="en-IN" sz="2400" b="1" dirty="0" err="1">
                <a:latin typeface="Arial" panose="020B0604020202020204" pitchFamily="34" charset="0"/>
                <a:cs typeface="Arial" panose="020B0604020202020204" pitchFamily="34" charset="0"/>
              </a:rPr>
              <a:t>DeepFace</a:t>
            </a:r>
            <a:r>
              <a:rPr lang="en-IN" sz="2400" b="1" dirty="0">
                <a:latin typeface="Arial" panose="020B0604020202020204" pitchFamily="34" charset="0"/>
                <a:cs typeface="Arial" panose="020B0604020202020204" pitchFamily="34" charset="0"/>
              </a:rPr>
              <a:t> (2015)</a:t>
            </a:r>
          </a:p>
          <a:p>
            <a:pPr marL="0" indent="0">
              <a:buNone/>
            </a:pPr>
            <a:r>
              <a:rPr lang="en-IN" sz="2400" dirty="0">
                <a:latin typeface="Arial" panose="020B0604020202020204" pitchFamily="34" charset="0"/>
                <a:cs typeface="Arial" panose="020B0604020202020204" pitchFamily="34" charset="0"/>
              </a:rPr>
              <a:t>	Application: Face verification and recognition </a:t>
            </a:r>
          </a:p>
        </p:txBody>
      </p:sp>
    </p:spTree>
    <p:extLst>
      <p:ext uri="{BB962C8B-B14F-4D97-AF65-F5344CB8AC3E}">
        <p14:creationId xmlns:p14="http://schemas.microsoft.com/office/powerpoint/2010/main" val="5635466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542142" y="224886"/>
            <a:ext cx="4296076" cy="669016"/>
          </a:xfrm>
        </p:spPr>
        <p:txBody>
          <a:bodyPr>
            <a:normAutofit/>
          </a:bodyPr>
          <a:lstStyle/>
          <a:p>
            <a:r>
              <a:rPr lang="en-US" sz="3600" b="1" dirty="0">
                <a:solidFill>
                  <a:srgbClr val="CC0066"/>
                </a:solidFill>
                <a:latin typeface="Times New Roman" panose="02020603050405020304" pitchFamily="18" charset="0"/>
                <a:cs typeface="Times New Roman" panose="02020603050405020304" pitchFamily="18" charset="0"/>
              </a:rPr>
              <a:t>Analytical Questions</a:t>
            </a:r>
          </a:p>
        </p:txBody>
      </p:sp>
      <p:sp>
        <p:nvSpPr>
          <p:cNvPr id="4" name="Rectangle 1">
            <a:extLst>
              <a:ext uri="{FF2B5EF4-FFF2-40B4-BE49-F238E27FC236}">
                <a16:creationId xmlns:a16="http://schemas.microsoft.com/office/drawing/2014/main" id="{003155CA-91FA-7F72-AE5F-CC84AEDE05CE}"/>
              </a:ext>
            </a:extLst>
          </p:cNvPr>
          <p:cNvSpPr>
            <a:spLocks noGrp="1" noChangeArrowheads="1"/>
          </p:cNvSpPr>
          <p:nvPr>
            <p:ph idx="1"/>
          </p:nvPr>
        </p:nvSpPr>
        <p:spPr bwMode="auto">
          <a:xfrm>
            <a:off x="340519" y="1227624"/>
            <a:ext cx="11510962" cy="4165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000" b="1" dirty="0">
                <a:latin typeface="Arial" panose="020B0604020202020204" pitchFamily="34" charset="0"/>
                <a:cs typeface="Arial" panose="020B0604020202020204" pitchFamily="34" charset="0"/>
              </a:rPr>
              <a:t>Easy:</a:t>
            </a:r>
          </a:p>
          <a:p>
            <a:pPr>
              <a:buFont typeface="+mj-lt"/>
              <a:buAutoNum type="arabicPeriod"/>
            </a:pPr>
            <a:r>
              <a:rPr lang="en-US" sz="2000" dirty="0">
                <a:latin typeface="Arial" panose="020B0604020202020204" pitchFamily="34" charset="0"/>
                <a:cs typeface="Arial" panose="020B0604020202020204" pitchFamily="34" charset="0"/>
              </a:rPr>
              <a:t>How often do the ML algorithm's anomaly detections need to be validated by manual checks?</a:t>
            </a:r>
          </a:p>
          <a:p>
            <a:pPr>
              <a:buFont typeface="+mj-lt"/>
              <a:buAutoNum type="arabicPeriod"/>
            </a:pPr>
            <a:r>
              <a:rPr lang="en-US" sz="2000" dirty="0">
                <a:latin typeface="Arial" panose="020B0604020202020204" pitchFamily="34" charset="0"/>
                <a:cs typeface="Arial" panose="020B0604020202020204" pitchFamily="34" charset="0"/>
              </a:rPr>
              <a:t>What types of crop health anomalies can the drone's spraying system address effectively?</a:t>
            </a:r>
          </a:p>
          <a:p>
            <a:pPr marL="0" indent="0">
              <a:buNone/>
            </a:pPr>
            <a:r>
              <a:rPr lang="en-US" sz="2000" b="1" dirty="0">
                <a:latin typeface="Arial" panose="020B0604020202020204" pitchFamily="34" charset="0"/>
                <a:cs typeface="Arial" panose="020B0604020202020204" pitchFamily="34" charset="0"/>
              </a:rPr>
              <a:t>Medium:</a:t>
            </a:r>
          </a:p>
          <a:p>
            <a:pPr>
              <a:buFont typeface="+mj-lt"/>
              <a:buAutoNum type="arabicPeriod" startAt="3"/>
            </a:pPr>
            <a:r>
              <a:rPr lang="en-US" sz="2000" dirty="0">
                <a:latin typeface="Arial" panose="020B0604020202020204" pitchFamily="34" charset="0"/>
                <a:cs typeface="Arial" panose="020B0604020202020204" pitchFamily="34" charset="0"/>
              </a:rPr>
              <a:t>How does the accuracy of anomaly detection vary with different sensor types or data inputs?</a:t>
            </a:r>
          </a:p>
          <a:p>
            <a:pPr>
              <a:buFont typeface="+mj-lt"/>
              <a:buAutoNum type="arabicPeriod" startAt="3"/>
            </a:pPr>
            <a:r>
              <a:rPr lang="en-US" sz="2000" dirty="0">
                <a:latin typeface="Arial" panose="020B0604020202020204" pitchFamily="34" charset="0"/>
                <a:cs typeface="Arial" panose="020B0604020202020204" pitchFamily="34" charset="0"/>
              </a:rPr>
              <a:t>What is the effect of different spray dosage levels on crop health outcomes?</a:t>
            </a:r>
          </a:p>
          <a:p>
            <a:pPr marL="0" indent="0">
              <a:buNone/>
            </a:pPr>
            <a:r>
              <a:rPr lang="en-US" sz="2000" b="1" dirty="0">
                <a:latin typeface="Arial" panose="020B0604020202020204" pitchFamily="34" charset="0"/>
                <a:cs typeface="Arial" panose="020B0604020202020204" pitchFamily="34" charset="0"/>
              </a:rPr>
              <a:t>Hard:</a:t>
            </a:r>
          </a:p>
          <a:p>
            <a:pPr>
              <a:buFont typeface="+mj-lt"/>
              <a:buAutoNum type="arabicPeriod" startAt="5"/>
            </a:pPr>
            <a:r>
              <a:rPr lang="en-US" sz="2000" dirty="0">
                <a:latin typeface="Arial" panose="020B0604020202020204" pitchFamily="34" charset="0"/>
                <a:cs typeface="Arial" panose="020B0604020202020204" pitchFamily="34" charset="0"/>
              </a:rPr>
              <a:t>How can the ML algorithm be optimized to improve anomaly detection in varying environmental conditions (different weather, lighting)?</a:t>
            </a:r>
          </a:p>
          <a:p>
            <a:pPr>
              <a:buFont typeface="+mj-lt"/>
              <a:buAutoNum type="arabicPeriod" startAt="5"/>
            </a:pPr>
            <a:r>
              <a:rPr lang="en-US" sz="2000" dirty="0">
                <a:latin typeface="Arial" panose="020B0604020202020204" pitchFamily="34" charset="0"/>
                <a:cs typeface="Arial" panose="020B0604020202020204" pitchFamily="34" charset="0"/>
              </a:rPr>
              <a:t>What are the trade-offs between system complexity and accuracy in the automated flight path generation for the drone?</a:t>
            </a:r>
          </a:p>
        </p:txBody>
      </p:sp>
    </p:spTree>
    <p:extLst>
      <p:ext uri="{BB962C8B-B14F-4D97-AF65-F5344CB8AC3E}">
        <p14:creationId xmlns:p14="http://schemas.microsoft.com/office/powerpoint/2010/main" val="11571737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340519" y="224886"/>
            <a:ext cx="4296076" cy="669016"/>
          </a:xfrm>
        </p:spPr>
        <p:txBody>
          <a:bodyPr>
            <a:normAutofit/>
          </a:bodyPr>
          <a:lstStyle/>
          <a:p>
            <a:r>
              <a:rPr lang="en-US" sz="3600" b="1" dirty="0">
                <a:solidFill>
                  <a:srgbClr val="CC0066"/>
                </a:solidFill>
                <a:latin typeface="Times New Roman" panose="02020603050405020304" pitchFamily="18" charset="0"/>
                <a:cs typeface="Times New Roman" panose="02020603050405020304" pitchFamily="18" charset="0"/>
              </a:rPr>
              <a:t>Prediction Questions</a:t>
            </a:r>
          </a:p>
        </p:txBody>
      </p:sp>
      <p:sp>
        <p:nvSpPr>
          <p:cNvPr id="4" name="Rectangle 1">
            <a:extLst>
              <a:ext uri="{FF2B5EF4-FFF2-40B4-BE49-F238E27FC236}">
                <a16:creationId xmlns:a16="http://schemas.microsoft.com/office/drawing/2014/main" id="{003155CA-91FA-7F72-AE5F-CC84AEDE05CE}"/>
              </a:ext>
            </a:extLst>
          </p:cNvPr>
          <p:cNvSpPr>
            <a:spLocks noGrp="1" noChangeArrowheads="1"/>
          </p:cNvSpPr>
          <p:nvPr>
            <p:ph idx="1"/>
          </p:nvPr>
        </p:nvSpPr>
        <p:spPr bwMode="auto">
          <a:xfrm>
            <a:off x="340519" y="893902"/>
            <a:ext cx="11510962" cy="4996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Easy:</a:t>
            </a:r>
          </a:p>
          <a:p>
            <a:pPr>
              <a:buFont typeface="+mj-lt"/>
              <a:buAutoNum type="arabicPeriod"/>
            </a:pPr>
            <a:r>
              <a:rPr lang="en-US" sz="2000" dirty="0">
                <a:latin typeface="Arial" panose="020B0604020202020204" pitchFamily="34" charset="0"/>
                <a:cs typeface="Arial" panose="020B0604020202020204" pitchFamily="34" charset="0"/>
              </a:rPr>
              <a:t>What is the predicted improvement in anomaly detection accuracy with the use of the ML algorithm compared to manual inspection?</a:t>
            </a:r>
          </a:p>
          <a:p>
            <a:pPr>
              <a:buFont typeface="+mj-lt"/>
              <a:buAutoNum type="arabicPeriod"/>
            </a:pPr>
            <a:r>
              <a:rPr lang="en-US" sz="2000" dirty="0">
                <a:latin typeface="Arial" panose="020B0604020202020204" pitchFamily="34" charset="0"/>
                <a:cs typeface="Arial" panose="020B0604020202020204" pitchFamily="34" charset="0"/>
              </a:rPr>
              <a:t>How likely is the drone’s automated spraying system to reduce pesticide usage compared to traditional methods?</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Medium:</a:t>
            </a:r>
          </a:p>
          <a:p>
            <a:pPr>
              <a:buFont typeface="+mj-lt"/>
              <a:buAutoNum type="arabicPeriod" startAt="3"/>
            </a:pPr>
            <a:r>
              <a:rPr lang="en-US" sz="2000" dirty="0">
                <a:latin typeface="Arial" panose="020B0604020202020204" pitchFamily="34" charset="0"/>
                <a:cs typeface="Arial" panose="020B0604020202020204" pitchFamily="34" charset="0"/>
              </a:rPr>
              <a:t>How might changes in sensor data quality affect the accuracy of anomaly detection predictions?</a:t>
            </a:r>
          </a:p>
          <a:p>
            <a:pPr>
              <a:buFont typeface="+mj-lt"/>
              <a:buAutoNum type="arabicPeriod" startAt="3"/>
            </a:pPr>
            <a:r>
              <a:rPr lang="en-US" sz="2000" dirty="0">
                <a:latin typeface="Arial" panose="020B0604020202020204" pitchFamily="34" charset="0"/>
                <a:cs typeface="Arial" panose="020B0604020202020204" pitchFamily="34" charset="0"/>
              </a:rPr>
              <a:t>What are the expected changes in crop yield when using the ML-driven automated system compared to conventional methods?</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Hard:</a:t>
            </a:r>
          </a:p>
          <a:p>
            <a:pPr>
              <a:buFont typeface="+mj-lt"/>
              <a:buAutoNum type="arabicPeriod" startAt="5"/>
            </a:pPr>
            <a:r>
              <a:rPr lang="en-US" sz="2000" dirty="0">
                <a:latin typeface="Arial" panose="020B0604020202020204" pitchFamily="34" charset="0"/>
                <a:cs typeface="Arial" panose="020B0604020202020204" pitchFamily="34" charset="0"/>
              </a:rPr>
              <a:t>How will variations in environmental factors (e.g., weather conditions, crop types) impact the predictive performance of the ML algorithm for anomaly detection?</a:t>
            </a:r>
          </a:p>
          <a:p>
            <a:pPr>
              <a:buFont typeface="+mj-lt"/>
              <a:buAutoNum type="arabicPeriod" startAt="5"/>
            </a:pPr>
            <a:r>
              <a:rPr lang="en-US" sz="2000" dirty="0">
                <a:latin typeface="Arial" panose="020B0604020202020204" pitchFamily="34" charset="0"/>
                <a:cs typeface="Arial" panose="020B0604020202020204" pitchFamily="34" charset="0"/>
              </a:rPr>
              <a:t>What are the long-term predictions for cost savings and environmental benefits with widespread adoption of this ML and drone system in agriculture?</a:t>
            </a:r>
          </a:p>
        </p:txBody>
      </p:sp>
    </p:spTree>
    <p:extLst>
      <p:ext uri="{BB962C8B-B14F-4D97-AF65-F5344CB8AC3E}">
        <p14:creationId xmlns:p14="http://schemas.microsoft.com/office/powerpoint/2010/main" val="30321020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340519" y="224886"/>
            <a:ext cx="10678464" cy="669016"/>
          </a:xfrm>
        </p:spPr>
        <p:txBody>
          <a:bodyPr>
            <a:normAutofit fontScale="90000"/>
          </a:bodyPr>
          <a:lstStyle/>
          <a:p>
            <a:r>
              <a:rPr lang="en-US" sz="3600" b="1" dirty="0">
                <a:solidFill>
                  <a:srgbClr val="CC0066"/>
                </a:solidFill>
                <a:latin typeface="Times New Roman" panose="02020603050405020304" pitchFamily="18" charset="0"/>
                <a:cs typeface="Times New Roman" panose="02020603050405020304" pitchFamily="18" charset="0"/>
              </a:rPr>
              <a:t>Difference between Image Processing  and Computer Vision</a:t>
            </a:r>
          </a:p>
        </p:txBody>
      </p:sp>
      <p:graphicFrame>
        <p:nvGraphicFramePr>
          <p:cNvPr id="3" name="Table 2">
            <a:extLst>
              <a:ext uri="{FF2B5EF4-FFF2-40B4-BE49-F238E27FC236}">
                <a16:creationId xmlns:a16="http://schemas.microsoft.com/office/drawing/2014/main" id="{9E2C45CC-5F73-9E1C-5F78-668E7B4711BE}"/>
              </a:ext>
            </a:extLst>
          </p:cNvPr>
          <p:cNvGraphicFramePr>
            <a:graphicFrameLocks noGrp="1"/>
          </p:cNvGraphicFramePr>
          <p:nvPr>
            <p:extLst>
              <p:ext uri="{D42A27DB-BD31-4B8C-83A1-F6EECF244321}">
                <p14:modId xmlns:p14="http://schemas.microsoft.com/office/powerpoint/2010/main" val="2925414035"/>
              </p:ext>
            </p:extLst>
          </p:nvPr>
        </p:nvGraphicFramePr>
        <p:xfrm>
          <a:off x="392545" y="893902"/>
          <a:ext cx="11406909" cy="4693920"/>
        </p:xfrm>
        <a:graphic>
          <a:graphicData uri="http://schemas.openxmlformats.org/drawingml/2006/table">
            <a:tbl>
              <a:tblPr firstRow="1" bandRow="1">
                <a:tableStyleId>{2D5ABB26-0587-4C30-8999-92F81FD0307C}</a:tableStyleId>
              </a:tblPr>
              <a:tblGrid>
                <a:gridCol w="2208717">
                  <a:extLst>
                    <a:ext uri="{9D8B030D-6E8A-4147-A177-3AD203B41FA5}">
                      <a16:colId xmlns:a16="http://schemas.microsoft.com/office/drawing/2014/main" val="1562765916"/>
                    </a:ext>
                  </a:extLst>
                </a:gridCol>
                <a:gridCol w="4793673">
                  <a:extLst>
                    <a:ext uri="{9D8B030D-6E8A-4147-A177-3AD203B41FA5}">
                      <a16:colId xmlns:a16="http://schemas.microsoft.com/office/drawing/2014/main" val="2172129066"/>
                    </a:ext>
                  </a:extLst>
                </a:gridCol>
                <a:gridCol w="4404519">
                  <a:extLst>
                    <a:ext uri="{9D8B030D-6E8A-4147-A177-3AD203B41FA5}">
                      <a16:colId xmlns:a16="http://schemas.microsoft.com/office/drawing/2014/main" val="4113228701"/>
                    </a:ext>
                  </a:extLst>
                </a:gridCol>
              </a:tblGrid>
              <a:tr h="201353">
                <a:tc>
                  <a:txBody>
                    <a:bodyPr/>
                    <a:lstStyle/>
                    <a:p>
                      <a:pPr algn="ctr" fontAlgn="base"/>
                      <a:br>
                        <a:rPr lang="en-IN" sz="2000" b="1" dirty="0">
                          <a:solidFill>
                            <a:srgbClr val="000000"/>
                          </a:solidFill>
                          <a:effectLst/>
                          <a:latin typeface="Arial" panose="020B0604020202020204" pitchFamily="34" charset="0"/>
                          <a:cs typeface="Arial" panose="020B0604020202020204" pitchFamily="34" charset="0"/>
                        </a:rPr>
                      </a:br>
                      <a:endParaRPr lang="en-IN" sz="2000" dirty="0">
                        <a:solidFill>
                          <a:srgbClr val="000000"/>
                        </a:solidFill>
                        <a:effectLst/>
                        <a:latin typeface="Arial" panose="020B0604020202020204" pitchFamily="34" charset="0"/>
                        <a:cs typeface="Arial" panose="020B0604020202020204" pitchFamily="34" charset="0"/>
                      </a:endParaRPr>
                    </a:p>
                  </a:txBody>
                  <a:tcPr marL="152400" marR="1524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6114D"/>
                    </a:solidFill>
                  </a:tcPr>
                </a:tc>
                <a:tc>
                  <a:txBody>
                    <a:bodyPr/>
                    <a:lstStyle/>
                    <a:p>
                      <a:pPr algn="ctr" fontAlgn="base"/>
                      <a:r>
                        <a:rPr lang="en-IN" sz="2000" b="1" dirty="0">
                          <a:solidFill>
                            <a:srgbClr val="000000"/>
                          </a:solidFill>
                          <a:effectLst/>
                          <a:latin typeface="Arial" panose="020B0604020202020204" pitchFamily="34" charset="0"/>
                          <a:cs typeface="Arial" panose="020B0604020202020204" pitchFamily="34" charset="0"/>
                        </a:rPr>
                        <a:t>Computer Vision</a:t>
                      </a:r>
                      <a:endParaRPr lang="en-IN" sz="2000" dirty="0">
                        <a:solidFill>
                          <a:srgbClr val="000000"/>
                        </a:solidFill>
                        <a:effectLst/>
                        <a:latin typeface="Arial" panose="020B0604020202020204" pitchFamily="34" charset="0"/>
                        <a:cs typeface="Arial" panose="020B0604020202020204" pitchFamily="34" charset="0"/>
                      </a:endParaRPr>
                    </a:p>
                  </a:txBody>
                  <a:tcPr marL="152400" marR="1524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6114D"/>
                    </a:solidFill>
                  </a:tcPr>
                </a:tc>
                <a:tc>
                  <a:txBody>
                    <a:bodyPr/>
                    <a:lstStyle/>
                    <a:p>
                      <a:pPr algn="ctr" fontAlgn="base"/>
                      <a:r>
                        <a:rPr lang="en-IN" sz="2000" b="1" dirty="0">
                          <a:solidFill>
                            <a:srgbClr val="000000"/>
                          </a:solidFill>
                          <a:effectLst/>
                          <a:latin typeface="Arial" panose="020B0604020202020204" pitchFamily="34" charset="0"/>
                          <a:cs typeface="Arial" panose="020B0604020202020204" pitchFamily="34" charset="0"/>
                        </a:rPr>
                        <a:t>Image Processing</a:t>
                      </a:r>
                      <a:endParaRPr lang="en-IN" sz="2000" dirty="0">
                        <a:solidFill>
                          <a:srgbClr val="000000"/>
                        </a:solidFill>
                        <a:effectLst/>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6114D"/>
                    </a:solidFill>
                  </a:tcPr>
                </a:tc>
                <a:extLst>
                  <a:ext uri="{0D108BD9-81ED-4DB2-BD59-A6C34878D82A}">
                    <a16:rowId xmlns:a16="http://schemas.microsoft.com/office/drawing/2014/main" val="545125566"/>
                  </a:ext>
                </a:extLst>
              </a:tr>
              <a:tr h="370840">
                <a:tc>
                  <a:txBody>
                    <a:bodyPr/>
                    <a:lstStyle/>
                    <a:p>
                      <a:pPr algn="ctr" fontAlgn="base"/>
                      <a:r>
                        <a:rPr lang="en-IN" sz="2000" b="1" dirty="0">
                          <a:solidFill>
                            <a:srgbClr val="000000"/>
                          </a:solidFill>
                          <a:effectLst/>
                          <a:latin typeface="Arial" panose="020B0604020202020204" pitchFamily="34" charset="0"/>
                          <a:cs typeface="Arial" panose="020B0604020202020204" pitchFamily="34" charset="0"/>
                        </a:rPr>
                        <a:t>Goals</a:t>
                      </a:r>
                      <a:endParaRPr lang="en-IN" sz="2000" dirty="0">
                        <a:solidFill>
                          <a:srgbClr val="000000"/>
                        </a:solidFill>
                        <a:effectLst/>
                        <a:latin typeface="Arial" panose="020B0604020202020204" pitchFamily="34" charset="0"/>
                        <a:cs typeface="Arial" panose="020B0604020202020204" pitchFamily="34" charset="0"/>
                      </a:endParaRPr>
                    </a:p>
                  </a:txBody>
                  <a:tcPr marL="152400" marR="1524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r>
                        <a:rPr lang="en-US" sz="2000" dirty="0">
                          <a:solidFill>
                            <a:srgbClr val="000000"/>
                          </a:solidFill>
                          <a:effectLst/>
                          <a:latin typeface="Arial" panose="020B0604020202020204" pitchFamily="34" charset="0"/>
                          <a:cs typeface="Arial" panose="020B0604020202020204" pitchFamily="34" charset="0"/>
                        </a:rPr>
                        <a:t>Extracting insights from images and videos.</a:t>
                      </a:r>
                      <a:endParaRPr lang="en-US" sz="2000" dirty="0">
                        <a:effectLst/>
                        <a:latin typeface="Arial" panose="020B0604020202020204" pitchFamily="34" charset="0"/>
                        <a:cs typeface="Arial" panose="020B0604020202020204" pitchFamily="34" charset="0"/>
                      </a:endParaRPr>
                    </a:p>
                  </a:txBody>
                  <a:tcPr marL="152400" marR="1524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r>
                        <a:rPr lang="en-US" sz="2000">
                          <a:solidFill>
                            <a:srgbClr val="000000"/>
                          </a:solidFill>
                          <a:effectLst/>
                          <a:latin typeface="Arial" panose="020B0604020202020204" pitchFamily="34" charset="0"/>
                          <a:cs typeface="Arial" panose="020B0604020202020204" pitchFamily="34" charset="0"/>
                        </a:rPr>
                        <a:t>Manipulating visual aspects of images.</a:t>
                      </a:r>
                      <a:endParaRPr lang="en-US" sz="2000">
                        <a:effectLst/>
                        <a:latin typeface="Arial" panose="020B0604020202020204" pitchFamily="34" charset="0"/>
                        <a:cs typeface="Arial" panose="020B0604020202020204" pitchFamily="34" charset="0"/>
                      </a:endParaRPr>
                    </a:p>
                  </a:txBody>
                  <a:tcPr marL="152400" marR="1524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4619621"/>
                  </a:ext>
                </a:extLst>
              </a:tr>
              <a:tr h="370840">
                <a:tc>
                  <a:txBody>
                    <a:bodyPr/>
                    <a:lstStyle/>
                    <a:p>
                      <a:pPr algn="ctr" fontAlgn="base"/>
                      <a:r>
                        <a:rPr lang="en-IN" sz="2000" b="1" dirty="0">
                          <a:solidFill>
                            <a:srgbClr val="000000"/>
                          </a:solidFill>
                          <a:effectLst/>
                          <a:latin typeface="Arial" panose="020B0604020202020204" pitchFamily="34" charset="0"/>
                          <a:cs typeface="Arial" panose="020B0604020202020204" pitchFamily="34" charset="0"/>
                        </a:rPr>
                        <a:t>Input/Output</a:t>
                      </a:r>
                      <a:endParaRPr lang="en-IN" sz="2000" dirty="0">
                        <a:solidFill>
                          <a:srgbClr val="000000"/>
                        </a:solidFill>
                        <a:effectLst/>
                        <a:latin typeface="Arial" panose="020B0604020202020204" pitchFamily="34" charset="0"/>
                        <a:cs typeface="Arial" panose="020B0604020202020204" pitchFamily="34" charset="0"/>
                      </a:endParaRPr>
                    </a:p>
                  </a:txBody>
                  <a:tcPr marL="152400" marR="1524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r>
                        <a:rPr lang="en-US" sz="2000" dirty="0">
                          <a:solidFill>
                            <a:srgbClr val="000000"/>
                          </a:solidFill>
                          <a:effectLst/>
                          <a:latin typeface="Arial" panose="020B0604020202020204" pitchFamily="34" charset="0"/>
                          <a:cs typeface="Arial" panose="020B0604020202020204" pitchFamily="34" charset="0"/>
                        </a:rPr>
                        <a:t>Input can be both image and video. Output can be an interpretation, which is often non-visual.</a:t>
                      </a:r>
                      <a:endParaRPr lang="en-US" sz="2000" dirty="0">
                        <a:effectLst/>
                        <a:latin typeface="Arial" panose="020B0604020202020204" pitchFamily="34" charset="0"/>
                        <a:cs typeface="Arial" panose="020B0604020202020204" pitchFamily="34" charset="0"/>
                      </a:endParaRPr>
                    </a:p>
                  </a:txBody>
                  <a:tcPr marL="152400" marR="1524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r>
                        <a:rPr lang="en-US" sz="2000">
                          <a:solidFill>
                            <a:srgbClr val="000000"/>
                          </a:solidFill>
                          <a:effectLst/>
                          <a:latin typeface="Arial" panose="020B0604020202020204" pitchFamily="34" charset="0"/>
                          <a:cs typeface="Arial" panose="020B0604020202020204" pitchFamily="34" charset="0"/>
                        </a:rPr>
                        <a:t>Input and output are both images.</a:t>
                      </a:r>
                      <a:endParaRPr lang="en-US" sz="2000">
                        <a:effectLst/>
                        <a:latin typeface="Arial" panose="020B0604020202020204" pitchFamily="34" charset="0"/>
                        <a:cs typeface="Arial" panose="020B0604020202020204" pitchFamily="34" charset="0"/>
                      </a:endParaRPr>
                    </a:p>
                  </a:txBody>
                  <a:tcPr marL="152400" marR="1524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5148931"/>
                  </a:ext>
                </a:extLst>
              </a:tr>
              <a:tr h="370840">
                <a:tc>
                  <a:txBody>
                    <a:bodyPr/>
                    <a:lstStyle/>
                    <a:p>
                      <a:pPr algn="ctr" fontAlgn="base"/>
                      <a:r>
                        <a:rPr lang="en-IN" sz="2000" b="1">
                          <a:solidFill>
                            <a:srgbClr val="000000"/>
                          </a:solidFill>
                          <a:effectLst/>
                          <a:latin typeface="Arial" panose="020B0604020202020204" pitchFamily="34" charset="0"/>
                          <a:cs typeface="Arial" panose="020B0604020202020204" pitchFamily="34" charset="0"/>
                        </a:rPr>
                        <a:t>Scope</a:t>
                      </a:r>
                      <a:endParaRPr lang="en-IN" sz="2000">
                        <a:solidFill>
                          <a:srgbClr val="000000"/>
                        </a:solidFill>
                        <a:effectLst/>
                        <a:latin typeface="Arial" panose="020B0604020202020204" pitchFamily="34" charset="0"/>
                        <a:cs typeface="Arial" panose="020B0604020202020204" pitchFamily="34" charset="0"/>
                      </a:endParaRPr>
                    </a:p>
                  </a:txBody>
                  <a:tcPr marL="152400" marR="1524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r>
                        <a:rPr lang="en-IN" sz="2000" dirty="0">
                          <a:solidFill>
                            <a:srgbClr val="000000"/>
                          </a:solidFill>
                          <a:effectLst/>
                          <a:latin typeface="Arial" panose="020B0604020202020204" pitchFamily="34" charset="0"/>
                          <a:cs typeface="Arial" panose="020B0604020202020204" pitchFamily="34" charset="0"/>
                        </a:rPr>
                        <a:t>More comprehensive.</a:t>
                      </a:r>
                      <a:endParaRPr lang="en-IN" sz="2000" dirty="0">
                        <a:effectLst/>
                        <a:latin typeface="Arial" panose="020B0604020202020204" pitchFamily="34" charset="0"/>
                        <a:cs typeface="Arial" panose="020B0604020202020204" pitchFamily="34" charset="0"/>
                      </a:endParaRPr>
                    </a:p>
                  </a:txBody>
                  <a:tcPr marL="152400" marR="1524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r>
                        <a:rPr lang="en-US" sz="2000" dirty="0">
                          <a:solidFill>
                            <a:srgbClr val="000000"/>
                          </a:solidFill>
                          <a:effectLst/>
                          <a:latin typeface="Arial" panose="020B0604020202020204" pitchFamily="34" charset="0"/>
                          <a:cs typeface="Arial" panose="020B0604020202020204" pitchFamily="34" charset="0"/>
                        </a:rPr>
                        <a:t>Low-level operations that affect pixels within an image.</a:t>
                      </a:r>
                      <a:endParaRPr lang="en-US" sz="2000" dirty="0">
                        <a:effectLst/>
                        <a:latin typeface="Arial" panose="020B0604020202020204" pitchFamily="34" charset="0"/>
                        <a:cs typeface="Arial" panose="020B0604020202020204" pitchFamily="34" charset="0"/>
                      </a:endParaRPr>
                    </a:p>
                  </a:txBody>
                  <a:tcPr marL="152400" marR="1524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6836283"/>
                  </a:ext>
                </a:extLst>
              </a:tr>
              <a:tr h="370840">
                <a:tc>
                  <a:txBody>
                    <a:bodyPr/>
                    <a:lstStyle/>
                    <a:p>
                      <a:pPr algn="ctr" fontAlgn="base"/>
                      <a:r>
                        <a:rPr lang="en-IN" sz="2000" b="1">
                          <a:solidFill>
                            <a:srgbClr val="000000"/>
                          </a:solidFill>
                          <a:effectLst/>
                          <a:latin typeface="Arial" panose="020B0604020202020204" pitchFamily="34" charset="0"/>
                          <a:cs typeface="Arial" panose="020B0604020202020204" pitchFamily="34" charset="0"/>
                        </a:rPr>
                        <a:t>Methods</a:t>
                      </a:r>
                      <a:endParaRPr lang="en-IN" sz="2000">
                        <a:solidFill>
                          <a:srgbClr val="000000"/>
                        </a:solidFill>
                        <a:effectLst/>
                        <a:latin typeface="Arial" panose="020B0604020202020204" pitchFamily="34" charset="0"/>
                        <a:cs typeface="Arial" panose="020B0604020202020204" pitchFamily="34" charset="0"/>
                      </a:endParaRPr>
                    </a:p>
                  </a:txBody>
                  <a:tcPr marL="152400" marR="1524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r>
                        <a:rPr lang="en-IN" sz="2000">
                          <a:solidFill>
                            <a:srgbClr val="000000"/>
                          </a:solidFill>
                          <a:effectLst/>
                          <a:latin typeface="Arial" panose="020B0604020202020204" pitchFamily="34" charset="0"/>
                          <a:cs typeface="Arial" panose="020B0604020202020204" pitchFamily="34" charset="0"/>
                        </a:rPr>
                        <a:t>Complex algorithms and techniques.</a:t>
                      </a:r>
                      <a:endParaRPr lang="en-IN" sz="2000">
                        <a:effectLst/>
                        <a:latin typeface="Arial" panose="020B0604020202020204" pitchFamily="34" charset="0"/>
                        <a:cs typeface="Arial" panose="020B0604020202020204" pitchFamily="34" charset="0"/>
                      </a:endParaRPr>
                    </a:p>
                  </a:txBody>
                  <a:tcPr marL="152400" marR="1524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r>
                        <a:rPr lang="en-IN" sz="2000" dirty="0">
                          <a:solidFill>
                            <a:srgbClr val="000000"/>
                          </a:solidFill>
                          <a:effectLst/>
                          <a:latin typeface="Arial" panose="020B0604020202020204" pitchFamily="34" charset="0"/>
                          <a:cs typeface="Arial" panose="020B0604020202020204" pitchFamily="34" charset="0"/>
                        </a:rPr>
                        <a:t>More straightforward operations.</a:t>
                      </a:r>
                      <a:endParaRPr lang="en-IN" sz="2000" dirty="0">
                        <a:effectLst/>
                        <a:latin typeface="Arial" panose="020B0604020202020204" pitchFamily="34" charset="0"/>
                        <a:cs typeface="Arial" panose="020B0604020202020204" pitchFamily="34" charset="0"/>
                      </a:endParaRPr>
                    </a:p>
                  </a:txBody>
                  <a:tcPr marL="152400" marR="1524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0455389"/>
                  </a:ext>
                </a:extLst>
              </a:tr>
              <a:tr h="370840">
                <a:tc>
                  <a:txBody>
                    <a:bodyPr/>
                    <a:lstStyle/>
                    <a:p>
                      <a:pPr algn="ctr" fontAlgn="base"/>
                      <a:r>
                        <a:rPr lang="en-IN" sz="2000" b="1" dirty="0">
                          <a:solidFill>
                            <a:srgbClr val="000000"/>
                          </a:solidFill>
                          <a:effectLst/>
                          <a:latin typeface="Arial" panose="020B0604020202020204" pitchFamily="34" charset="0"/>
                          <a:cs typeface="Arial" panose="020B0604020202020204" pitchFamily="34" charset="0"/>
                        </a:rPr>
                        <a:t>Common Applications</a:t>
                      </a:r>
                      <a:endParaRPr lang="en-IN" sz="2000" dirty="0">
                        <a:solidFill>
                          <a:srgbClr val="000000"/>
                        </a:solidFill>
                        <a:effectLst/>
                        <a:latin typeface="Arial" panose="020B0604020202020204" pitchFamily="34" charset="0"/>
                        <a:cs typeface="Arial" panose="020B0604020202020204" pitchFamily="34" charset="0"/>
                      </a:endParaRPr>
                    </a:p>
                  </a:txBody>
                  <a:tcPr marL="152400" marR="1524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r>
                        <a:rPr lang="en-IN" sz="2000">
                          <a:solidFill>
                            <a:srgbClr val="000000"/>
                          </a:solidFill>
                          <a:effectLst/>
                          <a:latin typeface="Arial" panose="020B0604020202020204" pitchFamily="34" charset="0"/>
                          <a:cs typeface="Arial" panose="020B0604020202020204" pitchFamily="34" charset="0"/>
                        </a:rPr>
                        <a:t>Autonomous vehicles, robotics, augmented reality, etc.</a:t>
                      </a:r>
                      <a:endParaRPr lang="en-IN" sz="2000">
                        <a:effectLst/>
                        <a:latin typeface="Arial" panose="020B0604020202020204" pitchFamily="34" charset="0"/>
                        <a:cs typeface="Arial" panose="020B0604020202020204" pitchFamily="34" charset="0"/>
                      </a:endParaRPr>
                    </a:p>
                  </a:txBody>
                  <a:tcPr marL="152400" marR="1524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r>
                        <a:rPr lang="en-US" sz="2000" dirty="0">
                          <a:solidFill>
                            <a:srgbClr val="000000"/>
                          </a:solidFill>
                          <a:effectLst/>
                          <a:latin typeface="Arial" panose="020B0604020202020204" pitchFamily="34" charset="0"/>
                          <a:cs typeface="Arial" panose="020B0604020202020204" pitchFamily="34" charset="0"/>
                        </a:rPr>
                        <a:t>Image editing software (like Photoshop), medical imaging enhancements, etc.</a:t>
                      </a:r>
                      <a:endParaRPr lang="en-US" sz="2000" dirty="0">
                        <a:effectLst/>
                        <a:latin typeface="Arial" panose="020B0604020202020204" pitchFamily="34" charset="0"/>
                        <a:cs typeface="Arial" panose="020B0604020202020204" pitchFamily="34" charset="0"/>
                      </a:endParaRPr>
                    </a:p>
                  </a:txBody>
                  <a:tcPr marL="152400" marR="15240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5410304"/>
                  </a:ext>
                </a:extLst>
              </a:tr>
            </a:tbl>
          </a:graphicData>
        </a:graphic>
      </p:graphicFrame>
    </p:spTree>
    <p:extLst>
      <p:ext uri="{BB962C8B-B14F-4D97-AF65-F5344CB8AC3E}">
        <p14:creationId xmlns:p14="http://schemas.microsoft.com/office/powerpoint/2010/main" val="24218934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3555386" y="0"/>
            <a:ext cx="5081227" cy="669016"/>
          </a:xfrm>
        </p:spPr>
        <p:txBody>
          <a:bodyPr>
            <a:normAutofit fontScale="90000"/>
          </a:bodyPr>
          <a:lstStyle/>
          <a:p>
            <a:pPr algn="ctr"/>
            <a:r>
              <a:rPr lang="en-US" sz="3600" b="1" dirty="0">
                <a:solidFill>
                  <a:srgbClr val="CC0066"/>
                </a:solidFill>
                <a:latin typeface="Times New Roman" panose="02020603050405020304" pitchFamily="18" charset="0"/>
                <a:cs typeface="Times New Roman" panose="02020603050405020304" pitchFamily="18" charset="0"/>
              </a:rPr>
              <a:t>Deep Learning Architecture</a:t>
            </a:r>
          </a:p>
        </p:txBody>
      </p:sp>
      <p:sp>
        <p:nvSpPr>
          <p:cNvPr id="3" name="Title 1">
            <a:extLst>
              <a:ext uri="{FF2B5EF4-FFF2-40B4-BE49-F238E27FC236}">
                <a16:creationId xmlns:a16="http://schemas.microsoft.com/office/drawing/2014/main" id="{8BD6AFAD-7A30-408B-85D6-C4F121A1E3A8}"/>
              </a:ext>
            </a:extLst>
          </p:cNvPr>
          <p:cNvSpPr txBox="1">
            <a:spLocks/>
          </p:cNvSpPr>
          <p:nvPr/>
        </p:nvSpPr>
        <p:spPr>
          <a:xfrm>
            <a:off x="248769" y="669016"/>
            <a:ext cx="5081227" cy="669016"/>
          </a:xfrm>
          <a:prstGeom prst="rect">
            <a:avLst/>
          </a:prstGeom>
        </p:spPr>
        <p:txBody>
          <a:bodyPr vert="horz" lIns="91440" tIns="45720" rIns="91440" bIns="45720" rtlCol="0" anchor="ctr">
            <a:normAutofit fontScale="67500" lnSpcReduction="20000"/>
          </a:bodyPr>
          <a:lstStyle>
            <a:lvl1pPr algn="l" defTabSz="914377" rtl="0" eaLnBrk="1" latinLnBrk="0" hangingPunct="1">
              <a:lnSpc>
                <a:spcPct val="90000"/>
              </a:lnSpc>
              <a:spcBef>
                <a:spcPct val="0"/>
              </a:spcBef>
              <a:buNone/>
              <a:defRPr sz="4400" kern="1200">
                <a:solidFill>
                  <a:schemeClr val="tx1"/>
                </a:solidFill>
                <a:latin typeface="Futura"/>
                <a:ea typeface="+mj-ea"/>
                <a:cs typeface="+mj-cs"/>
              </a:defRPr>
            </a:lvl1pPr>
          </a:lstStyle>
          <a:p>
            <a:pPr algn="ctr"/>
            <a:r>
              <a:rPr lang="en-US" sz="3600" b="1" dirty="0">
                <a:solidFill>
                  <a:srgbClr val="CC0066"/>
                </a:solidFill>
                <a:latin typeface="Times New Roman" panose="02020603050405020304" pitchFamily="18" charset="0"/>
                <a:cs typeface="Times New Roman" panose="02020603050405020304" pitchFamily="18" charset="0"/>
              </a:rPr>
              <a:t>CNN- Convolution Neural Network</a:t>
            </a:r>
          </a:p>
        </p:txBody>
      </p:sp>
      <p:sp>
        <p:nvSpPr>
          <p:cNvPr id="4" name="Rectangle 1">
            <a:extLst>
              <a:ext uri="{FF2B5EF4-FFF2-40B4-BE49-F238E27FC236}">
                <a16:creationId xmlns:a16="http://schemas.microsoft.com/office/drawing/2014/main" id="{CA7B3FFE-BB3F-7F45-888A-3FD475F21E87}"/>
              </a:ext>
            </a:extLst>
          </p:cNvPr>
          <p:cNvSpPr>
            <a:spLocks noChangeArrowheads="1"/>
          </p:cNvSpPr>
          <p:nvPr/>
        </p:nvSpPr>
        <p:spPr bwMode="auto">
          <a:xfrm>
            <a:off x="431799" y="1338032"/>
            <a:ext cx="11328400" cy="390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CNNs are highly effective in handling image data, which is crucial for analyzing visual information from crops.</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They automatically detect and learn important features (e.g., color, texture, and shape) from images, making them ideal for identifying anomalies like disease spots, pest infestations, and nutrient deficiencies.</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CNNs can capture spatial hierarchies in images, which helps in understanding the context and relative positioning of different features within the crop images. </a:t>
            </a:r>
          </a:p>
        </p:txBody>
      </p:sp>
    </p:spTree>
    <p:extLst>
      <p:ext uri="{BB962C8B-B14F-4D97-AF65-F5344CB8AC3E}">
        <p14:creationId xmlns:p14="http://schemas.microsoft.com/office/powerpoint/2010/main" val="4972389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3555386" y="0"/>
            <a:ext cx="5081227" cy="669016"/>
          </a:xfrm>
        </p:spPr>
        <p:txBody>
          <a:bodyPr>
            <a:normAutofit fontScale="90000"/>
          </a:bodyPr>
          <a:lstStyle/>
          <a:p>
            <a:pPr algn="ctr"/>
            <a:r>
              <a:rPr lang="en-US" sz="3600" b="1" dirty="0">
                <a:solidFill>
                  <a:srgbClr val="CC0066"/>
                </a:solidFill>
                <a:latin typeface="Times New Roman" panose="02020603050405020304" pitchFamily="18" charset="0"/>
                <a:cs typeface="Times New Roman" panose="02020603050405020304" pitchFamily="18" charset="0"/>
              </a:rPr>
              <a:t>Deep Learning Architecture</a:t>
            </a:r>
          </a:p>
        </p:txBody>
      </p:sp>
      <p:sp>
        <p:nvSpPr>
          <p:cNvPr id="3" name="Title 1">
            <a:extLst>
              <a:ext uri="{FF2B5EF4-FFF2-40B4-BE49-F238E27FC236}">
                <a16:creationId xmlns:a16="http://schemas.microsoft.com/office/drawing/2014/main" id="{8BD6AFAD-7A30-408B-85D6-C4F121A1E3A8}"/>
              </a:ext>
            </a:extLst>
          </p:cNvPr>
          <p:cNvSpPr txBox="1">
            <a:spLocks/>
          </p:cNvSpPr>
          <p:nvPr/>
        </p:nvSpPr>
        <p:spPr>
          <a:xfrm>
            <a:off x="248769" y="669016"/>
            <a:ext cx="5081227" cy="669016"/>
          </a:xfrm>
          <a:prstGeom prst="rect">
            <a:avLst/>
          </a:prstGeom>
        </p:spPr>
        <p:txBody>
          <a:bodyPr vert="horz" lIns="91440" tIns="45720" rIns="91440" bIns="45720" rtlCol="0" anchor="ctr">
            <a:normAutofit fontScale="67500" lnSpcReduction="20000"/>
          </a:bodyPr>
          <a:lstStyle>
            <a:lvl1pPr algn="l" defTabSz="914377" rtl="0" eaLnBrk="1" latinLnBrk="0" hangingPunct="1">
              <a:lnSpc>
                <a:spcPct val="90000"/>
              </a:lnSpc>
              <a:spcBef>
                <a:spcPct val="0"/>
              </a:spcBef>
              <a:buNone/>
              <a:defRPr sz="4400" kern="1200">
                <a:solidFill>
                  <a:schemeClr val="tx1"/>
                </a:solidFill>
                <a:latin typeface="Futura"/>
                <a:ea typeface="+mj-ea"/>
                <a:cs typeface="+mj-cs"/>
              </a:defRPr>
            </a:lvl1pPr>
          </a:lstStyle>
          <a:p>
            <a:pPr algn="ctr"/>
            <a:r>
              <a:rPr lang="en-US" sz="3600" b="1" dirty="0">
                <a:solidFill>
                  <a:srgbClr val="CC0066"/>
                </a:solidFill>
                <a:latin typeface="Times New Roman" panose="02020603050405020304" pitchFamily="18" charset="0"/>
                <a:cs typeface="Times New Roman" panose="02020603050405020304" pitchFamily="18" charset="0"/>
              </a:rPr>
              <a:t>RNN- Recurrent Neural Network</a:t>
            </a:r>
          </a:p>
        </p:txBody>
      </p:sp>
      <p:sp>
        <p:nvSpPr>
          <p:cNvPr id="5" name="Rectangle 1">
            <a:extLst>
              <a:ext uri="{FF2B5EF4-FFF2-40B4-BE49-F238E27FC236}">
                <a16:creationId xmlns:a16="http://schemas.microsoft.com/office/drawing/2014/main" id="{E492B786-84C6-F7FC-DA0A-BECE776CD9E1}"/>
              </a:ext>
            </a:extLst>
          </p:cNvPr>
          <p:cNvSpPr>
            <a:spLocks noChangeArrowheads="1"/>
          </p:cNvSpPr>
          <p:nvPr/>
        </p:nvSpPr>
        <p:spPr bwMode="auto">
          <a:xfrm>
            <a:off x="248769" y="1201082"/>
            <a:ext cx="11318240" cy="4455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RNNs are designed to handle sequential data and can capture temporal dependencies, which is useful if you're analyzing time-series data (e.g., monitoring crop health over different growth stages).</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They can keep track of historical data, which helps in understanding how past conditions affect current crop health, leading to more accurate anomaly detection.</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RNNs can adapt to varying lengths of input sequences, making them versatile for different types of temporal data in agricultural monitoring. </a:t>
            </a:r>
          </a:p>
        </p:txBody>
      </p:sp>
    </p:spTree>
    <p:extLst>
      <p:ext uri="{BB962C8B-B14F-4D97-AF65-F5344CB8AC3E}">
        <p14:creationId xmlns:p14="http://schemas.microsoft.com/office/powerpoint/2010/main" val="24002953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3555386" y="0"/>
            <a:ext cx="5081227" cy="669016"/>
          </a:xfrm>
        </p:spPr>
        <p:txBody>
          <a:bodyPr>
            <a:normAutofit fontScale="90000"/>
          </a:bodyPr>
          <a:lstStyle/>
          <a:p>
            <a:pPr algn="ctr"/>
            <a:r>
              <a:rPr lang="en-US" sz="3600" b="1" dirty="0">
                <a:solidFill>
                  <a:srgbClr val="CC0066"/>
                </a:solidFill>
                <a:latin typeface="Times New Roman" panose="02020603050405020304" pitchFamily="18" charset="0"/>
                <a:cs typeface="Times New Roman" panose="02020603050405020304" pitchFamily="18" charset="0"/>
              </a:rPr>
              <a:t>Deep Learning Architecture</a:t>
            </a:r>
          </a:p>
        </p:txBody>
      </p:sp>
      <p:sp>
        <p:nvSpPr>
          <p:cNvPr id="3" name="Title 1">
            <a:extLst>
              <a:ext uri="{FF2B5EF4-FFF2-40B4-BE49-F238E27FC236}">
                <a16:creationId xmlns:a16="http://schemas.microsoft.com/office/drawing/2014/main" id="{8BD6AFAD-7A30-408B-85D6-C4F121A1E3A8}"/>
              </a:ext>
            </a:extLst>
          </p:cNvPr>
          <p:cNvSpPr txBox="1">
            <a:spLocks/>
          </p:cNvSpPr>
          <p:nvPr/>
        </p:nvSpPr>
        <p:spPr>
          <a:xfrm>
            <a:off x="248769" y="877539"/>
            <a:ext cx="10297311" cy="669016"/>
          </a:xfrm>
          <a:prstGeom prst="rect">
            <a:avLst/>
          </a:prstGeom>
        </p:spPr>
        <p:txBody>
          <a:bodyPr vert="horz" lIns="91440" tIns="45720" rIns="91440" bIns="45720" rtlCol="0" anchor="ctr">
            <a:normAutofit fontScale="90000"/>
          </a:bodyPr>
          <a:lstStyle>
            <a:lvl1pPr algn="l" defTabSz="914377" rtl="0" eaLnBrk="1" latinLnBrk="0" hangingPunct="1">
              <a:lnSpc>
                <a:spcPct val="90000"/>
              </a:lnSpc>
              <a:spcBef>
                <a:spcPct val="0"/>
              </a:spcBef>
              <a:buNone/>
              <a:defRPr sz="4400" kern="1200">
                <a:solidFill>
                  <a:schemeClr val="tx1"/>
                </a:solidFill>
                <a:latin typeface="Futura"/>
                <a:ea typeface="+mj-ea"/>
                <a:cs typeface="+mj-cs"/>
              </a:defRPr>
            </a:lvl1pPr>
          </a:lstStyle>
          <a:p>
            <a:pPr algn="ctr"/>
            <a:r>
              <a:rPr lang="en-US" sz="3600" b="1" dirty="0">
                <a:solidFill>
                  <a:srgbClr val="CC0066"/>
                </a:solidFill>
                <a:latin typeface="Times New Roman" panose="02020603050405020304" pitchFamily="18" charset="0"/>
                <a:cs typeface="Times New Roman" panose="02020603050405020304" pitchFamily="18" charset="0"/>
              </a:rPr>
              <a:t>Fast R-CNN (Region based convolutional neural network)</a:t>
            </a:r>
          </a:p>
        </p:txBody>
      </p:sp>
      <p:sp>
        <p:nvSpPr>
          <p:cNvPr id="5" name="Rectangle 1">
            <a:extLst>
              <a:ext uri="{FF2B5EF4-FFF2-40B4-BE49-F238E27FC236}">
                <a16:creationId xmlns:a16="http://schemas.microsoft.com/office/drawing/2014/main" id="{E492B786-84C6-F7FC-DA0A-BECE776CD9E1}"/>
              </a:ext>
            </a:extLst>
          </p:cNvPr>
          <p:cNvSpPr>
            <a:spLocks noChangeArrowheads="1"/>
          </p:cNvSpPr>
          <p:nvPr/>
        </p:nvSpPr>
        <p:spPr bwMode="auto">
          <a:xfrm>
            <a:off x="248769" y="1755079"/>
            <a:ext cx="11318240" cy="3347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sz="2400" dirty="0">
                <a:latin typeface="Arial" panose="020B0604020202020204" pitchFamily="34" charset="0"/>
                <a:cs typeface="Arial" panose="020B0604020202020204" pitchFamily="34" charset="0"/>
              </a:rPr>
              <a:t>It is useful for detecting and classifying objects within an image, such as identifying specific regions of crops that show signs of anomalies. </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Faster R-CNN allows for end-to-end training, which simplifies the model training process and enhances the overall detection performance. </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sz="2400" dirty="0">
                <a:latin typeface="Arial" panose="020B0604020202020204" pitchFamily="34" charset="0"/>
                <a:cs typeface="Arial" panose="020B0604020202020204" pitchFamily="34" charset="0"/>
              </a:rPr>
              <a:t>It uses region proposals to focus on relevant parts of the image, reducing computational load and increasing detection accuracy for smaller anomalies.</a:t>
            </a:r>
            <a:endParaRPr kumimoji="0" lang="en-US" altLang="en-US" sz="2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47948256"/>
      </p:ext>
    </p:extLst>
  </p:cSld>
  <p:clrMapOvr>
    <a:masterClrMapping/>
  </p:clrMapOvr>
</p:sld>
</file>

<file path=ppt/theme/theme1.xml><?xml version="1.0" encoding="utf-8"?>
<a:theme xmlns:a="http://schemas.openxmlformats.org/drawingml/2006/main" name="Presentation Cover pag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resentation slides">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Presentation Cover pag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Presentation slides">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Presentation slides">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43CD6CE29747349A5A94DA81629FDC5" ma:contentTypeVersion="11" ma:contentTypeDescription="Create a new document." ma:contentTypeScope="" ma:versionID="dc06cc9d132ff9dbfd94d33746a170bc">
  <xsd:schema xmlns:xsd="http://www.w3.org/2001/XMLSchema" xmlns:xs="http://www.w3.org/2001/XMLSchema" xmlns:p="http://schemas.microsoft.com/office/2006/metadata/properties" xmlns:ns2="288a120d-550d-410d-8e83-3a0debd8f61a" xmlns:ns3="b2fc7224-56e7-4a56-81e9-64380d6fda13" targetNamespace="http://schemas.microsoft.com/office/2006/metadata/properties" ma:root="true" ma:fieldsID="3e4d2b7f430bf8adbb47ab8b4dbba55a" ns2:_="" ns3:_="">
    <xsd:import namespace="288a120d-550d-410d-8e83-3a0debd8f61a"/>
    <xsd:import namespace="b2fc7224-56e7-4a56-81e9-64380d6fda13"/>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88a120d-550d-410d-8e83-3a0debd8f6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2fc7224-56e7-4a56-81e9-64380d6fda13"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14EAF80-A9B1-4397-8673-948369AFEFED}">
  <ds:schemaRefs>
    <ds:schemaRef ds:uri="http://schemas.microsoft.com/sharepoint/v3/contenttype/forms"/>
  </ds:schemaRefs>
</ds:datastoreItem>
</file>

<file path=customXml/itemProps2.xml><?xml version="1.0" encoding="utf-8"?>
<ds:datastoreItem xmlns:ds="http://schemas.openxmlformats.org/officeDocument/2006/customXml" ds:itemID="{896A51D3-70D6-4C59-A5F9-E965D4778D2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88a120d-550d-410d-8e83-3a0debd8f61a"/>
    <ds:schemaRef ds:uri="b2fc7224-56e7-4a56-81e9-64380d6fda1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C86E6DA-5186-4C2D-B67F-DA1E8DD817FC}">
  <ds:schemaRefs>
    <ds:schemaRef ds:uri="http://purl.org/dc/dcmitype/"/>
    <ds:schemaRef ds:uri="http://purl.org/dc/terms/"/>
    <ds:schemaRef ds:uri="http://purl.org/dc/elements/1.1/"/>
    <ds:schemaRef ds:uri="288a120d-550d-410d-8e83-3a0debd8f61a"/>
    <ds:schemaRef ds:uri="http://schemas.microsoft.com/office/2006/metadata/properties"/>
    <ds:schemaRef ds:uri="http://www.w3.org/XML/1998/namespace"/>
    <ds:schemaRef ds:uri="http://schemas.openxmlformats.org/package/2006/metadata/core-properties"/>
    <ds:schemaRef ds:uri="http://schemas.microsoft.com/office/2006/documentManagement/types"/>
    <ds:schemaRef ds:uri="http://schemas.microsoft.com/office/infopath/2007/PartnerControls"/>
    <ds:schemaRef ds:uri="b2fc7224-56e7-4a56-81e9-64380d6fda13"/>
  </ds:schemaRefs>
</ds:datastoreItem>
</file>

<file path=docProps/app.xml><?xml version="1.0" encoding="utf-8"?>
<Properties xmlns="http://schemas.openxmlformats.org/officeDocument/2006/extended-properties" xmlns:vt="http://schemas.openxmlformats.org/officeDocument/2006/docPropsVTypes">
  <Template/>
  <TotalTime>30153</TotalTime>
  <Words>2601</Words>
  <Application>Microsoft Office PowerPoint</Application>
  <PresentationFormat>Widescreen</PresentationFormat>
  <Paragraphs>249</Paragraphs>
  <Slides>39</Slides>
  <Notes>1</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39</vt:i4>
      </vt:variant>
    </vt:vector>
  </HeadingPairs>
  <TitlesOfParts>
    <vt:vector size="52" baseType="lpstr">
      <vt:lpstr>Arial</vt:lpstr>
      <vt:lpstr>Avenir Next LT Pro</vt:lpstr>
      <vt:lpstr>Calibri</vt:lpstr>
      <vt:lpstr>Futura</vt:lpstr>
      <vt:lpstr>Garamond</vt:lpstr>
      <vt:lpstr>Times New Roman</vt:lpstr>
      <vt:lpstr>Times New Roman Bold</vt:lpstr>
      <vt:lpstr>Wingdings</vt:lpstr>
      <vt:lpstr>Presentation Cover page</vt:lpstr>
      <vt:lpstr>Presentation slides</vt:lpstr>
      <vt:lpstr>1_Presentation Cover page</vt:lpstr>
      <vt:lpstr>1_Presentation slides</vt:lpstr>
      <vt:lpstr>2_Presentation slides</vt:lpstr>
      <vt:lpstr>PowerPoint Presentation</vt:lpstr>
      <vt:lpstr>Anomalies detection in crop health and creating a custom flight path.</vt:lpstr>
      <vt:lpstr>Agenda</vt:lpstr>
      <vt:lpstr>Introduction</vt:lpstr>
      <vt:lpstr>PowerPoint Presentation</vt:lpstr>
      <vt:lpstr>Literature Survey</vt:lpstr>
      <vt:lpstr>Information about Data Set</vt:lpstr>
      <vt:lpstr>PowerPoint Presentation</vt:lpstr>
      <vt:lpstr>PowerPoint Presentation</vt:lpstr>
      <vt:lpstr>PowerPoint Presentation</vt:lpstr>
      <vt:lpstr>PowerPoint Presentation</vt:lpstr>
      <vt:lpstr>PowerPoint Presentation</vt:lpstr>
      <vt:lpstr>PowerPoint Presentation</vt:lpstr>
      <vt:lpstr>Block Diagram</vt:lpstr>
      <vt:lpstr>CNN Architecture</vt:lpstr>
      <vt:lpstr>Block Diagram - RCNN</vt:lpstr>
      <vt:lpstr>Contributions</vt:lpstr>
      <vt:lpstr>Research Questions</vt:lpstr>
      <vt:lpstr>Statistical Reference</vt:lpstr>
      <vt:lpstr>Social Relevance</vt:lpstr>
      <vt:lpstr>Problem Statement</vt:lpstr>
      <vt:lpstr>Pros and Cons of using different approach</vt:lpstr>
      <vt:lpstr>Data Mining</vt:lpstr>
      <vt:lpstr>Machine Learning</vt:lpstr>
      <vt:lpstr>Deep Learning</vt:lpstr>
      <vt:lpstr>Explainable AI</vt:lpstr>
      <vt:lpstr>Federated Learning</vt:lpstr>
      <vt:lpstr>Transfer Learning</vt:lpstr>
      <vt:lpstr>Generative AI</vt:lpstr>
      <vt:lpstr>Agent AI</vt:lpstr>
      <vt:lpstr>Types of Machine Learning</vt:lpstr>
      <vt:lpstr>Computer Vision Algorithms</vt:lpstr>
      <vt:lpstr>Computer Vision Algorithms</vt:lpstr>
      <vt:lpstr>Analytical Questions</vt:lpstr>
      <vt:lpstr>Prediction Questions</vt:lpstr>
      <vt:lpstr>Difference between Image Processing  and Computer Vision</vt:lpstr>
      <vt:lpstr>Deep Learning Architecture</vt:lpstr>
      <vt:lpstr>Deep Learning Architecture</vt:lpstr>
      <vt:lpstr>Deep Learning Architecture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KSUM-SB2-XPS-35</dc:creator>
  <cp:lastModifiedBy>Sashank Sasi</cp:lastModifiedBy>
  <cp:revision>832</cp:revision>
  <dcterms:created xsi:type="dcterms:W3CDTF">2020-07-03T08:40:50Z</dcterms:created>
  <dcterms:modified xsi:type="dcterms:W3CDTF">2024-09-12T04:11:59Z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0x010100643CD6CE29747349A5A94DA81629FDC5</vt:lpwstr>
  </property>
</Properties>
</file>