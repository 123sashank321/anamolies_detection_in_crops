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webm" ContentType="video/webm"/>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5"/>
  </p:notesMasterIdLst>
  <p:handoutMasterIdLst>
    <p:handoutMasterId r:id="rId26"/>
  </p:handoutMasterIdLst>
  <p:sldIdLst>
    <p:sldId id="849" r:id="rId5"/>
    <p:sldId id="831" r:id="rId6"/>
    <p:sldId id="915" r:id="rId7"/>
    <p:sldId id="905" r:id="rId8"/>
    <p:sldId id="907" r:id="rId9"/>
    <p:sldId id="903" r:id="rId10"/>
    <p:sldId id="920" r:id="rId11"/>
    <p:sldId id="921" r:id="rId12"/>
    <p:sldId id="901" r:id="rId13"/>
    <p:sldId id="928" r:id="rId14"/>
    <p:sldId id="930" r:id="rId15"/>
    <p:sldId id="932" r:id="rId16"/>
    <p:sldId id="904" r:id="rId17"/>
    <p:sldId id="923" r:id="rId18"/>
    <p:sldId id="924" r:id="rId19"/>
    <p:sldId id="925" r:id="rId20"/>
    <p:sldId id="926" r:id="rId21"/>
    <p:sldId id="927" r:id="rId22"/>
    <p:sldId id="917" r:id="rId23"/>
    <p:sldId id="92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a:srgbClr val="E26FA9"/>
    <a:srgbClr val="CC0066"/>
    <a:srgbClr val="38507C"/>
    <a:srgbClr val="086072"/>
    <a:srgbClr val="336699"/>
    <a:srgbClr val="69115F"/>
    <a:srgbClr val="E96C1F"/>
    <a:srgbClr val="2657E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5326" autoAdjust="0"/>
  </p:normalViewPr>
  <p:slideViewPr>
    <p:cSldViewPr snapToGrid="0">
      <p:cViewPr varScale="1">
        <p:scale>
          <a:sx n="83" d="100"/>
          <a:sy n="83" d="100"/>
        </p:scale>
        <p:origin x="197" y="77"/>
      </p:cViewPr>
      <p:guideLst>
        <p:guide orient="horz" pos="2160"/>
        <p:guide pos="3840"/>
      </p:guideLst>
    </p:cSldViewPr>
  </p:slideViewPr>
  <p:outlineViewPr>
    <p:cViewPr>
      <p:scale>
        <a:sx n="33" d="100"/>
        <a:sy n="33" d="100"/>
      </p:scale>
      <p:origin x="0" y="-4248"/>
    </p:cViewPr>
  </p:outlineViewPr>
  <p:notesTextViewPr>
    <p:cViewPr>
      <p:scale>
        <a:sx n="150" d="100"/>
        <a:sy n="150" d="100"/>
      </p:scale>
      <p:origin x="0" y="0"/>
    </p:cViewPr>
  </p:notesTextViewPr>
  <p:sorterViewPr>
    <p:cViewPr>
      <p:scale>
        <a:sx n="75" d="100"/>
        <a:sy n="75" d="100"/>
      </p:scale>
      <p:origin x="0" y="0"/>
    </p:cViewPr>
  </p:sorter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FDB985-8404-473A-A297-1E33D8BC29AD}" type="datetimeFigureOut">
              <a:rPr lang="en-US" smtClean="0"/>
              <a:pPr/>
              <a:t>9/29/2024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2B8ED-2479-4BFE-A0EA-F4DF447902E2}" type="slidenum">
              <a:rPr lang="en-US" smtClean="0"/>
              <a:pPr/>
              <a:t>‹#›</a:t>
            </a:fld>
            <a:endParaRPr lang="en-US" dirty="0"/>
          </a:p>
        </p:txBody>
      </p:sp>
    </p:spTree>
    <p:extLst>
      <p:ext uri="{BB962C8B-B14F-4D97-AF65-F5344CB8AC3E}">
        <p14:creationId xmlns:p14="http://schemas.microsoft.com/office/powerpoint/2010/main" val="28699783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85CDB-4198-450F-B6D3-048A14B96D4C}" type="datetimeFigureOut">
              <a:rPr lang="en-IN" smtClean="0"/>
              <a:pPr/>
              <a:t>29-09-2024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04008-3433-43AD-8483-BD8A804A264A}" type="slidenum">
              <a:rPr lang="en-IN" smtClean="0"/>
              <a:pPr/>
              <a:t>‹#›</a:t>
            </a:fld>
            <a:endParaRPr lang="en-IN" dirty="0"/>
          </a:p>
        </p:txBody>
      </p:sp>
    </p:spTree>
    <p:extLst>
      <p:ext uri="{BB962C8B-B14F-4D97-AF65-F5344CB8AC3E}">
        <p14:creationId xmlns:p14="http://schemas.microsoft.com/office/powerpoint/2010/main" val="38727393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2535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9296400" y="136524"/>
            <a:ext cx="2743200" cy="365125"/>
          </a:xfrm>
        </p:spPr>
        <p:txBody>
          <a:bodyPr/>
          <a:lstStyle>
            <a:lvl1pPr>
              <a:defRPr sz="2000">
                <a:solidFill>
                  <a:schemeClr val="tx1"/>
                </a:solidFill>
                <a:latin typeface="Times New Roman" panose="02020603050405020304" pitchFamily="18" charset="0"/>
                <a:cs typeface="Times New Roman" panose="02020603050405020304" pitchFamily="18" charset="0"/>
              </a:defRPr>
            </a:lvl1pPr>
          </a:lstStyle>
          <a:p>
            <a:endParaRPr lang="en-US" dirty="0"/>
          </a:p>
        </p:txBody>
      </p:sp>
    </p:spTree>
    <p:extLst>
      <p:ext uri="{BB962C8B-B14F-4D97-AF65-F5344CB8AC3E}">
        <p14:creationId xmlns:p14="http://schemas.microsoft.com/office/powerpoint/2010/main" val="23853878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4913845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1959" y="6165099"/>
            <a:ext cx="1935479" cy="618068"/>
          </a:xfrm>
          <a:prstGeom prst="rect">
            <a:avLst/>
          </a:prstGeom>
        </p:spPr>
      </p:pic>
      <p:sp>
        <p:nvSpPr>
          <p:cNvPr id="10" name="Slide Number Placeholder 5">
            <a:extLst>
              <a:ext uri="{FF2B5EF4-FFF2-40B4-BE49-F238E27FC236}">
                <a16:creationId xmlns:a16="http://schemas.microsoft.com/office/drawing/2014/main" id="{8364B7AC-E253-9811-FEED-8FD6A00863ED}"/>
              </a:ext>
            </a:extLst>
          </p:cNvPr>
          <p:cNvSpPr txBox="1">
            <a:spLocks/>
          </p:cNvSpPr>
          <p:nvPr userDrawn="1"/>
        </p:nvSpPr>
        <p:spPr>
          <a:xfrm>
            <a:off x="11425560" y="6356351"/>
            <a:ext cx="614039" cy="365125"/>
          </a:xfrm>
          <a:prstGeom prst="rect">
            <a:avLst/>
          </a:prstGeom>
        </p:spPr>
        <p:txBody>
          <a:bodyPr/>
          <a:lstStyle>
            <a:defPPr>
              <a:defRPr lang="en-US"/>
            </a:defPPr>
            <a:lvl1pPr marL="0" algn="l" defTabSz="914400" rtl="0" eaLnBrk="1" latinLnBrk="0" hangingPunct="1">
              <a:defRPr sz="20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Lst>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123sashank321/Anamolies_Detection_in_Crop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hyperlink" Target="https://sites.google.com/view/anamolies-detection-in-crops/hom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1.wdp"/><Relationship Id="rId7" Type="http://schemas.openxmlformats.org/officeDocument/2006/relationships/slide" Target="slide6.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11.png"/><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3.png"/><Relationship Id="rId2" Type="http://schemas.openxmlformats.org/officeDocument/2006/relationships/video" Target="../media/media1.webm"/><Relationship Id="rId1" Type="http://schemas.microsoft.com/office/2007/relationships/media" Target="../media/media1.webm"/><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390/iot5020013" TargetMode="External"/><Relationship Id="rId7" Type="http://schemas.openxmlformats.org/officeDocument/2006/relationships/hyperlink" Target="https://blog.roboflow.com/what-is-yolov8/" TargetMode="External"/><Relationship Id="rId2" Type="http://schemas.openxmlformats.org/officeDocument/2006/relationships/hyperlink" Target="https://github.com/ultralytics/ultralytics/issues/189" TargetMode="External"/><Relationship Id="rId1" Type="http://schemas.openxmlformats.org/officeDocument/2006/relationships/slideLayout" Target="../slideLayouts/slideLayout2.xml"/><Relationship Id="rId6" Type="http://schemas.openxmlformats.org/officeDocument/2006/relationships/hyperlink" Target="https://blog.roboflow.com/author/francesco/" TargetMode="External"/><Relationship Id="rId5" Type="http://schemas.openxmlformats.org/officeDocument/2006/relationships/hyperlink" Target="https://blog.roboflow.com/author/jacob/" TargetMode="External"/><Relationship Id="rId4" Type="http://schemas.openxmlformats.org/officeDocument/2006/relationships/hyperlink" Target="https://doi.org/10.1016/j.compag.2023.10796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6FE1-BE3A-E444-EF9B-B6330AA8D529}"/>
              </a:ext>
            </a:extLst>
          </p:cNvPr>
          <p:cNvSpPr>
            <a:spLocks noGrp="1"/>
          </p:cNvSpPr>
          <p:nvPr>
            <p:ph type="ctrTitle"/>
          </p:nvPr>
        </p:nvSpPr>
        <p:spPr>
          <a:xfrm>
            <a:off x="2372799" y="113360"/>
            <a:ext cx="7446402" cy="1122276"/>
          </a:xfrm>
        </p:spPr>
        <p:txBody>
          <a:bodyPr>
            <a:normAutofit fontScale="90000"/>
          </a:bodyPr>
          <a:lstStyle/>
          <a:p>
            <a:pPr>
              <a:lnSpc>
                <a:spcPct val="100000"/>
              </a:lnSpc>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Anomalies detection in crop health and creating a custom flight path.</a:t>
            </a:r>
            <a:endParaRPr lang="en-IN" sz="3600" b="1" dirty="0"/>
          </a:p>
        </p:txBody>
      </p:sp>
      <p:sp>
        <p:nvSpPr>
          <p:cNvPr id="3" name="TextBox 14">
            <a:extLst>
              <a:ext uri="{FF2B5EF4-FFF2-40B4-BE49-F238E27FC236}">
                <a16:creationId xmlns:a16="http://schemas.microsoft.com/office/drawing/2014/main" id="{05820C93-91AA-8278-C5E4-ED8E5FCF5229}"/>
              </a:ext>
            </a:extLst>
          </p:cNvPr>
          <p:cNvSpPr txBox="1"/>
          <p:nvPr/>
        </p:nvSpPr>
        <p:spPr>
          <a:xfrm>
            <a:off x="4535676" y="3176113"/>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000000"/>
                </a:solidFill>
                <a:latin typeface="Times New Roman"/>
                <a:ea typeface="Times New Roman"/>
                <a:cs typeface="Times New Roman"/>
                <a:sym typeface="Times New Roman"/>
              </a:rPr>
              <a:t>CB.EN.U4AEE21034</a:t>
            </a:r>
          </a:p>
          <a:p>
            <a:pPr algn="ctr">
              <a:defRPr/>
            </a:pPr>
            <a:r>
              <a:rPr lang="en-US" sz="1800" dirty="0">
                <a:solidFill>
                  <a:srgbClr val="000000"/>
                </a:solidFill>
                <a:latin typeface="Times New Roman"/>
                <a:ea typeface="Times New Roman"/>
                <a:cs typeface="Times New Roman"/>
                <a:sym typeface="Times New Roman"/>
              </a:rPr>
              <a:t>Erukala Sashank</a:t>
            </a:r>
          </a:p>
        </p:txBody>
      </p:sp>
      <p:sp>
        <p:nvSpPr>
          <p:cNvPr id="9" name="TextBox 9">
            <a:extLst>
              <a:ext uri="{FF2B5EF4-FFF2-40B4-BE49-F238E27FC236}">
                <a16:creationId xmlns:a16="http://schemas.microsoft.com/office/drawing/2014/main" id="{06F4F9EA-F74A-C4EB-F105-783EADEA4E70}"/>
              </a:ext>
            </a:extLst>
          </p:cNvPr>
          <p:cNvSpPr txBox="1"/>
          <p:nvPr/>
        </p:nvSpPr>
        <p:spPr>
          <a:xfrm>
            <a:off x="410201" y="4300724"/>
            <a:ext cx="10955821" cy="615553"/>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B6114D"/>
                </a:solidFill>
                <a:latin typeface="Times New Roman Bold"/>
                <a:ea typeface="Times New Roman Bold"/>
                <a:cs typeface="Times New Roman Bold"/>
                <a:sym typeface="Times New Roman Bold"/>
              </a:rPr>
              <a:t>Git hub URL: </a:t>
            </a:r>
            <a:r>
              <a:rPr lang="en-US" sz="2000" dirty="0">
                <a:solidFill>
                  <a:srgbClr val="B6114D"/>
                </a:solidFill>
                <a:latin typeface="Times New Roman Bold"/>
                <a:ea typeface="Times New Roman Bold"/>
                <a:cs typeface="Times New Roman Bold"/>
                <a:sym typeface="Times New Roman Bold"/>
                <a:hlinkClick r:id="rId3"/>
              </a:rPr>
              <a:t>https://github.com/123sashank321/Anamolies_Detection_in_Crops</a:t>
            </a:r>
            <a:endParaRPr lang="en-US" sz="2000" dirty="0">
              <a:solidFill>
                <a:srgbClr val="B6114D"/>
              </a:solidFill>
              <a:latin typeface="Times New Roman Bold"/>
              <a:ea typeface="Times New Roman Bold"/>
              <a:cs typeface="Times New Roman Bold"/>
              <a:sym typeface="Times New Roman Bold"/>
            </a:endParaRPr>
          </a:p>
          <a:p>
            <a:pPr algn="ctr"/>
            <a:r>
              <a:rPr lang="en-US" sz="2000" dirty="0" err="1">
                <a:solidFill>
                  <a:srgbClr val="B6114D"/>
                </a:solidFill>
                <a:latin typeface="Times New Roman Bold"/>
                <a:ea typeface="Times New Roman Bold"/>
                <a:cs typeface="Times New Roman Bold"/>
                <a:sym typeface="Times New Roman Bold"/>
              </a:rPr>
              <a:t>Sites.google</a:t>
            </a:r>
            <a:r>
              <a:rPr lang="en-US" sz="2000" dirty="0">
                <a:solidFill>
                  <a:srgbClr val="B6114D"/>
                </a:solidFill>
                <a:latin typeface="Times New Roman Bold"/>
                <a:ea typeface="Times New Roman Bold"/>
                <a:cs typeface="Times New Roman Bold"/>
                <a:sym typeface="Times New Roman Bold"/>
              </a:rPr>
              <a:t> : </a:t>
            </a:r>
            <a:r>
              <a:rPr lang="en-US" sz="2000" dirty="0">
                <a:solidFill>
                  <a:srgbClr val="B6114D"/>
                </a:solidFill>
                <a:latin typeface="Times New Roman Bold"/>
                <a:ea typeface="Times New Roman Bold"/>
                <a:cs typeface="Times New Roman Bold"/>
                <a:sym typeface="Times New Roman Bold"/>
                <a:hlinkClick r:id="rId4"/>
              </a:rPr>
              <a:t>https://sites.google.com/view/anamolies-detection-in-crops/home</a:t>
            </a:r>
            <a:endParaRPr lang="en-US" sz="2000" dirty="0">
              <a:solidFill>
                <a:srgbClr val="B6114D"/>
              </a:solidFill>
              <a:latin typeface="Times New Roman Bold"/>
              <a:ea typeface="Times New Roman Bold"/>
              <a:cs typeface="Times New Roman Bold"/>
              <a:sym typeface="Times New Roman Bold"/>
            </a:endParaRPr>
          </a:p>
        </p:txBody>
      </p:sp>
      <p:sp>
        <p:nvSpPr>
          <p:cNvPr id="10" name="TextBox 11">
            <a:extLst>
              <a:ext uri="{FF2B5EF4-FFF2-40B4-BE49-F238E27FC236}">
                <a16:creationId xmlns:a16="http://schemas.microsoft.com/office/drawing/2014/main" id="{4D2B317C-CD51-A8D4-EF75-7F64CE5E5110}"/>
              </a:ext>
            </a:extLst>
          </p:cNvPr>
          <p:cNvSpPr txBox="1"/>
          <p:nvPr/>
        </p:nvSpPr>
        <p:spPr>
          <a:xfrm>
            <a:off x="3238236" y="4903833"/>
            <a:ext cx="6218952" cy="110799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C00000"/>
                </a:solidFill>
                <a:latin typeface="Times New Roman Bold"/>
                <a:ea typeface="Times New Roman Bold"/>
                <a:cs typeface="Times New Roman Bold"/>
                <a:sym typeface="Times New Roman Bold"/>
              </a:rPr>
              <a:t>Professor	  :  </a:t>
            </a:r>
            <a:r>
              <a:rPr lang="en-US" sz="2400" dirty="0">
                <a:latin typeface="Times New Roman Bold"/>
                <a:ea typeface="Times New Roman Bold"/>
                <a:cs typeface="Times New Roman Bold"/>
                <a:sym typeface="Times New Roman Bold"/>
              </a:rPr>
              <a:t>Dr.</a:t>
            </a:r>
            <a:r>
              <a:rPr lang="en-US" sz="2400" dirty="0">
                <a:solidFill>
                  <a:srgbClr val="C00000"/>
                </a:solidFill>
                <a:latin typeface="Times New Roman Bold"/>
                <a:ea typeface="Times New Roman Bold"/>
                <a:cs typeface="Times New Roman Bold"/>
                <a:sym typeface="Times New Roman Bold"/>
              </a:rPr>
              <a:t> </a:t>
            </a:r>
            <a:r>
              <a:rPr lang="en-US" sz="2400" b="1" dirty="0">
                <a:latin typeface="Times New Roman Bold"/>
                <a:ea typeface="Times New Roman Bold"/>
                <a:cs typeface="Times New Roman Bold"/>
                <a:sym typeface="Times New Roman Bold"/>
              </a:rPr>
              <a:t>T Senthil Kumar(CSE)</a:t>
            </a:r>
          </a:p>
          <a:p>
            <a:r>
              <a:rPr lang="en-US" sz="2400" b="1" dirty="0">
                <a:solidFill>
                  <a:srgbClr val="C00000"/>
                </a:solidFill>
                <a:latin typeface="Times New Roman Bold"/>
                <a:ea typeface="Times New Roman Bold"/>
                <a:cs typeface="Times New Roman Bold"/>
                <a:sym typeface="Times New Roman Bold"/>
              </a:rPr>
              <a:t>Collaborator</a:t>
            </a:r>
            <a:r>
              <a:rPr lang="en-US" sz="2400" b="1" dirty="0">
                <a:latin typeface="Times New Roman Bold"/>
                <a:ea typeface="Times New Roman Bold"/>
                <a:cs typeface="Times New Roman Bold"/>
                <a:sym typeface="Times New Roman Bold"/>
              </a:rPr>
              <a:t>    </a:t>
            </a:r>
            <a:r>
              <a:rPr lang="en-US" sz="2400" b="1" dirty="0">
                <a:solidFill>
                  <a:srgbClr val="C00000"/>
                </a:solidFill>
                <a:latin typeface="Times New Roman Bold"/>
                <a:ea typeface="Times New Roman Bold"/>
                <a:cs typeface="Times New Roman Bold"/>
                <a:sym typeface="Times New Roman Bold"/>
              </a:rPr>
              <a:t>:</a:t>
            </a:r>
            <a:r>
              <a:rPr lang="en-US" sz="2400" b="1" dirty="0">
                <a:latin typeface="Times New Roman Bold"/>
                <a:ea typeface="Times New Roman Bold"/>
                <a:cs typeface="Times New Roman Bold"/>
                <a:sym typeface="Times New Roman Bold"/>
              </a:rPr>
              <a:t>   Mr. Akash (Sky –X)</a:t>
            </a:r>
          </a:p>
          <a:p>
            <a:r>
              <a:rPr lang="en-US" sz="2400" b="1" dirty="0">
                <a:solidFill>
                  <a:srgbClr val="C00000"/>
                </a:solidFill>
                <a:latin typeface="Times New Roman Bold"/>
                <a:ea typeface="Times New Roman Bold"/>
                <a:cs typeface="Times New Roman Bold"/>
                <a:sym typeface="Times New Roman Bold"/>
              </a:rPr>
              <a:t>Professor 	   :</a:t>
            </a:r>
            <a:r>
              <a:rPr lang="en-US" sz="2400" b="1" dirty="0">
                <a:latin typeface="Times New Roman Bold"/>
                <a:ea typeface="Times New Roman Bold"/>
                <a:cs typeface="Times New Roman Bold"/>
                <a:sym typeface="Times New Roman Bold"/>
              </a:rPr>
              <a:t>  S </a:t>
            </a:r>
            <a:r>
              <a:rPr lang="en-US" sz="2400" b="1" dirty="0" err="1">
                <a:latin typeface="Times New Roman Bold"/>
                <a:ea typeface="Times New Roman Bold"/>
                <a:cs typeface="Times New Roman Bold"/>
                <a:sym typeface="Times New Roman Bold"/>
              </a:rPr>
              <a:t>Thangeswari</a:t>
            </a:r>
            <a:endParaRPr lang="en-US" sz="2400" b="1" dirty="0">
              <a:latin typeface="Times New Roman Bold"/>
              <a:ea typeface="Times New Roman Bold"/>
              <a:cs typeface="Times New Roman Bold"/>
              <a:sym typeface="Times New Roman Bold"/>
            </a:endParaRPr>
          </a:p>
        </p:txBody>
      </p:sp>
      <p:pic>
        <p:nvPicPr>
          <p:cNvPr id="5" name="Picture 4">
            <a:extLst>
              <a:ext uri="{FF2B5EF4-FFF2-40B4-BE49-F238E27FC236}">
                <a16:creationId xmlns:a16="http://schemas.microsoft.com/office/drawing/2014/main" id="{4257351B-81C0-F594-E435-A9F9BB8FF22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85840" y="1400169"/>
            <a:ext cx="1261872" cy="1618488"/>
          </a:xfrm>
          <a:prstGeom prst="rect">
            <a:avLst/>
          </a:prstGeom>
        </p:spPr>
      </p:pic>
      <p:sp>
        <p:nvSpPr>
          <p:cNvPr id="7" name="TextBox 6">
            <a:extLst>
              <a:ext uri="{FF2B5EF4-FFF2-40B4-BE49-F238E27FC236}">
                <a16:creationId xmlns:a16="http://schemas.microsoft.com/office/drawing/2014/main" id="{0D11F339-4B49-99AE-88C1-D69459013285}"/>
              </a:ext>
            </a:extLst>
          </p:cNvPr>
          <p:cNvSpPr txBox="1"/>
          <p:nvPr/>
        </p:nvSpPr>
        <p:spPr>
          <a:xfrm>
            <a:off x="2668776" y="3801101"/>
            <a:ext cx="6096000" cy="461665"/>
          </a:xfrm>
          <a:prstGeom prst="rect">
            <a:avLst/>
          </a:prstGeom>
          <a:noFill/>
        </p:spPr>
        <p:txBody>
          <a:bodyPr wrap="square">
            <a:spAutoFit/>
          </a:bodyPr>
          <a:lstStyle/>
          <a:p>
            <a:pPr algn="ctr">
              <a:defRPr/>
            </a:pPr>
            <a:r>
              <a:rPr lang="en-US" sz="2400" dirty="0">
                <a:solidFill>
                  <a:srgbClr val="B6114D"/>
                </a:solidFill>
                <a:latin typeface="Times New Roman"/>
                <a:ea typeface="Times New Roman"/>
                <a:cs typeface="Times New Roman"/>
                <a:sym typeface="Times New Roman"/>
              </a:rPr>
              <a:t>Case Study Review-2</a:t>
            </a:r>
          </a:p>
        </p:txBody>
      </p:sp>
    </p:spTree>
    <p:extLst>
      <p:ext uri="{BB962C8B-B14F-4D97-AF65-F5344CB8AC3E}">
        <p14:creationId xmlns:p14="http://schemas.microsoft.com/office/powerpoint/2010/main" val="400113492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223F3B-EDD2-C897-C9EC-85626D51B831}"/>
              </a:ext>
            </a:extLst>
          </p:cNvPr>
          <p:cNvSpPr txBox="1"/>
          <p:nvPr/>
        </p:nvSpPr>
        <p:spPr>
          <a:xfrm>
            <a:off x="3625273" y="686099"/>
            <a:ext cx="5574146" cy="5115311"/>
          </a:xfrm>
          <a:prstGeom prst="rect">
            <a:avLst/>
          </a:prstGeom>
          <a:noFill/>
        </p:spPr>
        <p:txBody>
          <a:bodyPr wrap="square">
            <a:spAutoFit/>
          </a:bodyPr>
          <a:lstStyle/>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Problem Statement</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Literature Survey</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YOLO Architecture and its Features</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Block  Diagram/Methodology</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Why YOLO-V8 ?</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Computer Vision Based Approach </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Hyper Parameter Table</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Hyper Parameter Tuning</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Setup Planned</a:t>
            </a:r>
          </a:p>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Formula for performance Metrics</a:t>
            </a:r>
          </a:p>
        </p:txBody>
      </p:sp>
      <p:sp>
        <p:nvSpPr>
          <p:cNvPr id="5" name="TextBox 4">
            <a:extLst>
              <a:ext uri="{FF2B5EF4-FFF2-40B4-BE49-F238E27FC236}">
                <a16:creationId xmlns:a16="http://schemas.microsoft.com/office/drawing/2014/main" id="{3834812B-1556-CF7E-780D-900707A969A1}"/>
              </a:ext>
            </a:extLst>
          </p:cNvPr>
          <p:cNvSpPr txBox="1"/>
          <p:nvPr/>
        </p:nvSpPr>
        <p:spPr>
          <a:xfrm>
            <a:off x="4886036" y="0"/>
            <a:ext cx="2216728" cy="707886"/>
          </a:xfrm>
          <a:prstGeom prst="rect">
            <a:avLst/>
          </a:prstGeom>
          <a:noFill/>
        </p:spPr>
        <p:txBody>
          <a:bodyPr wrap="square">
            <a:spAutoFit/>
          </a:bodyPr>
          <a:lstStyle/>
          <a:p>
            <a:r>
              <a:rPr lang="en-IN" sz="4000" b="1" dirty="0">
                <a:solidFill>
                  <a:srgbClr val="C00000"/>
                </a:solidFill>
                <a:latin typeface="Times New Roman" panose="02020603050405020304" pitchFamily="18" charset="0"/>
                <a:cs typeface="Times New Roman" panose="02020603050405020304" pitchFamily="18" charset="0"/>
              </a:rPr>
              <a:t>Contents</a:t>
            </a:r>
            <a:endParaRPr lang="en-IN" sz="4000" dirty="0"/>
          </a:p>
        </p:txBody>
      </p:sp>
    </p:spTree>
    <p:extLst>
      <p:ext uri="{BB962C8B-B14F-4D97-AF65-F5344CB8AC3E}">
        <p14:creationId xmlns:p14="http://schemas.microsoft.com/office/powerpoint/2010/main" val="15639460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0A6C73A-AC36-B7A2-E8C0-AF8177B5AD2D}"/>
              </a:ext>
            </a:extLst>
          </p:cNvPr>
          <p:cNvSpPr>
            <a:spLocks noGrp="1"/>
          </p:cNvSpPr>
          <p:nvPr>
            <p:ph type="title"/>
          </p:nvPr>
        </p:nvSpPr>
        <p:spPr>
          <a:xfrm>
            <a:off x="4229100" y="130756"/>
            <a:ext cx="2947204"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Introduction</a:t>
            </a:r>
          </a:p>
        </p:txBody>
      </p:sp>
      <p:sp>
        <p:nvSpPr>
          <p:cNvPr id="10" name="Content Placeholder 2">
            <a:extLst>
              <a:ext uri="{FF2B5EF4-FFF2-40B4-BE49-F238E27FC236}">
                <a16:creationId xmlns:a16="http://schemas.microsoft.com/office/drawing/2014/main" id="{3B79C2C4-54AC-64D7-FE50-C3B4603B7828}"/>
              </a:ext>
            </a:extLst>
          </p:cNvPr>
          <p:cNvSpPr>
            <a:spLocks noGrp="1"/>
          </p:cNvSpPr>
          <p:nvPr>
            <p:ph idx="1"/>
          </p:nvPr>
        </p:nvSpPr>
        <p:spPr>
          <a:xfrm>
            <a:off x="671120" y="919844"/>
            <a:ext cx="11068297" cy="5037610"/>
          </a:xfrm>
        </p:spPr>
        <p:txBody>
          <a:bodyPr>
            <a:normAutofit/>
          </a:bodyPr>
          <a:lstStyle/>
          <a:p>
            <a:pPr marL="0" indent="0" algn="just">
              <a:lnSpc>
                <a:spcPct val="110000"/>
              </a:lnSpc>
              <a:buNone/>
            </a:pPr>
            <a:r>
              <a:rPr lang="en-US" sz="2400" dirty="0">
                <a:latin typeface="Times New Roman" panose="02020603050405020304" pitchFamily="18" charset="0"/>
                <a:cs typeface="Times New Roman" panose="02020603050405020304" pitchFamily="18" charset="0"/>
              </a:rPr>
              <a:t>				In agriculture, timely </a:t>
            </a:r>
            <a:r>
              <a:rPr lang="en-US" sz="2400" b="1" dirty="0">
                <a:latin typeface="Times New Roman" panose="02020603050405020304" pitchFamily="18" charset="0"/>
                <a:cs typeface="Times New Roman" panose="02020603050405020304" pitchFamily="18" charset="0"/>
              </a:rPr>
              <a:t>detection of crop health issues</a:t>
            </a:r>
            <a:r>
              <a:rPr lang="en-US" sz="2400" dirty="0">
                <a:latin typeface="Times New Roman" panose="02020603050405020304" pitchFamily="18" charset="0"/>
                <a:cs typeface="Times New Roman" panose="02020603050405020304" pitchFamily="18" charset="0"/>
              </a:rPr>
              <a:t> like diseases, pests, and nutrient deficiencies is crucial for maximizing yield and ensuring food security. Traditional methods of monitoring, which rely on </a:t>
            </a:r>
            <a:r>
              <a:rPr lang="en-US" sz="2400" b="1" dirty="0">
                <a:latin typeface="Times New Roman" panose="02020603050405020304" pitchFamily="18" charset="0"/>
                <a:cs typeface="Times New Roman" panose="02020603050405020304" pitchFamily="18" charset="0"/>
              </a:rPr>
              <a:t>manual inspection</a:t>
            </a:r>
            <a:r>
              <a:rPr lang="en-US" sz="2400" dirty="0">
                <a:latin typeface="Times New Roman" panose="02020603050405020304" pitchFamily="18" charset="0"/>
                <a:cs typeface="Times New Roman" panose="02020603050405020304" pitchFamily="18" charset="0"/>
              </a:rPr>
              <a:t>, are </a:t>
            </a:r>
            <a:r>
              <a:rPr lang="en-US" sz="2400" b="1" dirty="0">
                <a:latin typeface="Times New Roman" panose="02020603050405020304" pitchFamily="18" charset="0"/>
                <a:cs typeface="Times New Roman" panose="02020603050405020304" pitchFamily="18" charset="0"/>
              </a:rPr>
              <a:t>slow, labor-intensive</a:t>
            </a:r>
            <a:r>
              <a:rPr lang="en-US" sz="2400" dirty="0">
                <a:latin typeface="Times New Roman" panose="02020603050405020304" pitchFamily="18" charset="0"/>
                <a:cs typeface="Times New Roman" panose="02020603050405020304" pitchFamily="18" charset="0"/>
              </a:rPr>
              <a:t>, and often miss early signs of problems. As farms grow larger, effective monitoring becomes increasingly challenging.</a:t>
            </a:r>
          </a:p>
          <a:p>
            <a:pPr marL="0" indent="0" algn="just">
              <a:lnSpc>
                <a:spcPct val="110000"/>
              </a:lnSpc>
              <a:buNone/>
            </a:pPr>
            <a:r>
              <a:rPr lang="en-US" sz="2400" dirty="0">
                <a:latin typeface="Times New Roman" panose="02020603050405020304" pitchFamily="18" charset="0"/>
                <a:cs typeface="Times New Roman" panose="02020603050405020304" pitchFamily="18" charset="0"/>
              </a:rPr>
              <a:t>					This project addresses these issues by combining </a:t>
            </a:r>
            <a:r>
              <a:rPr lang="en-US" sz="2400" b="1" dirty="0">
                <a:latin typeface="Times New Roman" panose="02020603050405020304" pitchFamily="18" charset="0"/>
                <a:cs typeface="Times New Roman" panose="02020603050405020304" pitchFamily="18" charset="0"/>
              </a:rPr>
              <a:t>drone technology and Deep learning </a:t>
            </a:r>
            <a:r>
              <a:rPr lang="en-US" sz="2400" dirty="0">
                <a:latin typeface="Times New Roman" panose="02020603050405020304" pitchFamily="18" charset="0"/>
                <a:cs typeface="Times New Roman" panose="02020603050405020304" pitchFamily="18" charset="0"/>
              </a:rPr>
              <a:t>to automate crop health monitoring. Drones capture large-scale, high-resolution imagery, while algorithms detect anomalies early, enabling targeted intervention. This approach </a:t>
            </a:r>
            <a:r>
              <a:rPr lang="en-US" sz="2400" b="1" dirty="0">
                <a:latin typeface="Times New Roman" panose="02020603050405020304" pitchFamily="18" charset="0"/>
                <a:cs typeface="Times New Roman" panose="02020603050405020304" pitchFamily="18" charset="0"/>
              </a:rPr>
              <a:t>reduces resource waste</a:t>
            </a:r>
            <a:r>
              <a:rPr lang="en-US" sz="2400" dirty="0">
                <a:latin typeface="Times New Roman" panose="02020603050405020304" pitchFamily="18" charset="0"/>
                <a:cs typeface="Times New Roman" panose="02020603050405020304" pitchFamily="18" charset="0"/>
              </a:rPr>
              <a:t>, minimizes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environmental impact, and enhances productivity, making it a vital tool for modern precision farming.</a:t>
            </a:r>
          </a:p>
        </p:txBody>
      </p:sp>
    </p:spTree>
    <p:extLst>
      <p:ext uri="{BB962C8B-B14F-4D97-AF65-F5344CB8AC3E}">
        <p14:creationId xmlns:p14="http://schemas.microsoft.com/office/powerpoint/2010/main" val="165091893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5078BCF-9D1C-5402-F642-80E861A5E73D}"/>
              </a:ext>
            </a:extLst>
          </p:cNvPr>
          <p:cNvSpPr txBox="1">
            <a:spLocks/>
          </p:cNvSpPr>
          <p:nvPr/>
        </p:nvSpPr>
        <p:spPr>
          <a:xfrm>
            <a:off x="542142" y="224886"/>
            <a:ext cx="4296076" cy="66901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r>
              <a:rPr lang="en-US" sz="3600" b="1">
                <a:solidFill>
                  <a:srgbClr val="CC0066"/>
                </a:solidFill>
                <a:latin typeface="Times New Roman" panose="02020603050405020304" pitchFamily="18" charset="0"/>
                <a:cs typeface="Times New Roman" panose="02020603050405020304" pitchFamily="18" charset="0"/>
              </a:rPr>
              <a:t>Problem Statement</a:t>
            </a:r>
            <a:endParaRPr lang="en-US" sz="3600" b="1" dirty="0">
              <a:solidFill>
                <a:srgbClr val="CC0066"/>
              </a:solidFill>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1F0D8A1F-0106-4146-CE61-2C41EC715DC5}"/>
              </a:ext>
            </a:extLst>
          </p:cNvPr>
          <p:cNvSpPr>
            <a:spLocks noGrp="1" noChangeArrowheads="1"/>
          </p:cNvSpPr>
          <p:nvPr>
            <p:ph idx="1"/>
          </p:nvPr>
        </p:nvSpPr>
        <p:spPr bwMode="auto">
          <a:xfrm>
            <a:off x="340519" y="1040650"/>
            <a:ext cx="11510962"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Current methods for monitoring crop health and managing agricultural spraying are often inefficient and labor-intensive, leading to suboptimal crop yields and increased pesticide use. There is a need for an advanced system that combines machine learning and drone technology to detect anomalies in crop health early and automate the creation of precise, customized flight paths for treatment. This will address issues of inefficiency, high operational costs, and environmental impact in modern agriculture.</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074948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4344701" y="134620"/>
            <a:ext cx="3244819"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Literature Survey</a:t>
            </a:r>
            <a:endParaRPr lang="en-IN" sz="3200" b="1" i="1" dirty="0">
              <a:solidFill>
                <a:srgbClr val="C0000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D50C2A9-53F1-F310-73F8-97100DD731BB}"/>
              </a:ext>
            </a:extLst>
          </p:cNvPr>
          <p:cNvGraphicFramePr>
            <a:graphicFrameLocks noGrp="1"/>
          </p:cNvGraphicFramePr>
          <p:nvPr>
            <p:extLst>
              <p:ext uri="{D42A27DB-BD31-4B8C-83A1-F6EECF244321}">
                <p14:modId xmlns:p14="http://schemas.microsoft.com/office/powerpoint/2010/main" val="3062684450"/>
              </p:ext>
            </p:extLst>
          </p:nvPr>
        </p:nvGraphicFramePr>
        <p:xfrm>
          <a:off x="284480" y="591248"/>
          <a:ext cx="11623040" cy="5516880"/>
        </p:xfrm>
        <a:graphic>
          <a:graphicData uri="http://schemas.openxmlformats.org/drawingml/2006/table">
            <a:tbl>
              <a:tblPr firstRow="1" bandRow="1">
                <a:tableStyleId>{2D5ABB26-0587-4C30-8999-92F81FD0307C}</a:tableStyleId>
              </a:tblPr>
              <a:tblGrid>
                <a:gridCol w="2357120">
                  <a:extLst>
                    <a:ext uri="{9D8B030D-6E8A-4147-A177-3AD203B41FA5}">
                      <a16:colId xmlns:a16="http://schemas.microsoft.com/office/drawing/2014/main" val="756847120"/>
                    </a:ext>
                  </a:extLst>
                </a:gridCol>
                <a:gridCol w="2631440">
                  <a:extLst>
                    <a:ext uri="{9D8B030D-6E8A-4147-A177-3AD203B41FA5}">
                      <a16:colId xmlns:a16="http://schemas.microsoft.com/office/drawing/2014/main" val="2988653294"/>
                    </a:ext>
                  </a:extLst>
                </a:gridCol>
                <a:gridCol w="3434080">
                  <a:extLst>
                    <a:ext uri="{9D8B030D-6E8A-4147-A177-3AD203B41FA5}">
                      <a16:colId xmlns:a16="http://schemas.microsoft.com/office/drawing/2014/main" val="3581242414"/>
                    </a:ext>
                  </a:extLst>
                </a:gridCol>
                <a:gridCol w="3200400">
                  <a:extLst>
                    <a:ext uri="{9D8B030D-6E8A-4147-A177-3AD203B41FA5}">
                      <a16:colId xmlns:a16="http://schemas.microsoft.com/office/drawing/2014/main" val="2478918602"/>
                    </a:ext>
                  </a:extLst>
                </a:gridCol>
              </a:tblGrid>
              <a:tr h="361621">
                <a:tc>
                  <a:txBody>
                    <a:bodyPr/>
                    <a:lstStyle/>
                    <a:p>
                      <a:pPr algn="ctr"/>
                      <a:r>
                        <a:rPr lang="en-US" dirty="0">
                          <a:latin typeface="Times New Roman" panose="02020603050405020304" pitchFamily="18" charset="0"/>
                          <a:cs typeface="Times New Roman" panose="02020603050405020304" pitchFamily="18" charset="0"/>
                        </a:rPr>
                        <a:t>Title </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Purpose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Result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896692"/>
                  </a:ext>
                </a:extLst>
              </a:tr>
              <a:tr h="1515834">
                <a:tc>
                  <a:txBody>
                    <a:bodyPr/>
                    <a:lstStyle/>
                    <a:p>
                      <a:pPr algn="l"/>
                      <a:r>
                        <a:rPr lang="en-US" sz="1600" dirty="0">
                          <a:latin typeface="Times New Roman" panose="02020603050405020304" pitchFamily="18" charset="0"/>
                          <a:cs typeface="Times New Roman" panose="02020603050405020304" pitchFamily="18" charset="0"/>
                        </a:rPr>
                        <a:t>A Convolutional Neural Network approach for image-based anomaly detection in smart agriculture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Convolutional neural networks (CNN) for identifying anomalies in agricultural images.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It aims to address issues like class imbalance, lack of model generalization, and insufficient variety of training images by leveraging data augmentation techniques and Gaussian noise addition.</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The methodology improved accuracy for both the Deep Weeds dataset (98%) and the Agriculture-Vision dataset (95.3%) using CNNs.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820328"/>
                  </a:ext>
                </a:extLst>
              </a:tr>
              <a:tr h="1753612">
                <a:tc>
                  <a:txBody>
                    <a:bodyPr/>
                    <a:lstStyle/>
                    <a:p>
                      <a:pPr algn="l"/>
                      <a:r>
                        <a:rPr lang="en-US" sz="1600" dirty="0">
                          <a:latin typeface="Times New Roman" panose="02020603050405020304" pitchFamily="18" charset="0"/>
                          <a:cs typeface="Times New Roman" panose="02020603050405020304" pitchFamily="18" charset="0"/>
                        </a:rPr>
                        <a:t>A lightweight SSV2-YOLO based model for detection of sugarcane aphids in unstructured natural environments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a lightweight SSV2-YOLO model based on YOLOv5s  for SCA detection by reconstructing the backbone network with Stem and </a:t>
                      </a:r>
                      <a:r>
                        <a:rPr lang="en-US" sz="1600" dirty="0" err="1">
                          <a:latin typeface="Times New Roman" panose="02020603050405020304" pitchFamily="18" charset="0"/>
                          <a:cs typeface="Times New Roman" panose="02020603050405020304" pitchFamily="18" charset="0"/>
                        </a:rPr>
                        <a:t>ShuffleNet</a:t>
                      </a:r>
                      <a:r>
                        <a:rPr lang="en-US" sz="1600" dirty="0">
                          <a:latin typeface="Times New Roman" panose="02020603050405020304" pitchFamily="18" charset="0"/>
                          <a:cs typeface="Times New Roman" panose="02020603050405020304" pitchFamily="18" charset="0"/>
                        </a:rPr>
                        <a:t> V2 and adjusting the neck network width.</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Existing pest detection algorithms struggle with small, high-density pests in natural environments due to computational constraints and image challenges. This calls for more efficient and accurate methods.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Compared with the YOLOv5s, SSV2-YOLO significantly reduced model complexity , parameter number (by 95.1%), model size (by 92.5%), increased detection speed (GPU by 31.6% and CPU by 81.8%) and improved accuracy (by 2.5%).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087682"/>
                  </a:ext>
                </a:extLst>
              </a:tr>
              <a:tr h="1753612">
                <a:tc>
                  <a:txBody>
                    <a:bodyPr/>
                    <a:lstStyle/>
                    <a:p>
                      <a:pPr algn="l"/>
                      <a:r>
                        <a:rPr lang="en-US" sz="1600" dirty="0">
                          <a:latin typeface="Times New Roman" panose="02020603050405020304" pitchFamily="18" charset="0"/>
                          <a:cs typeface="Times New Roman" panose="02020603050405020304" pitchFamily="18" charset="0"/>
                        </a:rPr>
                        <a:t>Smart Agriculture Drone for Crop Spraying Using Image-Processing and Machine Learning Techniques: Experimental Validation</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a smart agriculture drone integrated with Internet of Things technologies that use machine learning techniques such as TensorFlow Lite with an EfficientDetLite1 model</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To identify objects from a custom dataset trained on three crop classes, namely, pineapple, papaya, and cabbage species, achieving an inference time of 91 </a:t>
                      </a:r>
                      <a:r>
                        <a:rPr lang="en-US" sz="1600" dirty="0" err="1">
                          <a:latin typeface="Times New Roman" panose="02020603050405020304" pitchFamily="18" charset="0"/>
                          <a:cs typeface="Times New Roman" panose="02020603050405020304" pitchFamily="18" charset="0"/>
                        </a:rPr>
                        <a:t>ms.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As a result, the drone maintained a speed of 7.5 m/s, synchronized with an image-processing time of 91 </a:t>
                      </a:r>
                      <a:r>
                        <a:rPr lang="en-US" sz="1600" dirty="0" err="1">
                          <a:latin typeface="Times New Roman" panose="02020603050405020304" pitchFamily="18" charset="0"/>
                          <a:cs typeface="Times New Roman" panose="02020603050405020304" pitchFamily="18" charset="0"/>
                        </a:rPr>
                        <a:t>ms.</a:t>
                      </a:r>
                      <a:r>
                        <a:rPr lang="en-US" sz="1600" dirty="0">
                          <a:latin typeface="Times New Roman" panose="02020603050405020304" pitchFamily="18" charset="0"/>
                          <a:cs typeface="Times New Roman" panose="02020603050405020304" pitchFamily="18" charset="0"/>
                        </a:rPr>
                        <a:t> This alignment allowed for effective image capture and processing, ensuring precise and timely spraying.</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9139135"/>
                  </a:ext>
                </a:extLst>
              </a:tr>
            </a:tbl>
          </a:graphicData>
        </a:graphic>
      </p:graphicFrame>
    </p:spTree>
    <p:extLst>
      <p:ext uri="{BB962C8B-B14F-4D97-AF65-F5344CB8AC3E}">
        <p14:creationId xmlns:p14="http://schemas.microsoft.com/office/powerpoint/2010/main" val="417394296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3008703" y="300181"/>
            <a:ext cx="6174594"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YOLO Architecture &amp; its Features</a:t>
            </a:r>
            <a:endParaRPr lang="en-IN" sz="3200" b="1" i="1" dirty="0">
              <a:solidFill>
                <a:srgbClr val="C0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94DC32-A432-768A-F5BE-C0A7468F5E66}"/>
              </a:ext>
            </a:extLst>
          </p:cNvPr>
          <p:cNvSpPr txBox="1"/>
          <p:nvPr/>
        </p:nvSpPr>
        <p:spPr>
          <a:xfrm>
            <a:off x="5398570" y="5731859"/>
            <a:ext cx="5842084" cy="369332"/>
          </a:xfrm>
          <a:prstGeom prst="rect">
            <a:avLst/>
          </a:prstGeom>
          <a:noFill/>
        </p:spPr>
        <p:txBody>
          <a:bodyPr wrap="square">
            <a:spAutoFit/>
          </a:bodyPr>
          <a:lstStyle/>
          <a:p>
            <a:r>
              <a:rPr lang="en-IN" dirty="0"/>
              <a:t>Source : [1]</a:t>
            </a:r>
          </a:p>
        </p:txBody>
      </p:sp>
      <p:pic>
        <p:nvPicPr>
          <p:cNvPr id="11" name="Picture 10">
            <a:extLst>
              <a:ext uri="{FF2B5EF4-FFF2-40B4-BE49-F238E27FC236}">
                <a16:creationId xmlns:a16="http://schemas.microsoft.com/office/drawing/2014/main" id="{C76583A3-C6BE-74E4-A2D9-A3A8563D47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3187" y="1076446"/>
            <a:ext cx="4287467" cy="4487987"/>
          </a:xfrm>
          <a:prstGeom prst="rect">
            <a:avLst/>
          </a:prstGeom>
        </p:spPr>
      </p:pic>
      <p:sp>
        <p:nvSpPr>
          <p:cNvPr id="13" name="TextBox 12">
            <a:extLst>
              <a:ext uri="{FF2B5EF4-FFF2-40B4-BE49-F238E27FC236}">
                <a16:creationId xmlns:a16="http://schemas.microsoft.com/office/drawing/2014/main" id="{30B997FB-FA21-A6DE-B668-01B86EEDFBA9}"/>
              </a:ext>
            </a:extLst>
          </p:cNvPr>
          <p:cNvSpPr txBox="1"/>
          <p:nvPr/>
        </p:nvSpPr>
        <p:spPr>
          <a:xfrm>
            <a:off x="1341263" y="1188185"/>
            <a:ext cx="4660080" cy="3903954"/>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Improved Back Bone</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Neck (FPN+PAN)</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Anchor Free detection</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Dynamic Head</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Scaled Architecture</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Advanced Loss Function</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Advanced NMS techniques</a:t>
            </a:r>
          </a:p>
        </p:txBody>
      </p:sp>
    </p:spTree>
    <p:extLst>
      <p:ext uri="{BB962C8B-B14F-4D97-AF65-F5344CB8AC3E}">
        <p14:creationId xmlns:p14="http://schemas.microsoft.com/office/powerpoint/2010/main" val="13007257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246126"/>
            <a:ext cx="10515600"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YOLO Architecture &amp; its Features</a:t>
            </a:r>
            <a:endParaRPr lang="en-IN" sz="3200" b="1" i="1" dirty="0">
              <a:solidFill>
                <a:srgbClr val="C0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94DC32-A432-768A-F5BE-C0A7468F5E66}"/>
              </a:ext>
            </a:extLst>
          </p:cNvPr>
          <p:cNvSpPr txBox="1"/>
          <p:nvPr/>
        </p:nvSpPr>
        <p:spPr>
          <a:xfrm>
            <a:off x="595661" y="5621846"/>
            <a:ext cx="5842084" cy="369332"/>
          </a:xfrm>
          <a:prstGeom prst="rect">
            <a:avLst/>
          </a:prstGeom>
          <a:noFill/>
        </p:spPr>
        <p:txBody>
          <a:bodyPr wrap="square">
            <a:spAutoFit/>
          </a:bodyPr>
          <a:lstStyle/>
          <a:p>
            <a:r>
              <a:rPr lang="en-IN" dirty="0"/>
              <a:t>Source : [1]</a:t>
            </a:r>
          </a:p>
        </p:txBody>
      </p:sp>
      <p:pic>
        <p:nvPicPr>
          <p:cNvPr id="4" name="Picture 3">
            <a:extLst>
              <a:ext uri="{FF2B5EF4-FFF2-40B4-BE49-F238E27FC236}">
                <a16:creationId xmlns:a16="http://schemas.microsoft.com/office/drawing/2014/main" id="{BBB8F849-2D4F-0324-ED94-1CB4348D83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12762207"/>
          </a:xfrm>
          <a:prstGeom prst="rect">
            <a:avLst/>
          </a:prstGeom>
        </p:spPr>
      </p:pic>
    </p:spTree>
    <p:extLst>
      <p:ext uri="{BB962C8B-B14F-4D97-AF65-F5344CB8AC3E}">
        <p14:creationId xmlns:p14="http://schemas.microsoft.com/office/powerpoint/2010/main" val="39469479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246126"/>
            <a:ext cx="10515600"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YOLO Architecture &amp; its Features</a:t>
            </a:r>
            <a:endParaRPr lang="en-IN" sz="3200" b="1" i="1" dirty="0">
              <a:solidFill>
                <a:srgbClr val="C0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94DC32-A432-768A-F5BE-C0A7468F5E66}"/>
              </a:ext>
            </a:extLst>
          </p:cNvPr>
          <p:cNvSpPr txBox="1"/>
          <p:nvPr/>
        </p:nvSpPr>
        <p:spPr>
          <a:xfrm>
            <a:off x="595661" y="5621846"/>
            <a:ext cx="5842084" cy="369332"/>
          </a:xfrm>
          <a:prstGeom prst="rect">
            <a:avLst/>
          </a:prstGeom>
          <a:noFill/>
        </p:spPr>
        <p:txBody>
          <a:bodyPr wrap="square">
            <a:spAutoFit/>
          </a:bodyPr>
          <a:lstStyle/>
          <a:p>
            <a:r>
              <a:rPr lang="en-IN" dirty="0"/>
              <a:t>Source : [1]</a:t>
            </a:r>
          </a:p>
        </p:txBody>
      </p:sp>
      <p:pic>
        <p:nvPicPr>
          <p:cNvPr id="4" name="Picture 3">
            <a:extLst>
              <a:ext uri="{FF2B5EF4-FFF2-40B4-BE49-F238E27FC236}">
                <a16:creationId xmlns:a16="http://schemas.microsoft.com/office/drawing/2014/main" id="{BBB8F849-2D4F-0324-ED94-1CB4348D83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906664"/>
            <a:ext cx="12192000" cy="12762207"/>
          </a:xfrm>
          <a:prstGeom prst="rect">
            <a:avLst/>
          </a:prstGeom>
        </p:spPr>
      </p:pic>
    </p:spTree>
    <p:extLst>
      <p:ext uri="{BB962C8B-B14F-4D97-AF65-F5344CB8AC3E}">
        <p14:creationId xmlns:p14="http://schemas.microsoft.com/office/powerpoint/2010/main" val="32730960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3200092" y="232128"/>
            <a:ext cx="5498268"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Block Diagram/Methodology</a:t>
            </a:r>
            <a:endParaRPr lang="en-IN" sz="3200" b="1" i="1" dirty="0">
              <a:solidFill>
                <a:srgbClr val="C0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94AFC867-0298-30D9-11F8-9DE4CFF3E008}"/>
              </a:ext>
            </a:extLst>
          </p:cNvPr>
          <p:cNvGrpSpPr/>
          <p:nvPr/>
        </p:nvGrpSpPr>
        <p:grpSpPr>
          <a:xfrm>
            <a:off x="272284" y="1208777"/>
            <a:ext cx="3810000" cy="1790704"/>
            <a:chOff x="476250" y="1190622"/>
            <a:chExt cx="3810000" cy="1790704"/>
          </a:xfrm>
        </p:grpSpPr>
        <p:sp>
          <p:nvSpPr>
            <p:cNvPr id="9" name="Rectangle: Rounded Corners 8">
              <a:extLst>
                <a:ext uri="{FF2B5EF4-FFF2-40B4-BE49-F238E27FC236}">
                  <a16:creationId xmlns:a16="http://schemas.microsoft.com/office/drawing/2014/main" id="{C3A718E1-6B43-38BA-6D64-91469C34E949}"/>
                </a:ext>
              </a:extLst>
            </p:cNvPr>
            <p:cNvSpPr/>
            <p:nvPr/>
          </p:nvSpPr>
          <p:spPr>
            <a:xfrm>
              <a:off x="476250" y="1266229"/>
              <a:ext cx="3809999" cy="1715096"/>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7">
              <a:extLst>
                <a:ext uri="{FF2B5EF4-FFF2-40B4-BE49-F238E27FC236}">
                  <a16:creationId xmlns:a16="http://schemas.microsoft.com/office/drawing/2014/main" id="{F767B282-9427-D063-5BEA-B63FEFE4C5D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78" b="89778" l="5778" r="96444">
                          <a14:foregroundMark x1="11111" y1="35556" x2="10667" y2="47556"/>
                          <a14:foregroundMark x1="6222" y1="40889" x2="7556" y2="46667"/>
                          <a14:foregroundMark x1="90222" y1="34222" x2="96444" y2="37778"/>
                        </a14:backgroundRemoval>
                      </a14:imgEffect>
                    </a14:imgLayer>
                  </a14:imgProps>
                </a:ext>
                <a:ext uri="{28A0092B-C50C-407E-A947-70E740481C1C}">
                  <a14:useLocalDpi xmlns:a14="http://schemas.microsoft.com/office/drawing/2010/main" val="0"/>
                </a:ext>
              </a:extLst>
            </a:blip>
            <a:stretch>
              <a:fillRect/>
            </a:stretch>
          </p:blipFill>
          <p:spPr>
            <a:xfrm>
              <a:off x="2521866" y="1190622"/>
              <a:ext cx="1764384" cy="1790704"/>
            </a:xfrm>
            <a:prstGeom prst="rect">
              <a:avLst/>
            </a:prstGeom>
          </p:spPr>
        </p:pic>
        <p:pic>
          <p:nvPicPr>
            <p:cNvPr id="16" name="Picture 15">
              <a:extLst>
                <a:ext uri="{FF2B5EF4-FFF2-40B4-BE49-F238E27FC236}">
                  <a16:creationId xmlns:a16="http://schemas.microsoft.com/office/drawing/2014/main" id="{912F6F32-B9E4-91A9-F09C-59ABA8C731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399" y="1685925"/>
              <a:ext cx="1298458" cy="875704"/>
            </a:xfrm>
            <a:prstGeom prst="rect">
              <a:avLst/>
            </a:prstGeom>
          </p:spPr>
        </p:pic>
        <p:cxnSp>
          <p:nvCxnSpPr>
            <p:cNvPr id="18" name="Straight Arrow Connector 17">
              <a:extLst>
                <a:ext uri="{FF2B5EF4-FFF2-40B4-BE49-F238E27FC236}">
                  <a16:creationId xmlns:a16="http://schemas.microsoft.com/office/drawing/2014/main" id="{58C8E6AA-44FD-26C2-EC50-457F07136F11}"/>
                </a:ext>
              </a:extLst>
            </p:cNvPr>
            <p:cNvCxnSpPr/>
            <p:nvPr/>
          </p:nvCxnSpPr>
          <p:spPr>
            <a:xfrm>
              <a:off x="1976857" y="2137410"/>
              <a:ext cx="6063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22" name="Straight Arrow Connector 21">
            <a:extLst>
              <a:ext uri="{FF2B5EF4-FFF2-40B4-BE49-F238E27FC236}">
                <a16:creationId xmlns:a16="http://schemas.microsoft.com/office/drawing/2014/main" id="{0CB4A40D-20C9-CBE7-9A3B-9904FC995317}"/>
              </a:ext>
            </a:extLst>
          </p:cNvPr>
          <p:cNvCxnSpPr>
            <a:cxnSpLocks/>
            <a:stCxn id="9" idx="3"/>
            <a:endCxn id="14" idx="1"/>
          </p:cNvCxnSpPr>
          <p:nvPr/>
        </p:nvCxnSpPr>
        <p:spPr>
          <a:xfrm>
            <a:off x="4082283" y="2141932"/>
            <a:ext cx="908712" cy="1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ACA02E0A-EA34-ECBF-62AF-A0371C45D132}"/>
              </a:ext>
            </a:extLst>
          </p:cNvPr>
          <p:cNvGrpSpPr/>
          <p:nvPr/>
        </p:nvGrpSpPr>
        <p:grpSpPr>
          <a:xfrm>
            <a:off x="9062429" y="1260212"/>
            <a:ext cx="2435347" cy="1808143"/>
            <a:chOff x="9098497" y="1276095"/>
            <a:chExt cx="2435347" cy="1808143"/>
          </a:xfrm>
        </p:grpSpPr>
        <p:sp>
          <p:nvSpPr>
            <p:cNvPr id="25" name="Rectangle: Rounded Corners 24">
              <a:extLst>
                <a:ext uri="{FF2B5EF4-FFF2-40B4-BE49-F238E27FC236}">
                  <a16:creationId xmlns:a16="http://schemas.microsoft.com/office/drawing/2014/main" id="{CFB5F478-FD11-EC81-EA81-128C5A7303BA}"/>
                </a:ext>
              </a:extLst>
            </p:cNvPr>
            <p:cNvSpPr/>
            <p:nvPr/>
          </p:nvSpPr>
          <p:spPr>
            <a:xfrm>
              <a:off x="9098497" y="1276095"/>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TextBox 27">
              <a:extLst>
                <a:ext uri="{FF2B5EF4-FFF2-40B4-BE49-F238E27FC236}">
                  <a16:creationId xmlns:a16="http://schemas.microsoft.com/office/drawing/2014/main" id="{50964B1D-D6A0-1AFA-821B-C02B5DE1E96A}"/>
                </a:ext>
              </a:extLst>
            </p:cNvPr>
            <p:cNvSpPr txBox="1"/>
            <p:nvPr/>
          </p:nvSpPr>
          <p:spPr>
            <a:xfrm>
              <a:off x="9309407" y="1537245"/>
              <a:ext cx="2013528"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Global Coordinates of Anomaly </a:t>
              </a:r>
              <a:endParaRPr lang="en-IN" sz="2400" dirty="0">
                <a:latin typeface="Times New Roman" panose="02020603050405020304" pitchFamily="18" charset="0"/>
                <a:cs typeface="Times New Roman" panose="02020603050405020304" pitchFamily="18" charset="0"/>
              </a:endParaRPr>
            </a:p>
          </p:txBody>
        </p:sp>
      </p:grpSp>
      <p:cxnSp>
        <p:nvCxnSpPr>
          <p:cNvPr id="33" name="Straight Arrow Connector 32">
            <a:extLst>
              <a:ext uri="{FF2B5EF4-FFF2-40B4-BE49-F238E27FC236}">
                <a16:creationId xmlns:a16="http://schemas.microsoft.com/office/drawing/2014/main" id="{D9630202-EDE1-31F6-7F26-301435FEA88A}"/>
              </a:ext>
            </a:extLst>
          </p:cNvPr>
          <p:cNvCxnSpPr>
            <a:cxnSpLocks/>
            <a:stCxn id="14" idx="3"/>
            <a:endCxn id="25" idx="1"/>
          </p:cNvCxnSpPr>
          <p:nvPr/>
        </p:nvCxnSpPr>
        <p:spPr>
          <a:xfrm>
            <a:off x="7603629" y="2155565"/>
            <a:ext cx="1458800" cy="8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4BA8CC45-D520-5B9B-B870-F61B4DC35AD9}"/>
              </a:ext>
            </a:extLst>
          </p:cNvPr>
          <p:cNvGrpSpPr/>
          <p:nvPr/>
        </p:nvGrpSpPr>
        <p:grpSpPr>
          <a:xfrm>
            <a:off x="9062430" y="4094967"/>
            <a:ext cx="2435347" cy="1808143"/>
            <a:chOff x="9098498" y="1266050"/>
            <a:chExt cx="2435347" cy="1808143"/>
          </a:xfrm>
        </p:grpSpPr>
        <p:sp>
          <p:nvSpPr>
            <p:cNvPr id="36" name="Rectangle: Rounded Corners 35">
              <a:extLst>
                <a:ext uri="{FF2B5EF4-FFF2-40B4-BE49-F238E27FC236}">
                  <a16:creationId xmlns:a16="http://schemas.microsoft.com/office/drawing/2014/main" id="{2C8E373B-6CE4-07B8-286B-45D871438BFF}"/>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a:extLst>
                <a:ext uri="{FF2B5EF4-FFF2-40B4-BE49-F238E27FC236}">
                  <a16:creationId xmlns:a16="http://schemas.microsoft.com/office/drawing/2014/main" id="{CC25E60F-6E15-1062-46F2-B7D72362221B}"/>
                </a:ext>
              </a:extLst>
            </p:cNvPr>
            <p:cNvSpPr txBox="1"/>
            <p:nvPr/>
          </p:nvSpPr>
          <p:spPr>
            <a:xfrm>
              <a:off x="9309407" y="1385291"/>
              <a:ext cx="2013528" cy="1569660"/>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Path Planning algorithms to reach those coordinates</a:t>
              </a:r>
              <a:endParaRPr lang="en-IN" sz="2400" dirty="0">
                <a:latin typeface="Times New Roman" panose="02020603050405020304" pitchFamily="18" charset="0"/>
                <a:cs typeface="Times New Roman" panose="02020603050405020304" pitchFamily="18" charset="0"/>
              </a:endParaRPr>
            </a:p>
          </p:txBody>
        </p:sp>
      </p:grpSp>
      <p:grpSp>
        <p:nvGrpSpPr>
          <p:cNvPr id="38" name="Group 37">
            <a:extLst>
              <a:ext uri="{FF2B5EF4-FFF2-40B4-BE49-F238E27FC236}">
                <a16:creationId xmlns:a16="http://schemas.microsoft.com/office/drawing/2014/main" id="{3826E07C-7822-2D41-8D6F-08C1B4033A51}"/>
              </a:ext>
            </a:extLst>
          </p:cNvPr>
          <p:cNvGrpSpPr/>
          <p:nvPr/>
        </p:nvGrpSpPr>
        <p:grpSpPr>
          <a:xfrm>
            <a:off x="5257048" y="4112336"/>
            <a:ext cx="2435347" cy="1808143"/>
            <a:chOff x="9098498" y="1266050"/>
            <a:chExt cx="2435347" cy="1808143"/>
          </a:xfrm>
        </p:grpSpPr>
        <p:sp>
          <p:nvSpPr>
            <p:cNvPr id="39" name="Rectangle: Rounded Corners 38">
              <a:extLst>
                <a:ext uri="{FF2B5EF4-FFF2-40B4-BE49-F238E27FC236}">
                  <a16:creationId xmlns:a16="http://schemas.microsoft.com/office/drawing/2014/main" id="{8E6FF315-48F6-C16E-8BE7-388D6F6418E4}"/>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TextBox 39">
              <a:extLst>
                <a:ext uri="{FF2B5EF4-FFF2-40B4-BE49-F238E27FC236}">
                  <a16:creationId xmlns:a16="http://schemas.microsoft.com/office/drawing/2014/main" id="{DA6E4EA5-E73A-2320-8C64-8284618C9459}"/>
                </a:ext>
              </a:extLst>
            </p:cNvPr>
            <p:cNvSpPr txBox="1"/>
            <p:nvPr/>
          </p:nvSpPr>
          <p:spPr>
            <a:xfrm>
              <a:off x="9309407" y="1385291"/>
              <a:ext cx="2013528" cy="1569660"/>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Send Coordinates to Drone Flight controller</a:t>
              </a:r>
              <a:endParaRPr lang="en-IN" sz="2400" dirty="0">
                <a:latin typeface="Times New Roman" panose="02020603050405020304" pitchFamily="18" charset="0"/>
                <a:cs typeface="Times New Roman" panose="02020603050405020304" pitchFamily="18" charset="0"/>
              </a:endParaRPr>
            </a:p>
          </p:txBody>
        </p:sp>
      </p:grpSp>
      <p:cxnSp>
        <p:nvCxnSpPr>
          <p:cNvPr id="42" name="Straight Arrow Connector 41">
            <a:extLst>
              <a:ext uri="{FF2B5EF4-FFF2-40B4-BE49-F238E27FC236}">
                <a16:creationId xmlns:a16="http://schemas.microsoft.com/office/drawing/2014/main" id="{19D54E00-DE7E-40F1-0C52-DF8EFAA8B635}"/>
              </a:ext>
            </a:extLst>
          </p:cNvPr>
          <p:cNvCxnSpPr>
            <a:stCxn id="25" idx="2"/>
            <a:endCxn id="36" idx="0"/>
          </p:cNvCxnSpPr>
          <p:nvPr/>
        </p:nvCxnSpPr>
        <p:spPr>
          <a:xfrm>
            <a:off x="10280103" y="3068355"/>
            <a:ext cx="1" cy="10266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7EACC6B-6629-2EEE-4E5F-1A807B8DF110}"/>
              </a:ext>
            </a:extLst>
          </p:cNvPr>
          <p:cNvCxnSpPr>
            <a:stCxn id="36" idx="1"/>
            <a:endCxn id="39" idx="3"/>
          </p:cNvCxnSpPr>
          <p:nvPr/>
        </p:nvCxnSpPr>
        <p:spPr>
          <a:xfrm flipH="1">
            <a:off x="7692395" y="4999039"/>
            <a:ext cx="1370035" cy="17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1425CAE-ADFD-24A1-00B6-19594DE8B815}"/>
              </a:ext>
            </a:extLst>
          </p:cNvPr>
          <p:cNvSpPr txBox="1"/>
          <p:nvPr/>
        </p:nvSpPr>
        <p:spPr>
          <a:xfrm>
            <a:off x="1130445" y="3677329"/>
            <a:ext cx="317160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Reach the Coordinates</a:t>
            </a:r>
            <a:endParaRPr lang="en-IN" sz="2400" dirty="0">
              <a:latin typeface="Times New Roman" panose="02020603050405020304" pitchFamily="18" charset="0"/>
              <a:cs typeface="Times New Roman" panose="02020603050405020304" pitchFamily="18" charset="0"/>
            </a:endParaRPr>
          </a:p>
        </p:txBody>
      </p:sp>
      <p:grpSp>
        <p:nvGrpSpPr>
          <p:cNvPr id="51" name="Group 50">
            <a:extLst>
              <a:ext uri="{FF2B5EF4-FFF2-40B4-BE49-F238E27FC236}">
                <a16:creationId xmlns:a16="http://schemas.microsoft.com/office/drawing/2014/main" id="{2332997A-1C07-F3C2-B6B1-3DD74E2976F3}"/>
              </a:ext>
            </a:extLst>
          </p:cNvPr>
          <p:cNvGrpSpPr/>
          <p:nvPr/>
        </p:nvGrpSpPr>
        <p:grpSpPr>
          <a:xfrm>
            <a:off x="1498573" y="4112336"/>
            <a:ext cx="2435347" cy="1808143"/>
            <a:chOff x="1796387" y="4112336"/>
            <a:chExt cx="2435347" cy="1808143"/>
          </a:xfrm>
        </p:grpSpPr>
        <p:sp>
          <p:nvSpPr>
            <p:cNvPr id="47" name="Rectangle: Rounded Corners 46">
              <a:extLst>
                <a:ext uri="{FF2B5EF4-FFF2-40B4-BE49-F238E27FC236}">
                  <a16:creationId xmlns:a16="http://schemas.microsoft.com/office/drawing/2014/main" id="{B584A34A-D8EE-99E9-8F3C-E1BBC09A31A3}"/>
                </a:ext>
              </a:extLst>
            </p:cNvPr>
            <p:cNvSpPr/>
            <p:nvPr/>
          </p:nvSpPr>
          <p:spPr>
            <a:xfrm>
              <a:off x="1796387" y="4112336"/>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0" name="Picture 49">
              <a:extLst>
                <a:ext uri="{FF2B5EF4-FFF2-40B4-BE49-F238E27FC236}">
                  <a16:creationId xmlns:a16="http://schemas.microsoft.com/office/drawing/2014/main" id="{A9353F89-16CC-D681-0898-3408FF988A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4642" y="4412668"/>
              <a:ext cx="1788416" cy="1190110"/>
            </a:xfrm>
            <a:prstGeom prst="rect">
              <a:avLst/>
            </a:prstGeom>
          </p:spPr>
        </p:pic>
      </p:grpSp>
      <p:cxnSp>
        <p:nvCxnSpPr>
          <p:cNvPr id="53" name="Straight Arrow Connector 52">
            <a:extLst>
              <a:ext uri="{FF2B5EF4-FFF2-40B4-BE49-F238E27FC236}">
                <a16:creationId xmlns:a16="http://schemas.microsoft.com/office/drawing/2014/main" id="{4271C376-2DA2-7A9C-957A-4A509194301E}"/>
              </a:ext>
            </a:extLst>
          </p:cNvPr>
          <p:cNvCxnSpPr>
            <a:stCxn id="39" idx="1"/>
            <a:endCxn id="47" idx="3"/>
          </p:cNvCxnSpPr>
          <p:nvPr/>
        </p:nvCxnSpPr>
        <p:spPr>
          <a:xfrm flipH="1">
            <a:off x="3933920" y="5016408"/>
            <a:ext cx="1323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B6E4E4EE-3EBB-4DC8-DA1E-2883C106C59D}"/>
              </a:ext>
            </a:extLst>
          </p:cNvPr>
          <p:cNvGrpSpPr/>
          <p:nvPr/>
        </p:nvGrpSpPr>
        <p:grpSpPr>
          <a:xfrm>
            <a:off x="4711511" y="1260212"/>
            <a:ext cx="3171602" cy="1790705"/>
            <a:chOff x="4711511" y="1260212"/>
            <a:chExt cx="3171602" cy="1790705"/>
          </a:xfrm>
        </p:grpSpPr>
        <p:sp>
          <p:nvSpPr>
            <p:cNvPr id="14" name="Rectangle: Rounded Corners 13">
              <a:extLst>
                <a:ext uri="{FF2B5EF4-FFF2-40B4-BE49-F238E27FC236}">
                  <a16:creationId xmlns:a16="http://schemas.microsoft.com/office/drawing/2014/main" id="{FC162ADE-89FB-45AD-CF28-30AA8CE77AB9}"/>
                </a:ext>
              </a:extLst>
            </p:cNvPr>
            <p:cNvSpPr/>
            <p:nvPr/>
          </p:nvSpPr>
          <p:spPr>
            <a:xfrm>
              <a:off x="4990995" y="1260212"/>
              <a:ext cx="2612634" cy="1790705"/>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6A3F55C3-0E93-BC49-BD1B-69CF34168379}"/>
                    </a:ext>
                  </a:extLst>
                </p:cNvPr>
                <p:cNvGraphicFramePr>
                  <a:graphicFrameLocks noChangeAspect="1"/>
                </p:cNvGraphicFramePr>
                <p:nvPr>
                  <p:extLst>
                    <p:ext uri="{D42A27DB-BD31-4B8C-83A1-F6EECF244321}">
                      <p14:modId xmlns:p14="http://schemas.microsoft.com/office/powerpoint/2010/main" val="2988633567"/>
                    </p:ext>
                  </p:extLst>
                </p:nvPr>
              </p:nvGraphicFramePr>
              <p:xfrm>
                <a:off x="5517780" y="1527283"/>
                <a:ext cx="1622904" cy="1060946"/>
              </p:xfrm>
              <a:graphic>
                <a:graphicData uri="http://schemas.microsoft.com/office/powerpoint/2016/slidezoom">
                  <pslz:sldZm>
                    <pslz:sldZmObj sldId="903" cId="1300725762">
                      <pslz:zmPr id="{E2C0F6EF-CEF1-4106-86A2-E9A35A0F88C0}" transitionDur="1000" showBg="0">
                        <p166:blipFill xmlns:p166="http://schemas.microsoft.com/office/powerpoint/2016/6/main">
                          <a:blip r:embed="rId6"/>
                          <a:stretch>
                            <a:fillRect/>
                          </a:stretch>
                        </p166:blipFill>
                        <p166:spPr xmlns:p166="http://schemas.microsoft.com/office/powerpoint/2016/6/main">
                          <a:xfrm>
                            <a:off x="0" y="0"/>
                            <a:ext cx="1622904" cy="1060946"/>
                          </a:xfrm>
                          <a:prstGeom prst="rect">
                            <a:avLst/>
                          </a:prstGeom>
                        </p166:spPr>
                      </pslz:zmPr>
                    </pslz:sldZmObj>
                  </pslz:sldZm>
                </a:graphicData>
              </a:graphic>
            </p:graphicFrame>
          </mc:Choice>
          <mc:Fallback xmlns="">
            <p:pic>
              <p:nvPicPr>
                <p:cNvPr id="15" name="Slide Zoom 14">
                  <a:hlinkClick r:id="rId7" action="ppaction://hlinksldjump"/>
                  <a:extLst>
                    <a:ext uri="{FF2B5EF4-FFF2-40B4-BE49-F238E27FC236}">
                      <a16:creationId xmlns:a16="http://schemas.microsoft.com/office/drawing/2014/main" id="{6A3F55C3-0E93-BC49-BD1B-69CF34168379}"/>
                    </a:ext>
                  </a:extLst>
                </p:cNvPr>
                <p:cNvPicPr>
                  <a:picLocks noGrp="1" noRot="1" noChangeAspect="1" noMove="1" noResize="1" noEditPoints="1" noAdjustHandles="1" noChangeArrowheads="1" noChangeShapeType="1"/>
                </p:cNvPicPr>
                <p:nvPr/>
              </p:nvPicPr>
              <p:blipFill>
                <a:blip r:embed="rId8"/>
                <a:stretch>
                  <a:fillRect/>
                </a:stretch>
              </p:blipFill>
              <p:spPr>
                <a:xfrm>
                  <a:off x="5517780" y="1527283"/>
                  <a:ext cx="1622904" cy="1060946"/>
                </a:xfrm>
                <a:prstGeom prst="rect">
                  <a:avLst/>
                </a:prstGeom>
              </p:spPr>
            </p:pic>
          </mc:Fallback>
        </mc:AlternateContent>
        <p:sp>
          <p:nvSpPr>
            <p:cNvPr id="56" name="TextBox 55">
              <a:extLst>
                <a:ext uri="{FF2B5EF4-FFF2-40B4-BE49-F238E27FC236}">
                  <a16:creationId xmlns:a16="http://schemas.microsoft.com/office/drawing/2014/main" id="{B4E60489-77DE-F3FA-F290-744AEE74A32B}"/>
                </a:ext>
              </a:extLst>
            </p:cNvPr>
            <p:cNvSpPr txBox="1"/>
            <p:nvPr/>
          </p:nvSpPr>
          <p:spPr>
            <a:xfrm>
              <a:off x="4711511" y="2522804"/>
              <a:ext cx="317160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Deep Learning Model</a:t>
              </a:r>
              <a:endParaRPr lang="en-IN"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29358804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B1">
            <a:extLst>
              <a:ext uri="{FF2B5EF4-FFF2-40B4-BE49-F238E27FC236}">
                <a16:creationId xmlns:a16="http://schemas.microsoft.com/office/drawing/2014/main" id="{096B6CDF-480E-2E74-5BDB-5E5DF8C017A6}"/>
              </a:ext>
            </a:extLst>
          </p:cNvPr>
          <p:cNvSpPr>
            <a:spLocks noGrp="1"/>
          </p:cNvSpPr>
          <p:nvPr>
            <p:ph type="title"/>
          </p:nvPr>
        </p:nvSpPr>
        <p:spPr>
          <a:xfrm>
            <a:off x="3601106" y="1166277"/>
            <a:ext cx="5498268" cy="456628"/>
          </a:xfrm>
        </p:spPr>
        <p:txBody>
          <a:bodyPr>
            <a:noAutofit/>
          </a:bodyPr>
          <a:lstStyle/>
          <a:p>
            <a:r>
              <a:rPr lang="en-US" sz="3200" b="1" i="1" u="sng" dirty="0">
                <a:solidFill>
                  <a:srgbClr val="B6114D"/>
                </a:solidFill>
                <a:latin typeface="Times New Roman" panose="02020603050405020304" pitchFamily="18" charset="0"/>
                <a:cs typeface="Times New Roman" panose="02020603050405020304" pitchFamily="18" charset="0"/>
              </a:rPr>
              <a:t>Block Diagram/Methodology</a:t>
            </a:r>
            <a:endParaRPr lang="en-IN" sz="3200" b="1" i="1" u="sng" dirty="0">
              <a:solidFill>
                <a:srgbClr val="B6114D"/>
              </a:solidFill>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74868DDA-AFEA-7D5E-21FD-5C891CA5AFE0}"/>
              </a:ext>
            </a:extLst>
          </p:cNvPr>
          <p:cNvCxnSpPr>
            <a:cxnSpLocks/>
            <a:stCxn id="19" idx="3"/>
            <a:endCxn id="11" idx="1"/>
          </p:cNvCxnSpPr>
          <p:nvPr/>
        </p:nvCxnSpPr>
        <p:spPr>
          <a:xfrm>
            <a:off x="3250940" y="3497858"/>
            <a:ext cx="1235539" cy="1890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CAE9C26A-9945-91AC-C41E-906FDD4EBA74}"/>
              </a:ext>
            </a:extLst>
          </p:cNvPr>
          <p:cNvCxnSpPr>
            <a:cxnSpLocks/>
            <a:stCxn id="11" idx="3"/>
            <a:endCxn id="13" idx="1"/>
          </p:cNvCxnSpPr>
          <p:nvPr/>
        </p:nvCxnSpPr>
        <p:spPr>
          <a:xfrm flipV="1">
            <a:off x="7882359" y="3497860"/>
            <a:ext cx="1217015" cy="1890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 name="Rectangle: Rounded Corners 10">
            <a:extLst>
              <a:ext uri="{FF2B5EF4-FFF2-40B4-BE49-F238E27FC236}">
                <a16:creationId xmlns:a16="http://schemas.microsoft.com/office/drawing/2014/main" id="{1DD1A601-B264-B49F-739C-41C1335072BA}"/>
              </a:ext>
            </a:extLst>
          </p:cNvPr>
          <p:cNvSpPr/>
          <p:nvPr/>
        </p:nvSpPr>
        <p:spPr>
          <a:xfrm>
            <a:off x="4486479" y="2339603"/>
            <a:ext cx="3395880" cy="2354317"/>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2" name="Group 11">
            <a:extLst>
              <a:ext uri="{FF2B5EF4-FFF2-40B4-BE49-F238E27FC236}">
                <a16:creationId xmlns:a16="http://schemas.microsoft.com/office/drawing/2014/main" id="{79E210A8-AEA0-B02B-5948-088AEC892937}"/>
              </a:ext>
            </a:extLst>
          </p:cNvPr>
          <p:cNvGrpSpPr/>
          <p:nvPr/>
        </p:nvGrpSpPr>
        <p:grpSpPr>
          <a:xfrm>
            <a:off x="9099374" y="2697419"/>
            <a:ext cx="2435347" cy="1600881"/>
            <a:chOff x="9099374" y="2697419"/>
            <a:chExt cx="2435347" cy="1600881"/>
          </a:xfrm>
        </p:grpSpPr>
        <p:sp>
          <p:nvSpPr>
            <p:cNvPr id="13" name="Rectangle: Rounded Corners 12">
              <a:extLst>
                <a:ext uri="{FF2B5EF4-FFF2-40B4-BE49-F238E27FC236}">
                  <a16:creationId xmlns:a16="http://schemas.microsoft.com/office/drawing/2014/main" id="{261EE5BD-DBF5-E83D-2C75-47D1C3D6787B}"/>
                </a:ext>
              </a:extLst>
            </p:cNvPr>
            <p:cNvSpPr/>
            <p:nvPr/>
          </p:nvSpPr>
          <p:spPr>
            <a:xfrm>
              <a:off x="9099374" y="2697419"/>
              <a:ext cx="2435347" cy="1600881"/>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a:extLst>
                <a:ext uri="{FF2B5EF4-FFF2-40B4-BE49-F238E27FC236}">
                  <a16:creationId xmlns:a16="http://schemas.microsoft.com/office/drawing/2014/main" id="{47E5BC9E-10A8-AF61-320F-8E736FBF61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39711" y="2697420"/>
              <a:ext cx="2354672" cy="1569780"/>
            </a:xfrm>
            <a:prstGeom prst="rect">
              <a:avLst/>
            </a:prstGeom>
            <a:ln>
              <a:noFill/>
            </a:ln>
            <a:effectLst>
              <a:softEdge rad="112500"/>
            </a:effectLst>
          </p:spPr>
        </p:pic>
      </p:grpSp>
      <p:sp>
        <p:nvSpPr>
          <p:cNvPr id="15" name="TextBox 14">
            <a:extLst>
              <a:ext uri="{FF2B5EF4-FFF2-40B4-BE49-F238E27FC236}">
                <a16:creationId xmlns:a16="http://schemas.microsoft.com/office/drawing/2014/main" id="{F8EA9570-6FE7-36BF-3596-7A955B987728}"/>
              </a:ext>
            </a:extLst>
          </p:cNvPr>
          <p:cNvSpPr txBox="1"/>
          <p:nvPr/>
        </p:nvSpPr>
        <p:spPr>
          <a:xfrm>
            <a:off x="816305" y="4370754"/>
            <a:ext cx="1834748"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Autonomous Mission Plan</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B37AF4C-1F73-0166-D02B-91F249616004}"/>
              </a:ext>
            </a:extLst>
          </p:cNvPr>
          <p:cNvSpPr txBox="1"/>
          <p:nvPr/>
        </p:nvSpPr>
        <p:spPr>
          <a:xfrm>
            <a:off x="5178626" y="4741400"/>
            <a:ext cx="183474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AI and Algorithm</a:t>
            </a:r>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B0A1124C-41A7-D8EF-888E-5D97F615F9B4}"/>
              </a:ext>
            </a:extLst>
          </p:cNvPr>
          <p:cNvSpPr txBox="1"/>
          <p:nvPr/>
        </p:nvSpPr>
        <p:spPr>
          <a:xfrm>
            <a:off x="9399673" y="4324588"/>
            <a:ext cx="183474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2E5C70F8-1ED0-230E-BEEE-37E11522A7A3}"/>
              </a:ext>
            </a:extLst>
          </p:cNvPr>
          <p:cNvSpPr/>
          <p:nvPr/>
        </p:nvSpPr>
        <p:spPr>
          <a:xfrm>
            <a:off x="216419" y="2562481"/>
            <a:ext cx="3034521" cy="1870754"/>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mc:Choice xmlns:pslz="http://schemas.microsoft.com/office/powerpoint/2016/slidezoom" Requires="pslz">
          <p:graphicFrame>
            <p:nvGraphicFramePr>
              <p:cNvPr id="23" name="Slide Zoom 22">
                <a:extLst>
                  <a:ext uri="{FF2B5EF4-FFF2-40B4-BE49-F238E27FC236}">
                    <a16:creationId xmlns:a16="http://schemas.microsoft.com/office/drawing/2014/main" id="{FB78B93D-0299-60A3-EF11-459CBBBA66D9}"/>
                  </a:ext>
                </a:extLst>
              </p:cNvPr>
              <p:cNvGraphicFramePr>
                <a:graphicFrameLocks noChangeAspect="1"/>
              </p:cNvGraphicFramePr>
              <p:nvPr>
                <p:extLst>
                  <p:ext uri="{D42A27DB-BD31-4B8C-83A1-F6EECF244321}">
                    <p14:modId xmlns:p14="http://schemas.microsoft.com/office/powerpoint/2010/main" val="4205326427"/>
                  </p:ext>
                </p:extLst>
              </p:nvPr>
            </p:nvGraphicFramePr>
            <p:xfrm>
              <a:off x="415091" y="2756670"/>
              <a:ext cx="2635336" cy="1482376"/>
            </p:xfrm>
            <a:graphic>
              <a:graphicData uri="http://schemas.microsoft.com/office/powerpoint/2016/slidezoom">
                <pslz:sldZm>
                  <pslz:sldZmObj sldId="930" cId="3541983405">
                    <pslz:zmPr id="{77A714D9-6CA8-49BC-9F99-7CDE6C07E8A4}" returnToParent="0" transitionDur="1000" showBg="0">
                      <p166:blipFill xmlns:p166="http://schemas.microsoft.com/office/powerpoint/2016/6/main">
                        <a:blip r:embed="rId3"/>
                        <a:stretch>
                          <a:fillRect/>
                        </a:stretch>
                      </p166:blipFill>
                      <p166:spPr xmlns:p166="http://schemas.microsoft.com/office/powerpoint/2016/6/main">
                        <a:xfrm>
                          <a:off x="0" y="0"/>
                          <a:ext cx="2635336" cy="1482376"/>
                        </a:xfrm>
                        <a:prstGeom prst="rect">
                          <a:avLst/>
                        </a:prstGeom>
                      </p166:spPr>
                    </pslz:zmPr>
                  </pslz:sldZmObj>
                </pslz:sldZm>
              </a:graphicData>
            </a:graphic>
          </p:graphicFrame>
        </mc:Choice>
        <mc:Fallback>
          <p:pic>
            <p:nvPicPr>
              <p:cNvPr id="23" name="Slide Zoom 22">
                <a:hlinkClick r:id="rId4" action="ppaction://hlinksldjump"/>
                <a:extLst>
                  <a:ext uri="{FF2B5EF4-FFF2-40B4-BE49-F238E27FC236}">
                    <a16:creationId xmlns:a16="http://schemas.microsoft.com/office/drawing/2014/main" id="{FB78B93D-0299-60A3-EF11-459CBBBA66D9}"/>
                  </a:ext>
                </a:extLst>
              </p:cNvPr>
              <p:cNvPicPr>
                <a:picLocks noGrp="1" noRot="1" noChangeAspect="1" noMove="1" noResize="1" noEditPoints="1" noAdjustHandles="1" noChangeArrowheads="1" noChangeShapeType="1"/>
              </p:cNvPicPr>
              <p:nvPr/>
            </p:nvPicPr>
            <p:blipFill>
              <a:blip r:embed="rId3"/>
              <a:stretch>
                <a:fillRect/>
              </a:stretch>
            </p:blipFill>
            <p:spPr>
              <a:xfrm>
                <a:off x="415091" y="2756670"/>
                <a:ext cx="2635336" cy="148237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25" name="Slide Zoom 24">
                <a:extLst>
                  <a:ext uri="{FF2B5EF4-FFF2-40B4-BE49-F238E27FC236}">
                    <a16:creationId xmlns:a16="http://schemas.microsoft.com/office/drawing/2014/main" id="{C2FCEA92-14D0-8928-34AD-D3ADAEC360E3}"/>
                  </a:ext>
                </a:extLst>
              </p:cNvPr>
              <p:cNvGraphicFramePr>
                <a:graphicFrameLocks noChangeAspect="1"/>
              </p:cNvGraphicFramePr>
              <p:nvPr>
                <p:extLst>
                  <p:ext uri="{D42A27DB-BD31-4B8C-83A1-F6EECF244321}">
                    <p14:modId xmlns:p14="http://schemas.microsoft.com/office/powerpoint/2010/main" val="565320588"/>
                  </p:ext>
                </p:extLst>
              </p:nvPr>
            </p:nvGraphicFramePr>
            <p:xfrm>
              <a:off x="4686992" y="2640608"/>
              <a:ext cx="3048000" cy="1714500"/>
            </p:xfrm>
            <a:graphic>
              <a:graphicData uri="http://schemas.microsoft.com/office/powerpoint/2016/slidezoom">
                <pslz:sldZm>
                  <pslz:sldZmObj sldId="932" cId="212362710">
                    <pslz:zmPr id="{6EEAB525-227A-46B9-AEF6-565C0AEA2188}" returnToParent="0" transitionDur="1000" showBg="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p166:spPr>
                    </pslz:zmPr>
                  </pslz:sldZmObj>
                </pslz:sldZm>
              </a:graphicData>
            </a:graphic>
          </p:graphicFrame>
        </mc:Choice>
        <mc:Fallback>
          <p:pic>
            <p:nvPicPr>
              <p:cNvPr id="25" name="Slide Zoom 24">
                <a:hlinkClick r:id="rId6" action="ppaction://hlinksldjump"/>
                <a:extLst>
                  <a:ext uri="{FF2B5EF4-FFF2-40B4-BE49-F238E27FC236}">
                    <a16:creationId xmlns:a16="http://schemas.microsoft.com/office/drawing/2014/main" id="{C2FCEA92-14D0-8928-34AD-D3ADAEC360E3}"/>
                  </a:ext>
                </a:extLst>
              </p:cNvPr>
              <p:cNvPicPr>
                <a:picLocks noGrp="1" noRot="1" noChangeAspect="1" noMove="1" noResize="1" noEditPoints="1" noAdjustHandles="1" noChangeArrowheads="1" noChangeShapeType="1"/>
              </p:cNvPicPr>
              <p:nvPr/>
            </p:nvPicPr>
            <p:blipFill>
              <a:blip r:embed="rId5"/>
              <a:stretch>
                <a:fillRect/>
              </a:stretch>
            </p:blipFill>
            <p:spPr>
              <a:xfrm>
                <a:off x="4686992" y="2640608"/>
                <a:ext cx="3048000" cy="1714500"/>
              </a:xfrm>
              <a:prstGeom prst="rect">
                <a:avLst/>
              </a:prstGeom>
            </p:spPr>
          </p:pic>
        </mc:Fallback>
      </mc:AlternateContent>
    </p:spTree>
    <p:extLst>
      <p:ext uri="{BB962C8B-B14F-4D97-AF65-F5344CB8AC3E}">
        <p14:creationId xmlns:p14="http://schemas.microsoft.com/office/powerpoint/2010/main" val="317077304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ED8F758-E0A1-4AEE-0102-1456315ED044}"/>
              </a:ext>
            </a:extLst>
          </p:cNvPr>
          <p:cNvSpPr>
            <a:spLocks noGrp="1"/>
          </p:cNvSpPr>
          <p:nvPr>
            <p:ph type="title"/>
          </p:nvPr>
        </p:nvSpPr>
        <p:spPr>
          <a:xfrm>
            <a:off x="3617884" y="821093"/>
            <a:ext cx="4734174" cy="456628"/>
          </a:xfrm>
        </p:spPr>
        <p:txBody>
          <a:bodyPr>
            <a:noAutofit/>
          </a:bodyPr>
          <a:lstStyle/>
          <a:p>
            <a:r>
              <a:rPr lang="en-US" sz="3200" b="1" i="1" u="sng" dirty="0">
                <a:solidFill>
                  <a:srgbClr val="B6114D"/>
                </a:solidFill>
                <a:latin typeface="Times New Roman" panose="02020603050405020304" pitchFamily="18" charset="0"/>
                <a:cs typeface="Times New Roman" panose="02020603050405020304" pitchFamily="18" charset="0"/>
              </a:rPr>
              <a:t>Autonomous Mission Plan</a:t>
            </a:r>
            <a:endParaRPr lang="en-IN" sz="3200" b="1" i="1" u="sng" dirty="0">
              <a:solidFill>
                <a:srgbClr val="B6114D"/>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5203CD8-4DF8-C14B-B5B9-130990FFAD9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778" b="89778" l="5778" r="96444">
                        <a14:foregroundMark x1="11111" y1="35556" x2="10667" y2="47556"/>
                        <a14:foregroundMark x1="6222" y1="40889" x2="7556" y2="46667"/>
                        <a14:foregroundMark x1="90222" y1="34222" x2="96444" y2="37778"/>
                      </a14:backgroundRemoval>
                    </a14:imgEffect>
                  </a14:imgLayer>
                </a14:imgProps>
              </a:ext>
              <a:ext uri="{28A0092B-C50C-407E-A947-70E740481C1C}">
                <a14:useLocalDpi xmlns:a14="http://schemas.microsoft.com/office/drawing/2010/main" val="0"/>
              </a:ext>
            </a:extLst>
          </a:blip>
          <a:stretch>
            <a:fillRect/>
          </a:stretch>
        </p:blipFill>
        <p:spPr>
          <a:xfrm>
            <a:off x="4404628" y="1630462"/>
            <a:ext cx="2789576" cy="3239628"/>
          </a:xfrm>
          <a:prstGeom prst="rect">
            <a:avLst/>
          </a:prstGeom>
        </p:spPr>
      </p:pic>
      <p:cxnSp>
        <p:nvCxnSpPr>
          <p:cNvPr id="10" name="Straight Arrow Connector 9">
            <a:extLst>
              <a:ext uri="{FF2B5EF4-FFF2-40B4-BE49-F238E27FC236}">
                <a16:creationId xmlns:a16="http://schemas.microsoft.com/office/drawing/2014/main" id="{FC6E80D0-4FBB-2921-1CE3-C5972ABAD84D}"/>
              </a:ext>
            </a:extLst>
          </p:cNvPr>
          <p:cNvCxnSpPr>
            <a:cxnSpLocks/>
            <a:stCxn id="12" idx="3"/>
          </p:cNvCxnSpPr>
          <p:nvPr/>
        </p:nvCxnSpPr>
        <p:spPr>
          <a:xfrm>
            <a:off x="3617884" y="3250276"/>
            <a:ext cx="89408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841FDE8F-EF52-74D9-17E5-9318BF554A23}"/>
              </a:ext>
            </a:extLst>
          </p:cNvPr>
          <p:cNvCxnSpPr>
            <a:cxnSpLocks/>
          </p:cNvCxnSpPr>
          <p:nvPr/>
        </p:nvCxnSpPr>
        <p:spPr>
          <a:xfrm>
            <a:off x="7082444" y="3250276"/>
            <a:ext cx="99568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BF593C90-6612-F3B1-E04F-632C2BB7E0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9626" y="2095886"/>
            <a:ext cx="3298258" cy="2308780"/>
          </a:xfrm>
          <a:prstGeom prst="rect">
            <a:avLst/>
          </a:prstGeom>
          <a:ln w="228600" cap="sq" cmpd="thickThin">
            <a:noFill/>
            <a:prstDash val="solid"/>
            <a:miter lim="800000"/>
          </a:ln>
          <a:effectLst>
            <a:innerShdw blurRad="76200">
              <a:srgbClr val="000000"/>
            </a:innerShdw>
          </a:effectLst>
        </p:spPr>
      </p:pic>
      <p:pic>
        <p:nvPicPr>
          <p:cNvPr id="13" name="Agriculture Smart Farming Technology Industry 40concept Stock Footage Video (100% Royalty-free) 1059005834">
            <a:hlinkClick r:id="" action="ppaction://media"/>
            <a:extLst>
              <a:ext uri="{FF2B5EF4-FFF2-40B4-BE49-F238E27FC236}">
                <a16:creationId xmlns:a16="http://schemas.microsoft.com/office/drawing/2014/main" id="{55993CC6-2475-8D09-538D-FD409E935D94}"/>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189884" y="2203796"/>
            <a:ext cx="3712314" cy="2092960"/>
          </a:xfrm>
          <a:prstGeom prst="rect">
            <a:avLst/>
          </a:prstGeom>
        </p:spPr>
      </p:pic>
      <p:sp>
        <p:nvSpPr>
          <p:cNvPr id="14" name="TextBox 13">
            <a:extLst>
              <a:ext uri="{FF2B5EF4-FFF2-40B4-BE49-F238E27FC236}">
                <a16:creationId xmlns:a16="http://schemas.microsoft.com/office/drawing/2014/main" id="{68BE171B-1452-5138-49DD-BA7239BCAA51}"/>
              </a:ext>
            </a:extLst>
          </p:cNvPr>
          <p:cNvSpPr txBox="1"/>
          <p:nvPr/>
        </p:nvSpPr>
        <p:spPr>
          <a:xfrm>
            <a:off x="809497" y="4546924"/>
            <a:ext cx="2318515"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Autonomous Mission Plan in GCS</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D830E84-C0D0-77CD-12A5-3B71DED6B249}"/>
              </a:ext>
            </a:extLst>
          </p:cNvPr>
          <p:cNvSpPr txBox="1"/>
          <p:nvPr/>
        </p:nvSpPr>
        <p:spPr>
          <a:xfrm>
            <a:off x="4640158" y="4546924"/>
            <a:ext cx="2318515"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Upload to Drone</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BAC7E67-611F-D0D9-061F-3616DEDBEF97}"/>
              </a:ext>
            </a:extLst>
          </p:cNvPr>
          <p:cNvSpPr txBox="1"/>
          <p:nvPr/>
        </p:nvSpPr>
        <p:spPr>
          <a:xfrm>
            <a:off x="9064819" y="4546924"/>
            <a:ext cx="2318515"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Get Live Video Footage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98340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94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3"/>
                                        </p:tgtEl>
                                      </p:cBhvr>
                                    </p:cmd>
                                  </p:childTnLst>
                                </p:cTn>
                              </p:par>
                            </p:childTnLst>
                          </p:cTn>
                        </p:par>
                      </p:childTnLst>
                    </p:cTn>
                  </p:par>
                </p:childTnLst>
              </p:cTn>
              <p:nextCondLst>
                <p:cond evt="onClick" delay="0">
                  <p:tgtEl>
                    <p:spTgt spid="13"/>
                  </p:tgtEl>
                </p:cond>
              </p:nextCondLst>
            </p:seq>
            <p:video>
              <p:cMediaNode vol="80000">
                <p:cTn id="12" fill="hold" display="0">
                  <p:stCondLst>
                    <p:cond delay="indefinite"/>
                  </p:stCondLst>
                </p:cTn>
                <p:tgtEl>
                  <p:spTgt spid="1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4966381" y="822699"/>
            <a:ext cx="2524076" cy="456628"/>
          </a:xfrm>
        </p:spPr>
        <p:txBody>
          <a:bodyPr>
            <a:noAutofit/>
          </a:bodyPr>
          <a:lstStyle/>
          <a:p>
            <a:r>
              <a:rPr lang="en-US" sz="4000" b="1" i="1" u="sng" dirty="0">
                <a:solidFill>
                  <a:srgbClr val="B6114D"/>
                </a:solidFill>
                <a:latin typeface="Times New Roman" panose="02020603050405020304" pitchFamily="18" charset="0"/>
                <a:cs typeface="Times New Roman" panose="02020603050405020304" pitchFamily="18" charset="0"/>
              </a:rPr>
              <a:t>Algorithm</a:t>
            </a:r>
            <a:endParaRPr lang="en-IN" sz="4000" b="1" i="1" u="sng" dirty="0">
              <a:solidFill>
                <a:srgbClr val="B6114D"/>
              </a:solidFill>
              <a:latin typeface="Times New Roman" panose="02020603050405020304" pitchFamily="18"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id="{0CB4A40D-20C9-CBE7-9A3B-9904FC995317}"/>
              </a:ext>
            </a:extLst>
          </p:cNvPr>
          <p:cNvCxnSpPr>
            <a:cxnSpLocks/>
            <a:stCxn id="9" idx="3"/>
            <a:endCxn id="14" idx="1"/>
          </p:cNvCxnSpPr>
          <p:nvPr/>
        </p:nvCxnSpPr>
        <p:spPr>
          <a:xfrm>
            <a:off x="1955339" y="3343045"/>
            <a:ext cx="563907" cy="279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9" name="Group 28">
            <a:extLst>
              <a:ext uri="{FF2B5EF4-FFF2-40B4-BE49-F238E27FC236}">
                <a16:creationId xmlns:a16="http://schemas.microsoft.com/office/drawing/2014/main" id="{ACA02E0A-EA34-ECBF-62AF-A0371C45D132}"/>
              </a:ext>
            </a:extLst>
          </p:cNvPr>
          <p:cNvGrpSpPr/>
          <p:nvPr/>
        </p:nvGrpSpPr>
        <p:grpSpPr>
          <a:xfrm>
            <a:off x="5767922" y="2481761"/>
            <a:ext cx="2435347" cy="1808143"/>
            <a:chOff x="9098497" y="1276095"/>
            <a:chExt cx="2435347" cy="1808143"/>
          </a:xfrm>
        </p:grpSpPr>
        <p:sp>
          <p:nvSpPr>
            <p:cNvPr id="25" name="Rectangle: Rounded Corners 24">
              <a:extLst>
                <a:ext uri="{FF2B5EF4-FFF2-40B4-BE49-F238E27FC236}">
                  <a16:creationId xmlns:a16="http://schemas.microsoft.com/office/drawing/2014/main" id="{CFB5F478-FD11-EC81-EA81-128C5A7303BA}"/>
                </a:ext>
              </a:extLst>
            </p:cNvPr>
            <p:cNvSpPr/>
            <p:nvPr/>
          </p:nvSpPr>
          <p:spPr>
            <a:xfrm>
              <a:off x="9098497" y="1276095"/>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TextBox 27">
              <a:extLst>
                <a:ext uri="{FF2B5EF4-FFF2-40B4-BE49-F238E27FC236}">
                  <a16:creationId xmlns:a16="http://schemas.microsoft.com/office/drawing/2014/main" id="{50964B1D-D6A0-1AFA-821B-C02B5DE1E96A}"/>
                </a:ext>
              </a:extLst>
            </p:cNvPr>
            <p:cNvSpPr txBox="1"/>
            <p:nvPr/>
          </p:nvSpPr>
          <p:spPr>
            <a:xfrm>
              <a:off x="9300573" y="1398073"/>
              <a:ext cx="201352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Detect Anomaly  </a:t>
              </a:r>
              <a:endParaRPr lang="en-IN" dirty="0">
                <a:latin typeface="Times New Roman" panose="02020603050405020304" pitchFamily="18" charset="0"/>
                <a:cs typeface="Times New Roman" panose="02020603050405020304" pitchFamily="18" charset="0"/>
              </a:endParaRPr>
            </a:p>
          </p:txBody>
        </p:sp>
      </p:grpSp>
      <p:cxnSp>
        <p:nvCxnSpPr>
          <p:cNvPr id="33" name="Straight Arrow Connector 32">
            <a:extLst>
              <a:ext uri="{FF2B5EF4-FFF2-40B4-BE49-F238E27FC236}">
                <a16:creationId xmlns:a16="http://schemas.microsoft.com/office/drawing/2014/main" id="{D9630202-EDE1-31F6-7F26-301435FEA88A}"/>
              </a:ext>
            </a:extLst>
          </p:cNvPr>
          <p:cNvCxnSpPr>
            <a:cxnSpLocks/>
            <a:stCxn id="14" idx="3"/>
            <a:endCxn id="25" idx="1"/>
          </p:cNvCxnSpPr>
          <p:nvPr/>
        </p:nvCxnSpPr>
        <p:spPr>
          <a:xfrm>
            <a:off x="5131880" y="3371041"/>
            <a:ext cx="636042" cy="14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5" name="Group 34">
            <a:extLst>
              <a:ext uri="{FF2B5EF4-FFF2-40B4-BE49-F238E27FC236}">
                <a16:creationId xmlns:a16="http://schemas.microsoft.com/office/drawing/2014/main" id="{4BA8CC45-D520-5B9B-B870-F61B4DC35AD9}"/>
              </a:ext>
            </a:extLst>
          </p:cNvPr>
          <p:cNvGrpSpPr/>
          <p:nvPr/>
        </p:nvGrpSpPr>
        <p:grpSpPr>
          <a:xfrm>
            <a:off x="9324175" y="1415510"/>
            <a:ext cx="2435347" cy="1069988"/>
            <a:chOff x="9098498" y="1266051"/>
            <a:chExt cx="2435347" cy="1808144"/>
          </a:xfrm>
        </p:grpSpPr>
        <p:sp>
          <p:nvSpPr>
            <p:cNvPr id="36" name="Rectangle: Rounded Corners 35">
              <a:extLst>
                <a:ext uri="{FF2B5EF4-FFF2-40B4-BE49-F238E27FC236}">
                  <a16:creationId xmlns:a16="http://schemas.microsoft.com/office/drawing/2014/main" id="{2C8E373B-6CE4-07B8-286B-45D871438BFF}"/>
                </a:ext>
              </a:extLst>
            </p:cNvPr>
            <p:cNvSpPr/>
            <p:nvPr/>
          </p:nvSpPr>
          <p:spPr>
            <a:xfrm>
              <a:off x="9098498" y="1266051"/>
              <a:ext cx="2435347" cy="1808144"/>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a:extLst>
                <a:ext uri="{FF2B5EF4-FFF2-40B4-BE49-F238E27FC236}">
                  <a16:creationId xmlns:a16="http://schemas.microsoft.com/office/drawing/2014/main" id="{CC25E60F-6E15-1062-46F2-B7D72362221B}"/>
                </a:ext>
              </a:extLst>
            </p:cNvPr>
            <p:cNvSpPr txBox="1"/>
            <p:nvPr/>
          </p:nvSpPr>
          <p:spPr>
            <a:xfrm>
              <a:off x="9151225" y="1780045"/>
              <a:ext cx="2329893" cy="78015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Hover and Spray </a:t>
              </a:r>
              <a:endParaRPr lang="en-IN" sz="2400" dirty="0">
                <a:latin typeface="Times New Roman" panose="02020603050405020304" pitchFamily="18" charset="0"/>
                <a:cs typeface="Times New Roman" panose="02020603050405020304" pitchFamily="18" charset="0"/>
              </a:endParaRPr>
            </a:p>
          </p:txBody>
        </p:sp>
      </p:grpSp>
      <p:grpSp>
        <p:nvGrpSpPr>
          <p:cNvPr id="38" name="Group 37">
            <a:extLst>
              <a:ext uri="{FF2B5EF4-FFF2-40B4-BE49-F238E27FC236}">
                <a16:creationId xmlns:a16="http://schemas.microsoft.com/office/drawing/2014/main" id="{3826E07C-7822-2D41-8D6F-08C1B4033A51}"/>
              </a:ext>
            </a:extLst>
          </p:cNvPr>
          <p:cNvGrpSpPr/>
          <p:nvPr/>
        </p:nvGrpSpPr>
        <p:grpSpPr>
          <a:xfrm>
            <a:off x="9324174" y="4372503"/>
            <a:ext cx="2435347" cy="1069988"/>
            <a:chOff x="9098498" y="1266050"/>
            <a:chExt cx="2435347" cy="1808143"/>
          </a:xfrm>
        </p:grpSpPr>
        <p:sp>
          <p:nvSpPr>
            <p:cNvPr id="39" name="Rectangle: Rounded Corners 38">
              <a:extLst>
                <a:ext uri="{FF2B5EF4-FFF2-40B4-BE49-F238E27FC236}">
                  <a16:creationId xmlns:a16="http://schemas.microsoft.com/office/drawing/2014/main" id="{8E6FF315-48F6-C16E-8BE7-388D6F6418E4}"/>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TextBox 39">
              <a:extLst>
                <a:ext uri="{FF2B5EF4-FFF2-40B4-BE49-F238E27FC236}">
                  <a16:creationId xmlns:a16="http://schemas.microsoft.com/office/drawing/2014/main" id="{DA6E4EA5-E73A-2320-8C64-8284618C9459}"/>
                </a:ext>
              </a:extLst>
            </p:cNvPr>
            <p:cNvSpPr txBox="1"/>
            <p:nvPr/>
          </p:nvSpPr>
          <p:spPr>
            <a:xfrm>
              <a:off x="9309407" y="1339123"/>
              <a:ext cx="2013528" cy="830996"/>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Continue Mission Plan</a:t>
              </a:r>
              <a:endParaRPr lang="en-IN" sz="2400" dirty="0">
                <a:latin typeface="Times New Roman" panose="02020603050405020304" pitchFamily="18" charset="0"/>
                <a:cs typeface="Times New Roman" panose="02020603050405020304" pitchFamily="18" charset="0"/>
              </a:endParaRPr>
            </a:p>
          </p:txBody>
        </p:sp>
      </p:grpSp>
      <p:cxnSp>
        <p:nvCxnSpPr>
          <p:cNvPr id="42" name="Straight Arrow Connector 41">
            <a:extLst>
              <a:ext uri="{FF2B5EF4-FFF2-40B4-BE49-F238E27FC236}">
                <a16:creationId xmlns:a16="http://schemas.microsoft.com/office/drawing/2014/main" id="{19D54E00-DE7E-40F1-0C52-DF8EFAA8B635}"/>
              </a:ext>
            </a:extLst>
          </p:cNvPr>
          <p:cNvCxnSpPr>
            <a:cxnSpLocks/>
            <a:stCxn id="25" idx="3"/>
            <a:endCxn id="36" idx="1"/>
          </p:cNvCxnSpPr>
          <p:nvPr/>
        </p:nvCxnSpPr>
        <p:spPr>
          <a:xfrm flipV="1">
            <a:off x="8203269" y="1950504"/>
            <a:ext cx="1120906" cy="14353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3" name="Group 22">
            <a:extLst>
              <a:ext uri="{FF2B5EF4-FFF2-40B4-BE49-F238E27FC236}">
                <a16:creationId xmlns:a16="http://schemas.microsoft.com/office/drawing/2014/main" id="{55C5D501-4EED-8EA0-E854-60628C250DBF}"/>
              </a:ext>
            </a:extLst>
          </p:cNvPr>
          <p:cNvGrpSpPr/>
          <p:nvPr/>
        </p:nvGrpSpPr>
        <p:grpSpPr>
          <a:xfrm>
            <a:off x="241805" y="2485497"/>
            <a:ext cx="1834748" cy="1715096"/>
            <a:chOff x="272285" y="1284384"/>
            <a:chExt cx="1834748" cy="1715096"/>
          </a:xfrm>
        </p:grpSpPr>
        <p:sp>
          <p:nvSpPr>
            <p:cNvPr id="9" name="Rectangle: Rounded Corners 8">
              <a:extLst>
                <a:ext uri="{FF2B5EF4-FFF2-40B4-BE49-F238E27FC236}">
                  <a16:creationId xmlns:a16="http://schemas.microsoft.com/office/drawing/2014/main" id="{C3A718E1-6B43-38BA-6D64-91469C34E949}"/>
                </a:ext>
              </a:extLst>
            </p:cNvPr>
            <p:cNvSpPr/>
            <p:nvPr/>
          </p:nvSpPr>
          <p:spPr>
            <a:xfrm>
              <a:off x="272285" y="1284384"/>
              <a:ext cx="1713534" cy="1715096"/>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C5E094E-C8D0-35B0-93DD-C5181A74766D}"/>
                </a:ext>
              </a:extLst>
            </p:cNvPr>
            <p:cNvSpPr txBox="1"/>
            <p:nvPr/>
          </p:nvSpPr>
          <p:spPr>
            <a:xfrm>
              <a:off x="272285" y="1344919"/>
              <a:ext cx="183474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Live Footage</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F37666A-ADBD-B333-8C56-8DF7F2818B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0414" y="1936762"/>
              <a:ext cx="1118489" cy="863153"/>
            </a:xfrm>
            <a:prstGeom prst="rect">
              <a:avLst/>
            </a:prstGeom>
            <a:ln>
              <a:noFill/>
            </a:ln>
            <a:effectLst>
              <a:softEdge rad="112500"/>
            </a:effectLst>
          </p:spPr>
        </p:pic>
      </p:grpSp>
      <p:grpSp>
        <p:nvGrpSpPr>
          <p:cNvPr id="34" name="Group 33">
            <a:extLst>
              <a:ext uri="{FF2B5EF4-FFF2-40B4-BE49-F238E27FC236}">
                <a16:creationId xmlns:a16="http://schemas.microsoft.com/office/drawing/2014/main" id="{DA6A9606-0CC3-B9AC-A0E8-5F3A3CBC953E}"/>
              </a:ext>
            </a:extLst>
          </p:cNvPr>
          <p:cNvGrpSpPr/>
          <p:nvPr/>
        </p:nvGrpSpPr>
        <p:grpSpPr>
          <a:xfrm>
            <a:off x="2239762" y="2475688"/>
            <a:ext cx="3171602" cy="1790705"/>
            <a:chOff x="2270242" y="1274575"/>
            <a:chExt cx="3171602" cy="1790705"/>
          </a:xfrm>
        </p:grpSpPr>
        <p:grpSp>
          <p:nvGrpSpPr>
            <p:cNvPr id="21" name="Group 20">
              <a:extLst>
                <a:ext uri="{FF2B5EF4-FFF2-40B4-BE49-F238E27FC236}">
                  <a16:creationId xmlns:a16="http://schemas.microsoft.com/office/drawing/2014/main" id="{B6E4E4EE-3EBB-4DC8-DA1E-2883C106C59D}"/>
                </a:ext>
              </a:extLst>
            </p:cNvPr>
            <p:cNvGrpSpPr/>
            <p:nvPr/>
          </p:nvGrpSpPr>
          <p:grpSpPr>
            <a:xfrm>
              <a:off x="2270242" y="1274575"/>
              <a:ext cx="3171602" cy="1790705"/>
              <a:chOff x="4711511" y="1260212"/>
              <a:chExt cx="3171602" cy="1790705"/>
            </a:xfrm>
          </p:grpSpPr>
          <p:sp>
            <p:nvSpPr>
              <p:cNvPr id="14" name="Rectangle: Rounded Corners 13">
                <a:extLst>
                  <a:ext uri="{FF2B5EF4-FFF2-40B4-BE49-F238E27FC236}">
                    <a16:creationId xmlns:a16="http://schemas.microsoft.com/office/drawing/2014/main" id="{FC162ADE-89FB-45AD-CF28-30AA8CE77AB9}"/>
                  </a:ext>
                </a:extLst>
              </p:cNvPr>
              <p:cNvSpPr/>
              <p:nvPr/>
            </p:nvSpPr>
            <p:spPr>
              <a:xfrm>
                <a:off x="4990995" y="1260212"/>
                <a:ext cx="2612634" cy="1790705"/>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B4E60489-77DE-F3FA-F290-744AEE74A32B}"/>
                  </a:ext>
                </a:extLst>
              </p:cNvPr>
              <p:cNvSpPr txBox="1"/>
              <p:nvPr/>
            </p:nvSpPr>
            <p:spPr>
              <a:xfrm>
                <a:off x="4711511" y="2522804"/>
                <a:ext cx="317160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Deep Learning Model</a:t>
                </a:r>
                <a:endParaRPr lang="en-IN" dirty="0">
                  <a:latin typeface="Times New Roman" panose="02020603050405020304" pitchFamily="18" charset="0"/>
                  <a:cs typeface="Times New Roman" panose="02020603050405020304" pitchFamily="18" charset="0"/>
                </a:endParaRPr>
              </a:p>
            </p:txBody>
          </p:sp>
        </p:grpSp>
        <p:pic>
          <p:nvPicPr>
            <p:cNvPr id="11" name="Picture 10">
              <a:extLst>
                <a:ext uri="{FF2B5EF4-FFF2-40B4-BE49-F238E27FC236}">
                  <a16:creationId xmlns:a16="http://schemas.microsoft.com/office/drawing/2014/main" id="{227C0121-BF9D-57CA-0083-241B7883F036}"/>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3681" b="93252" l="1299" r="96429">
                          <a14:foregroundMark x1="8766" y1="18405" x2="20779" y2="49693"/>
                          <a14:foregroundMark x1="20779" y1="49693" x2="20130" y2="77914"/>
                          <a14:foregroundMark x1="20130" y1="77914" x2="30519" y2="30675"/>
                          <a14:foregroundMark x1="30519" y1="30675" x2="31494" y2="12270"/>
                          <a14:foregroundMark x1="31494" y1="12270" x2="30519" y2="4294"/>
                          <a14:foregroundMark x1="4545" y1="18405" x2="16558" y2="69325"/>
                          <a14:foregroundMark x1="16558" y1="69325" x2="16558" y2="79755"/>
                          <a14:foregroundMark x1="16558" y1="79755" x2="13312" y2="92025"/>
                          <a14:foregroundMark x1="13312" y1="92025" x2="23377" y2="92025"/>
                          <a14:foregroundMark x1="23377" y1="92025" x2="28571" y2="91411"/>
                          <a14:foregroundMark x1="28571" y1="91411" x2="31494" y2="88957"/>
                          <a14:foregroundMark x1="5195" y1="17791" x2="5844" y2="28221"/>
                          <a14:foregroundMark x1="5844" y1="28221" x2="6494" y2="29448"/>
                          <a14:foregroundMark x1="1623" y1="19018" x2="1948" y2="25767"/>
                          <a14:foregroundMark x1="55844" y1="3681" x2="74351" y2="5521"/>
                          <a14:foregroundMark x1="90260" y1="17791" x2="96429" y2="28834"/>
                          <a14:foregroundMark x1="96429" y1="28834" x2="98377" y2="38650"/>
                          <a14:foregroundMark x1="98377" y1="38650" x2="97403" y2="55215"/>
                          <a14:foregroundMark x1="97403" y1="55215" x2="93506" y2="65644"/>
                          <a14:foregroundMark x1="93506" y1="65644" x2="83766" y2="73006"/>
                          <a14:foregroundMark x1="83766" y1="73006" x2="81169" y2="80982"/>
                          <a14:foregroundMark x1="81169" y1="80982" x2="79545" y2="91411"/>
                          <a14:foregroundMark x1="79545" y1="91411" x2="62338" y2="94479"/>
                          <a14:foregroundMark x1="62338" y1="94479" x2="56169" y2="93252"/>
                          <a14:foregroundMark x1="56169" y1="93252" x2="56169" y2="92638"/>
                          <a14:foregroundMark x1="92857" y1="20245" x2="97078" y2="42331"/>
                          <a14:foregroundMark x1="97078" y1="42331" x2="96429" y2="52147"/>
                          <a14:foregroundMark x1="96429" y1="52147" x2="91883" y2="66258"/>
                          <a14:foregroundMark x1="83117" y1="25767" x2="76299" y2="38037"/>
                          <a14:foregroundMark x1="76299" y1="38037" x2="76299" y2="39877"/>
                          <a14:foregroundMark x1="42208" y1="26994" x2="37987" y2="33129"/>
                          <a14:foregroundMark x1="37987" y1="33129" x2="36688" y2="41104"/>
                          <a14:foregroundMark x1="69481" y1="42945" x2="71104" y2="67485"/>
                        </a14:backgroundRemoval>
                      </a14:imgEffect>
                    </a14:imgLayer>
                  </a14:imgProps>
                </a:ext>
                <a:ext uri="{28A0092B-C50C-407E-A947-70E740481C1C}">
                  <a14:useLocalDpi xmlns:a14="http://schemas.microsoft.com/office/drawing/2010/main" val="0"/>
                </a:ext>
              </a:extLst>
            </a:blip>
            <a:stretch>
              <a:fillRect/>
            </a:stretch>
          </p:blipFill>
          <p:spPr>
            <a:xfrm>
              <a:off x="4104998" y="1716196"/>
              <a:ext cx="894402" cy="550108"/>
            </a:xfrm>
            <a:prstGeom prst="rect">
              <a:avLst/>
            </a:prstGeom>
          </p:spPr>
        </p:pic>
        <p:pic>
          <p:nvPicPr>
            <p:cNvPr id="17" name="Picture 16">
              <a:extLst>
                <a:ext uri="{FF2B5EF4-FFF2-40B4-BE49-F238E27FC236}">
                  <a16:creationId xmlns:a16="http://schemas.microsoft.com/office/drawing/2014/main" id="{2AA7DE5E-E756-A1AF-B754-1DBBD70CE9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2807679" y="1402626"/>
              <a:ext cx="1128174" cy="562494"/>
            </a:xfrm>
            <a:prstGeom prst="rect">
              <a:avLst/>
            </a:prstGeom>
          </p:spPr>
        </p:pic>
        <p:pic>
          <p:nvPicPr>
            <p:cNvPr id="19" name="Picture 18">
              <a:extLst>
                <a:ext uri="{FF2B5EF4-FFF2-40B4-BE49-F238E27FC236}">
                  <a16:creationId xmlns:a16="http://schemas.microsoft.com/office/drawing/2014/main" id="{0871DD40-0638-84D3-9FC8-3861B02792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64416" y="2080838"/>
              <a:ext cx="1138624" cy="500662"/>
            </a:xfrm>
            <a:prstGeom prst="rect">
              <a:avLst/>
            </a:prstGeom>
          </p:spPr>
        </p:pic>
      </p:grpSp>
      <p:cxnSp>
        <p:nvCxnSpPr>
          <p:cNvPr id="41" name="Straight Arrow Connector 40">
            <a:extLst>
              <a:ext uri="{FF2B5EF4-FFF2-40B4-BE49-F238E27FC236}">
                <a16:creationId xmlns:a16="http://schemas.microsoft.com/office/drawing/2014/main" id="{7586002A-A5E8-9003-0747-2073FD66CB39}"/>
              </a:ext>
            </a:extLst>
          </p:cNvPr>
          <p:cNvCxnSpPr>
            <a:cxnSpLocks/>
            <a:stCxn id="25" idx="3"/>
            <a:endCxn id="39" idx="1"/>
          </p:cNvCxnSpPr>
          <p:nvPr/>
        </p:nvCxnSpPr>
        <p:spPr>
          <a:xfrm>
            <a:off x="8203269" y="3385833"/>
            <a:ext cx="1120905" cy="15216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B9EFEEE9-58F7-9A19-C482-CC6CCFECF071}"/>
              </a:ext>
            </a:extLst>
          </p:cNvPr>
          <p:cNvCxnSpPr>
            <a:cxnSpLocks/>
            <a:stCxn id="39" idx="1"/>
          </p:cNvCxnSpPr>
          <p:nvPr/>
        </p:nvCxnSpPr>
        <p:spPr>
          <a:xfrm flipH="1">
            <a:off x="1098572" y="4907497"/>
            <a:ext cx="8225602" cy="25021"/>
          </a:xfrm>
          <a:prstGeom prst="straightConnector1">
            <a:avLst/>
          </a:prstGeom>
          <a:ln>
            <a:tailEnd type="non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6F461B39-59A7-2FF9-F547-9ABC6D5D1B3B}"/>
              </a:ext>
            </a:extLst>
          </p:cNvPr>
          <p:cNvSpPr txBox="1"/>
          <p:nvPr/>
        </p:nvSpPr>
        <p:spPr>
          <a:xfrm>
            <a:off x="8504031" y="2379799"/>
            <a:ext cx="670560" cy="369332"/>
          </a:xfrm>
          <a:prstGeom prst="rect">
            <a:avLst/>
          </a:prstGeom>
          <a:solidFill>
            <a:schemeClr val="bg1"/>
          </a:solidFill>
        </p:spPr>
        <p:txBody>
          <a:bodyPr wrap="square" rtlCol="0">
            <a:spAutoFit/>
          </a:bodyPr>
          <a:lstStyle/>
          <a:p>
            <a:r>
              <a:rPr lang="en-US" dirty="0">
                <a:latin typeface="Times New Roman" panose="02020603050405020304" pitchFamily="18" charset="0"/>
                <a:cs typeface="Times New Roman" panose="02020603050405020304" pitchFamily="18" charset="0"/>
              </a:rPr>
              <a:t>True</a:t>
            </a:r>
            <a:endParaRPr lang="en-IN"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C6187E83-2A8E-5487-3C58-3E6B25903103}"/>
              </a:ext>
            </a:extLst>
          </p:cNvPr>
          <p:cNvSpPr txBox="1"/>
          <p:nvPr/>
        </p:nvSpPr>
        <p:spPr>
          <a:xfrm>
            <a:off x="8399215" y="3966166"/>
            <a:ext cx="670560" cy="369332"/>
          </a:xfrm>
          <a:prstGeom prst="rect">
            <a:avLst/>
          </a:prstGeom>
          <a:solidFill>
            <a:schemeClr val="bg1"/>
          </a:solidFill>
        </p:spPr>
        <p:txBody>
          <a:bodyPr wrap="square" rtlCol="0">
            <a:spAutoFit/>
          </a:bodyPr>
          <a:lstStyle/>
          <a:p>
            <a:r>
              <a:rPr lang="en-US" dirty="0">
                <a:latin typeface="Times New Roman" panose="02020603050405020304" pitchFamily="18" charset="0"/>
                <a:cs typeface="Times New Roman" panose="02020603050405020304" pitchFamily="18" charset="0"/>
              </a:rPr>
              <a:t>False</a:t>
            </a:r>
            <a:endParaRPr lang="en-IN" dirty="0">
              <a:latin typeface="Times New Roman" panose="02020603050405020304" pitchFamily="18" charset="0"/>
              <a:cs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0C92D2CB-A411-3B9A-82F0-44DA8C288629}"/>
              </a:ext>
            </a:extLst>
          </p:cNvPr>
          <p:cNvCxnSpPr>
            <a:cxnSpLocks/>
            <a:endCxn id="9" idx="2"/>
          </p:cNvCxnSpPr>
          <p:nvPr/>
        </p:nvCxnSpPr>
        <p:spPr>
          <a:xfrm flipV="1">
            <a:off x="1098572" y="4200593"/>
            <a:ext cx="0" cy="7319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C79E110B-85AE-7726-F36A-080AE3C09606}"/>
              </a:ext>
            </a:extLst>
          </p:cNvPr>
          <p:cNvSpPr txBox="1"/>
          <p:nvPr/>
        </p:nvSpPr>
        <p:spPr>
          <a:xfrm>
            <a:off x="4613120" y="4710245"/>
            <a:ext cx="2323130" cy="369332"/>
          </a:xfrm>
          <a:prstGeom prst="rect">
            <a:avLst/>
          </a:prstGeom>
          <a:solidFill>
            <a:schemeClr val="bg1"/>
          </a:solidFill>
        </p:spPr>
        <p:txBody>
          <a:bodyPr wrap="square" rtlCol="0">
            <a:spAutoFit/>
          </a:bodyPr>
          <a:lstStyle/>
          <a:p>
            <a:r>
              <a:rPr lang="en-US" dirty="0">
                <a:latin typeface="Times New Roman" panose="02020603050405020304" pitchFamily="18" charset="0"/>
                <a:cs typeface="Times New Roman" panose="02020603050405020304" pitchFamily="18" charset="0"/>
              </a:rPr>
              <a:t>Feedback live Footage</a:t>
            </a:r>
            <a:endParaRPr lang="en-IN" dirty="0">
              <a:latin typeface="Times New Roman" panose="02020603050405020304" pitchFamily="18" charset="0"/>
              <a:cs typeface="Times New Roman" panose="02020603050405020304" pitchFamily="18" charset="0"/>
            </a:endParaRPr>
          </a:p>
        </p:txBody>
      </p:sp>
      <p:pic>
        <p:nvPicPr>
          <p:cNvPr id="65" name="Picture 64">
            <a:extLst>
              <a:ext uri="{FF2B5EF4-FFF2-40B4-BE49-F238E27FC236}">
                <a16:creationId xmlns:a16="http://schemas.microsoft.com/office/drawing/2014/main" id="{790374BF-4B94-6BB8-7811-C305AA5C3FC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6362594" y="2942569"/>
            <a:ext cx="1160950" cy="1160950"/>
          </a:xfrm>
          <a:prstGeom prst="rect">
            <a:avLst/>
          </a:prstGeom>
          <a:ln>
            <a:noFill/>
          </a:ln>
          <a:effectLst>
            <a:softEdge rad="112500"/>
          </a:effectLst>
        </p:spPr>
      </p:pic>
    </p:spTree>
    <p:extLst>
      <p:ext uri="{BB962C8B-B14F-4D97-AF65-F5344CB8AC3E}">
        <p14:creationId xmlns:p14="http://schemas.microsoft.com/office/powerpoint/2010/main" val="21236271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2701242" y="250828"/>
            <a:ext cx="6558505"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Why YOLO-V8 Architecture</a:t>
            </a:r>
          </a:p>
        </p:txBody>
      </p:sp>
      <p:sp>
        <p:nvSpPr>
          <p:cNvPr id="7" name="TextBox 6">
            <a:extLst>
              <a:ext uri="{FF2B5EF4-FFF2-40B4-BE49-F238E27FC236}">
                <a16:creationId xmlns:a16="http://schemas.microsoft.com/office/drawing/2014/main" id="{31C8E8BF-C2FB-7217-C9AA-F5384A7E0C5C}"/>
              </a:ext>
            </a:extLst>
          </p:cNvPr>
          <p:cNvSpPr txBox="1"/>
          <p:nvPr/>
        </p:nvSpPr>
        <p:spPr>
          <a:xfrm>
            <a:off x="354956" y="1231975"/>
            <a:ext cx="11705863" cy="415498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YOLO v8 is highly suitable for this application, with recent advancements further improving its efficacy:</a:t>
            </a:r>
          </a:p>
          <a:p>
            <a:pPr>
              <a:buFont typeface="+mj-lt"/>
              <a:buAutoNum type="arabicPeriod"/>
            </a:pPr>
            <a:r>
              <a:rPr lang="en-US" sz="2400" dirty="0">
                <a:latin typeface="Times New Roman" panose="02020603050405020304" pitchFamily="18" charset="0"/>
                <a:cs typeface="Times New Roman" panose="02020603050405020304" pitchFamily="18" charset="0"/>
              </a:rPr>
              <a:t>Real-time processing: Crucial for on-the-fly drone path adjustments</a:t>
            </a:r>
          </a:p>
          <a:p>
            <a:pPr>
              <a:buFont typeface="+mj-lt"/>
              <a:buAutoNum type="arabicPeriod"/>
            </a:pPr>
            <a:r>
              <a:rPr lang="en-US" sz="2400" dirty="0">
                <a:latin typeface="Times New Roman" panose="02020603050405020304" pitchFamily="18" charset="0"/>
                <a:cs typeface="Times New Roman" panose="02020603050405020304" pitchFamily="18" charset="0"/>
              </a:rPr>
              <a:t>Enhanced small object detection: Ideal for subtle anomalies</a:t>
            </a:r>
          </a:p>
          <a:p>
            <a:pPr>
              <a:buFont typeface="+mj-lt"/>
              <a:buAutoNum type="arabicPeriod"/>
            </a:pPr>
            <a:r>
              <a:rPr lang="en-US" sz="2400" dirty="0">
                <a:latin typeface="Times New Roman" panose="02020603050405020304" pitchFamily="18" charset="0"/>
                <a:cs typeface="Times New Roman" panose="02020603050405020304" pitchFamily="18" charset="0"/>
              </a:rPr>
              <a:t>Multi-task learning: Combining detection and segmentation</a:t>
            </a:r>
          </a:p>
          <a:p>
            <a:pPr>
              <a:buFont typeface="+mj-lt"/>
              <a:buAutoNum type="arabicPeriod"/>
            </a:pPr>
            <a:r>
              <a:rPr lang="en-US" sz="2400" dirty="0">
                <a:latin typeface="Times New Roman" panose="02020603050405020304" pitchFamily="18" charset="0"/>
                <a:cs typeface="Times New Roman" panose="02020603050405020304" pitchFamily="18" charset="0"/>
              </a:rPr>
              <a:t> Enables on-drone processing</a:t>
            </a:r>
          </a:p>
          <a:p>
            <a:r>
              <a:rPr lang="en-US" sz="2400" b="1" dirty="0">
                <a:latin typeface="Times New Roman" panose="02020603050405020304" pitchFamily="18" charset="0"/>
                <a:cs typeface="Times New Roman" panose="02020603050405020304" pitchFamily="18" charset="0"/>
              </a:rPr>
              <a:t>Additionally, comparing to YOLOv5s, the SSV2-YOLO variant demonstrates significant improvements:</a:t>
            </a:r>
          </a:p>
          <a:p>
            <a:pPr>
              <a:buFont typeface="+mj-lt"/>
              <a:buAutoNum type="arabicPeriod" startAt="5"/>
            </a:pPr>
            <a:r>
              <a:rPr lang="en-US" sz="2400" dirty="0">
                <a:latin typeface="Times New Roman" panose="02020603050405020304" pitchFamily="18" charset="0"/>
                <a:cs typeface="Times New Roman" panose="02020603050405020304" pitchFamily="18" charset="0"/>
              </a:rPr>
              <a:t>Smaller model size: 92.5% reduction, vital for drone deployment</a:t>
            </a:r>
          </a:p>
          <a:p>
            <a:pPr>
              <a:buFont typeface="+mj-lt"/>
              <a:buAutoNum type="arabicPeriod" startAt="5"/>
            </a:pPr>
            <a:r>
              <a:rPr lang="en-US" sz="2400" dirty="0">
                <a:latin typeface="Times New Roman" panose="02020603050405020304" pitchFamily="18" charset="0"/>
                <a:cs typeface="Times New Roman" panose="02020603050405020304" pitchFamily="18" charset="0"/>
              </a:rPr>
              <a:t>Increased detection speed: 31.6% faster on GPU, 81.8% on CPU</a:t>
            </a:r>
          </a:p>
          <a:p>
            <a:pPr>
              <a:buFont typeface="+mj-lt"/>
              <a:buAutoNum type="arabicPeriod" startAt="5"/>
            </a:pPr>
            <a:r>
              <a:rPr lang="en-US" sz="2400" dirty="0">
                <a:latin typeface="Times New Roman" panose="02020603050405020304" pitchFamily="18" charset="0"/>
                <a:cs typeface="Times New Roman" panose="02020603050405020304" pitchFamily="18" charset="0"/>
              </a:rPr>
              <a:t>Improved accuracy: 2.5% increase in detection precision</a:t>
            </a:r>
          </a:p>
        </p:txBody>
      </p:sp>
    </p:spTree>
    <p:extLst>
      <p:ext uri="{BB962C8B-B14F-4D97-AF65-F5344CB8AC3E}">
        <p14:creationId xmlns:p14="http://schemas.microsoft.com/office/powerpoint/2010/main" val="393809444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71500" y="250828"/>
            <a:ext cx="7183538" cy="669016"/>
          </a:xfrm>
        </p:spPr>
        <p:txBody>
          <a:bodyPr>
            <a:normAutofit fontScale="90000"/>
          </a:bodyPr>
          <a:lstStyle/>
          <a:p>
            <a:r>
              <a:rPr lang="en-US" sz="4000" b="1" dirty="0">
                <a:solidFill>
                  <a:srgbClr val="CC0066"/>
                </a:solidFill>
                <a:latin typeface="Times New Roman" panose="02020603050405020304" pitchFamily="18" charset="0"/>
                <a:cs typeface="Times New Roman" panose="02020603050405020304" pitchFamily="18" charset="0"/>
              </a:rPr>
              <a:t>Computer Vision based Approach</a:t>
            </a:r>
          </a:p>
        </p:txBody>
      </p:sp>
      <p:sp>
        <p:nvSpPr>
          <p:cNvPr id="6" name="Rectangle 1">
            <a:extLst>
              <a:ext uri="{FF2B5EF4-FFF2-40B4-BE49-F238E27FC236}">
                <a16:creationId xmlns:a16="http://schemas.microsoft.com/office/drawing/2014/main" id="{C673074B-2728-8640-3014-378C405AEB0E}"/>
              </a:ext>
            </a:extLst>
          </p:cNvPr>
          <p:cNvSpPr>
            <a:spLocks noChangeArrowheads="1"/>
          </p:cNvSpPr>
          <p:nvPr/>
        </p:nvSpPr>
        <p:spPr bwMode="auto">
          <a:xfrm>
            <a:off x="571500" y="658234"/>
            <a:ext cx="806321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Anomaly Detection: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Autoencoders for unsupervised anomaly detection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One-Class SVM or Isolation Forest for detecting novel anomalies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Enhancement: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Histogram equalization for improved contrast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thresholding for dealing with varying lighting conditions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Spectral Analysis: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Principal Component Analysis (PCA) for multispectral image analysis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Spectral unmixing techniques for hyperspectral data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Texture Analysis: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Gray Level Co-occurrence Matrix (GLCM) for texture feature extraction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Gabor filters for capturing spatial frequency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Shape Analysis: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Contour analysis for leaf shape characterization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 Moments for rotation-invariant shape description</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7" name="Picture 3">
            <a:extLst>
              <a:ext uri="{FF2B5EF4-FFF2-40B4-BE49-F238E27FC236}">
                <a16:creationId xmlns:a16="http://schemas.microsoft.com/office/drawing/2014/main" id="{9138CF76-4777-0AD2-4D12-102DC4A19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5607" y="3334476"/>
            <a:ext cx="3932286" cy="22020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diagram of a method&#10;&#10;Description automatically generated">
            <a:extLst>
              <a:ext uri="{FF2B5EF4-FFF2-40B4-BE49-F238E27FC236}">
                <a16:creationId xmlns:a16="http://schemas.microsoft.com/office/drawing/2014/main" id="{5391A1E5-47BB-C2A0-58E8-323906FDB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5607" y="1020504"/>
            <a:ext cx="3932286" cy="2202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0138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9A129E25-EE36-297C-3698-DCA7B97A5B46}"/>
              </a:ext>
            </a:extLst>
          </p:cNvPr>
          <p:cNvGraphicFramePr>
            <a:graphicFrameLocks noGrp="1"/>
          </p:cNvGraphicFramePr>
          <p:nvPr>
            <p:extLst>
              <p:ext uri="{D42A27DB-BD31-4B8C-83A1-F6EECF244321}">
                <p14:modId xmlns:p14="http://schemas.microsoft.com/office/powerpoint/2010/main" val="3120206595"/>
              </p:ext>
            </p:extLst>
          </p:nvPr>
        </p:nvGraphicFramePr>
        <p:xfrm>
          <a:off x="533400" y="1447800"/>
          <a:ext cx="11125200" cy="4358640"/>
        </p:xfrm>
        <a:graphic>
          <a:graphicData uri="http://schemas.openxmlformats.org/drawingml/2006/table">
            <a:tbl>
              <a:tblPr firstRow="1" bandRow="1">
                <a:tableStyleId>{2D5ABB26-0587-4C30-8999-92F81FD0307C}</a:tableStyleId>
              </a:tblPr>
              <a:tblGrid>
                <a:gridCol w="3291840">
                  <a:extLst>
                    <a:ext uri="{9D8B030D-6E8A-4147-A177-3AD203B41FA5}">
                      <a16:colId xmlns:a16="http://schemas.microsoft.com/office/drawing/2014/main" val="1126160962"/>
                    </a:ext>
                  </a:extLst>
                </a:gridCol>
                <a:gridCol w="5974080">
                  <a:extLst>
                    <a:ext uri="{9D8B030D-6E8A-4147-A177-3AD203B41FA5}">
                      <a16:colId xmlns:a16="http://schemas.microsoft.com/office/drawing/2014/main" val="3796209788"/>
                    </a:ext>
                  </a:extLst>
                </a:gridCol>
                <a:gridCol w="1859280">
                  <a:extLst>
                    <a:ext uri="{9D8B030D-6E8A-4147-A177-3AD203B41FA5}">
                      <a16:colId xmlns:a16="http://schemas.microsoft.com/office/drawing/2014/main" val="850824289"/>
                    </a:ext>
                  </a:extLst>
                </a:gridCol>
              </a:tblGrid>
              <a:tr h="370840">
                <a:tc>
                  <a:txBody>
                    <a:bodyPr/>
                    <a:lstStyle/>
                    <a:p>
                      <a:pPr algn="ctr"/>
                      <a:r>
                        <a:rPr lang="en-US" sz="2000" b="1" dirty="0">
                          <a:latin typeface="Times New Roman" panose="02020603050405020304" pitchFamily="18" charset="0"/>
                          <a:cs typeface="Times New Roman" panose="02020603050405020304" pitchFamily="18" charset="0"/>
                        </a:rPr>
                        <a:t>Hyperparameter</a:t>
                      </a:r>
                      <a:endParaRPr lang="en-IN"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latin typeface="Times New Roman" panose="02020603050405020304" pitchFamily="18" charset="0"/>
                          <a:cs typeface="Times New Roman" panose="02020603050405020304" pitchFamily="18" charset="0"/>
                        </a:rPr>
                        <a:t>Description</a:t>
                      </a:r>
                      <a:endParaRPr lang="en-IN"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latin typeface="Times New Roman" panose="02020603050405020304" pitchFamily="18" charset="0"/>
                          <a:cs typeface="Times New Roman" panose="02020603050405020304" pitchFamily="18" charset="0"/>
                        </a:rPr>
                        <a:t>Typical Range</a:t>
                      </a:r>
                      <a:endParaRPr lang="en-IN"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5470188"/>
                  </a:ext>
                </a:extLst>
              </a:tr>
              <a:tr h="370840">
                <a:tc>
                  <a:txBody>
                    <a:bodyPr/>
                    <a:lstStyle/>
                    <a:p>
                      <a:r>
                        <a:rPr lang="en-IN" sz="2000" dirty="0">
                          <a:latin typeface="Times New Roman" panose="02020603050405020304" pitchFamily="18" charset="0"/>
                          <a:cs typeface="Times New Roman" panose="02020603050405020304" pitchFamily="18" charset="0"/>
                        </a:rPr>
                        <a:t>Learning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anose="02020603050405020304" pitchFamily="18" charset="0"/>
                          <a:cs typeface="Times New Roman" panose="02020603050405020304" pitchFamily="18" charset="0"/>
                        </a:rPr>
                        <a:t>Controls the step size during optimization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1e-5 to 1e-2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2461179"/>
                  </a:ext>
                </a:extLst>
              </a:tr>
              <a:tr h="370840">
                <a:tc>
                  <a:txBody>
                    <a:bodyPr/>
                    <a:lstStyle/>
                    <a:p>
                      <a:r>
                        <a:rPr lang="en-IN" sz="2000" dirty="0">
                          <a:latin typeface="Times New Roman" panose="02020603050405020304" pitchFamily="18" charset="0"/>
                          <a:cs typeface="Times New Roman" panose="02020603050405020304" pitchFamily="18" charset="0"/>
                        </a:rPr>
                        <a:t>Batch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anose="02020603050405020304" pitchFamily="18" charset="0"/>
                          <a:cs typeface="Times New Roman" panose="02020603050405020304" pitchFamily="18" charset="0"/>
                        </a:rPr>
                        <a:t>Number of training examples used in one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Times New Roman" panose="02020603050405020304" pitchFamily="18" charset="0"/>
                          <a:cs typeface="Times New Roman" panose="02020603050405020304" pitchFamily="18" charset="0"/>
                        </a:rPr>
                        <a:t>8 to 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2037961"/>
                  </a:ext>
                </a:extLst>
              </a:tr>
              <a:tr h="370840">
                <a:tc>
                  <a:txBody>
                    <a:bodyPr/>
                    <a:lstStyle/>
                    <a:p>
                      <a:r>
                        <a:rPr lang="en-IN" sz="2000">
                          <a:latin typeface="Times New Roman" panose="02020603050405020304" pitchFamily="18" charset="0"/>
                          <a:cs typeface="Times New Roman" panose="02020603050405020304" pitchFamily="18" charset="0"/>
                        </a:rPr>
                        <a:t>Number of Epochs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anose="02020603050405020304" pitchFamily="18" charset="0"/>
                          <a:cs typeface="Times New Roman" panose="02020603050405020304" pitchFamily="18" charset="0"/>
                        </a:rPr>
                        <a:t>Number of complete passes through the training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Times New Roman" panose="02020603050405020304" pitchFamily="18" charset="0"/>
                          <a:cs typeface="Times New Roman" panose="02020603050405020304" pitchFamily="18" charset="0"/>
                        </a:rPr>
                        <a:t>50 to 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9942151"/>
                  </a:ext>
                </a:extLst>
              </a:tr>
              <a:tr h="370840">
                <a:tc>
                  <a:txBody>
                    <a:bodyPr/>
                    <a:lstStyle/>
                    <a:p>
                      <a:r>
                        <a:rPr lang="en-IN" sz="2000">
                          <a:latin typeface="Times New Roman" panose="02020603050405020304" pitchFamily="18" charset="0"/>
                          <a:cs typeface="Times New Roman" panose="02020603050405020304" pitchFamily="18" charset="0"/>
                        </a:rPr>
                        <a:t>Image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Input image dimensions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Times New Roman" panose="02020603050405020304" pitchFamily="18" charset="0"/>
                          <a:cs typeface="Times New Roman" panose="02020603050405020304" pitchFamily="18" charset="0"/>
                        </a:rPr>
                        <a:t>320 to 1280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4527950"/>
                  </a:ext>
                </a:extLst>
              </a:tr>
              <a:tr h="370840">
                <a:tc>
                  <a:txBody>
                    <a:bodyPr/>
                    <a:lstStyle/>
                    <a:p>
                      <a:r>
                        <a:rPr lang="en-IN" sz="2000">
                          <a:latin typeface="Times New Roman" panose="02020603050405020304" pitchFamily="18" charset="0"/>
                          <a:cs typeface="Times New Roman" panose="02020603050405020304" pitchFamily="18" charset="0"/>
                        </a:rPr>
                        <a:t>Optimizer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anose="02020603050405020304" pitchFamily="18" charset="0"/>
                          <a:cs typeface="Times New Roman" panose="02020603050405020304" pitchFamily="18" charset="0"/>
                        </a:rPr>
                        <a:t>Algorithm to update network weights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Times New Roman" panose="02020603050405020304" pitchFamily="18" charset="0"/>
                          <a:cs typeface="Times New Roman" panose="02020603050405020304" pitchFamily="18" charset="0"/>
                        </a:rPr>
                        <a:t>Adam, SGD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551440"/>
                  </a:ext>
                </a:extLst>
              </a:tr>
              <a:tr h="370840">
                <a:tc>
                  <a:txBody>
                    <a:bodyPr/>
                    <a:lstStyle/>
                    <a:p>
                      <a:r>
                        <a:rPr lang="en-IN" sz="2000">
                          <a:latin typeface="Times New Roman" panose="02020603050405020304" pitchFamily="18" charset="0"/>
                          <a:cs typeface="Times New Roman" panose="02020603050405020304" pitchFamily="18" charset="0"/>
                        </a:rPr>
                        <a:t>Momentum (for SGD)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Accelerates gradient descent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0.9 to 0.99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905809"/>
                  </a:ext>
                </a:extLst>
              </a:tr>
              <a:tr h="370840">
                <a:tc>
                  <a:txBody>
                    <a:bodyPr/>
                    <a:lstStyle/>
                    <a:p>
                      <a:r>
                        <a:rPr lang="en-IN" sz="2000">
                          <a:latin typeface="Times New Roman" panose="02020603050405020304" pitchFamily="18" charset="0"/>
                          <a:cs typeface="Times New Roman" panose="02020603050405020304" pitchFamily="18" charset="0"/>
                        </a:rPr>
                        <a:t>Augmentation 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Times New Roman" panose="02020603050405020304" pitchFamily="18" charset="0"/>
                          <a:cs typeface="Times New Roman" panose="02020603050405020304" pitchFamily="18" charset="0"/>
                        </a:rPr>
                        <a:t>Intensity of data augmentation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0 to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4119246"/>
                  </a:ext>
                </a:extLst>
              </a:tr>
              <a:tr h="370840">
                <a:tc>
                  <a:txBody>
                    <a:bodyPr/>
                    <a:lstStyle/>
                    <a:p>
                      <a:r>
                        <a:rPr lang="en-IN" sz="2000">
                          <a:latin typeface="Times New Roman" panose="02020603050405020304" pitchFamily="18" charset="0"/>
                          <a:cs typeface="Times New Roman" panose="02020603050405020304" pitchFamily="18" charset="0"/>
                        </a:rPr>
                        <a:t>Warmup Epochs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latin typeface="Times New Roman" panose="02020603050405020304" pitchFamily="18" charset="0"/>
                          <a:cs typeface="Times New Roman" panose="02020603050405020304" pitchFamily="18" charset="0"/>
                        </a:rPr>
                        <a:t>Number of epochs for learning rate warmup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0 to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634407"/>
                  </a:ext>
                </a:extLst>
              </a:tr>
              <a:tr h="370840">
                <a:tc>
                  <a:txBody>
                    <a:bodyPr/>
                    <a:lstStyle/>
                    <a:p>
                      <a:r>
                        <a:rPr lang="en-IN" sz="2000">
                          <a:latin typeface="Times New Roman" panose="02020603050405020304" pitchFamily="18" charset="0"/>
                          <a:cs typeface="Times New Roman" panose="02020603050405020304" pitchFamily="18" charset="0"/>
                        </a:rPr>
                        <a:t>Box Loss 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latin typeface="Times New Roman" panose="02020603050405020304" pitchFamily="18" charset="0"/>
                          <a:cs typeface="Times New Roman" panose="02020603050405020304" pitchFamily="18" charset="0"/>
                        </a:rPr>
                        <a:t>Weight for bounding box regression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0.02 to 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6776862"/>
                  </a:ext>
                </a:extLst>
              </a:tr>
              <a:tr h="370840">
                <a:tc>
                  <a:txBody>
                    <a:bodyPr/>
                    <a:lstStyle/>
                    <a:p>
                      <a:r>
                        <a:rPr lang="en-IN" sz="2000">
                          <a:latin typeface="Times New Roman" panose="02020603050405020304" pitchFamily="18" charset="0"/>
                          <a:cs typeface="Times New Roman" panose="02020603050405020304" pitchFamily="18" charset="0"/>
                        </a:rPr>
                        <a:t>Class Loss 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a:latin typeface="Times New Roman" panose="02020603050405020304" pitchFamily="18" charset="0"/>
                          <a:cs typeface="Times New Roman" panose="02020603050405020304" pitchFamily="18" charset="0"/>
                        </a:rPr>
                        <a:t>Weight for classification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latin typeface="Times New Roman" panose="02020603050405020304" pitchFamily="18" charset="0"/>
                          <a:cs typeface="Times New Roman" panose="02020603050405020304" pitchFamily="18" charset="0"/>
                        </a:rPr>
                        <a:t>0.2 to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359867"/>
                  </a:ext>
                </a:extLst>
              </a:tr>
            </a:tbl>
          </a:graphicData>
        </a:graphic>
      </p:graphicFrame>
      <p:sp>
        <p:nvSpPr>
          <p:cNvPr id="10" name="Title 1">
            <a:extLst>
              <a:ext uri="{FF2B5EF4-FFF2-40B4-BE49-F238E27FC236}">
                <a16:creationId xmlns:a16="http://schemas.microsoft.com/office/drawing/2014/main" id="{EF9ABE94-D00C-705E-9E4F-6D2E85EE5746}"/>
              </a:ext>
            </a:extLst>
          </p:cNvPr>
          <p:cNvSpPr>
            <a:spLocks noGrp="1"/>
          </p:cNvSpPr>
          <p:nvPr>
            <p:ph type="title"/>
          </p:nvPr>
        </p:nvSpPr>
        <p:spPr>
          <a:xfrm>
            <a:off x="3131820" y="564652"/>
            <a:ext cx="5509260"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Hyper Parameter Table</a:t>
            </a:r>
          </a:p>
        </p:txBody>
      </p:sp>
    </p:spTree>
    <p:extLst>
      <p:ext uri="{BB962C8B-B14F-4D97-AF65-F5344CB8AC3E}">
        <p14:creationId xmlns:p14="http://schemas.microsoft.com/office/powerpoint/2010/main" val="319884876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55769C-896D-9C88-8831-20C19D7AF861}"/>
              </a:ext>
            </a:extLst>
          </p:cNvPr>
          <p:cNvSpPr txBox="1"/>
          <p:nvPr/>
        </p:nvSpPr>
        <p:spPr>
          <a:xfrm>
            <a:off x="370390" y="1041063"/>
            <a:ext cx="10984374" cy="3785652"/>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Hyperparameter Tuning Strategy</a:t>
            </a:r>
          </a:p>
          <a:p>
            <a:pPr>
              <a:buFont typeface="+mj-lt"/>
              <a:buAutoNum type="arabicPeriod"/>
            </a:pPr>
            <a:r>
              <a:rPr lang="en-US" sz="2400" dirty="0">
                <a:latin typeface="Times New Roman" panose="02020603050405020304" pitchFamily="18" charset="0"/>
                <a:cs typeface="Times New Roman" panose="02020603050405020304" pitchFamily="18" charset="0"/>
              </a:rPr>
              <a:t>Start with default values provided by the YOLO v8 implementation.</a:t>
            </a:r>
          </a:p>
          <a:p>
            <a:pPr>
              <a:buFont typeface="+mj-lt"/>
              <a:buAutoNum type="arabicPeriod"/>
            </a:pPr>
            <a:r>
              <a:rPr lang="en-US" sz="2400" dirty="0">
                <a:latin typeface="Times New Roman" panose="02020603050405020304" pitchFamily="18" charset="0"/>
                <a:cs typeface="Times New Roman" panose="02020603050405020304" pitchFamily="18" charset="0"/>
              </a:rPr>
              <a:t>Perform a coarse grid search on key parameters (learning rate, batch size, image size).</a:t>
            </a:r>
          </a:p>
          <a:p>
            <a:pPr>
              <a:buFont typeface="+mj-lt"/>
              <a:buAutoNum type="arabicPeriod"/>
            </a:pPr>
            <a:r>
              <a:rPr lang="en-US" sz="2400" dirty="0">
                <a:latin typeface="Times New Roman" panose="02020603050405020304" pitchFamily="18" charset="0"/>
                <a:cs typeface="Times New Roman" panose="02020603050405020304" pitchFamily="18" charset="0"/>
              </a:rPr>
              <a:t>Use Bayesian optimization or random search for fine-tuning.</a:t>
            </a:r>
          </a:p>
          <a:p>
            <a:pPr>
              <a:buFont typeface="+mj-lt"/>
              <a:buAutoNum type="arabicPeriod"/>
            </a:pPr>
            <a:r>
              <a:rPr lang="en-US" sz="2400" dirty="0">
                <a:latin typeface="Times New Roman" panose="02020603050405020304" pitchFamily="18" charset="0"/>
                <a:cs typeface="Times New Roman" panose="02020603050405020304" pitchFamily="18" charset="0"/>
              </a:rPr>
              <a:t>Monitor training and validation curves to identify overfitting or underfitting.</a:t>
            </a:r>
          </a:p>
          <a:p>
            <a:pPr>
              <a:buFont typeface="+mj-lt"/>
              <a:buAutoNum type="arabicPeriod"/>
            </a:pPr>
            <a:r>
              <a:rPr lang="en-US" sz="2400" dirty="0">
                <a:latin typeface="Times New Roman" panose="02020603050405020304" pitchFamily="18" charset="0"/>
                <a:cs typeface="Times New Roman" panose="02020603050405020304" pitchFamily="18" charset="0"/>
              </a:rPr>
              <a:t>Adjust data augmentation based on model performance and dataset size.</a:t>
            </a:r>
          </a:p>
          <a:p>
            <a:pPr>
              <a:buFont typeface="+mj-lt"/>
              <a:buAutoNum type="arabicPeriod"/>
            </a:pPr>
            <a:r>
              <a:rPr lang="en-US" sz="2400" dirty="0">
                <a:latin typeface="Times New Roman" panose="02020603050405020304" pitchFamily="18" charset="0"/>
                <a:cs typeface="Times New Roman" panose="02020603050405020304" pitchFamily="18" charset="0"/>
              </a:rPr>
              <a:t>Fine-tune loss weights if certain aspects (localization, classification) are underperforming.</a:t>
            </a:r>
          </a:p>
          <a:p>
            <a:pPr>
              <a:buFont typeface="+mj-lt"/>
              <a:buAutoNum type="arabicPeriod"/>
            </a:pPr>
            <a:r>
              <a:rPr lang="en-US" sz="2400" dirty="0">
                <a:latin typeface="Times New Roman" panose="02020603050405020304" pitchFamily="18" charset="0"/>
                <a:cs typeface="Times New Roman" panose="02020603050405020304" pitchFamily="18" charset="0"/>
              </a:rPr>
              <a:t>Experiment with different optimizers and learning rate schedules.</a:t>
            </a:r>
          </a:p>
          <a:p>
            <a:pPr>
              <a:buFont typeface="+mj-lt"/>
              <a:buAutoNum type="arabicPeriod"/>
            </a:pPr>
            <a:r>
              <a:rPr lang="en-US" sz="2400" dirty="0">
                <a:latin typeface="Times New Roman" panose="02020603050405020304" pitchFamily="18" charset="0"/>
                <a:cs typeface="Times New Roman" panose="02020603050405020304" pitchFamily="18" charset="0"/>
              </a:rPr>
              <a:t>Consider model ensemble or test-time augmentation for final performance boost.</a:t>
            </a:r>
          </a:p>
        </p:txBody>
      </p:sp>
      <p:sp>
        <p:nvSpPr>
          <p:cNvPr id="2" name="Title 1">
            <a:extLst>
              <a:ext uri="{FF2B5EF4-FFF2-40B4-BE49-F238E27FC236}">
                <a16:creationId xmlns:a16="http://schemas.microsoft.com/office/drawing/2014/main" id="{AA14ED7D-F661-4491-7D68-069515FD65FE}"/>
              </a:ext>
            </a:extLst>
          </p:cNvPr>
          <p:cNvSpPr>
            <a:spLocks noGrp="1"/>
          </p:cNvSpPr>
          <p:nvPr>
            <p:ph type="title"/>
          </p:nvPr>
        </p:nvSpPr>
        <p:spPr>
          <a:xfrm>
            <a:off x="3107947" y="218875"/>
            <a:ext cx="5509260" cy="669016"/>
          </a:xfrm>
        </p:spPr>
        <p:txBody>
          <a:bodyPr>
            <a:normAutofit fontScale="90000"/>
          </a:bodyPr>
          <a:lstStyle/>
          <a:p>
            <a:r>
              <a:rPr lang="en-US" sz="4000" b="1" dirty="0">
                <a:solidFill>
                  <a:srgbClr val="CC0066"/>
                </a:solidFill>
                <a:latin typeface="Times New Roman" panose="02020603050405020304" pitchFamily="18" charset="0"/>
                <a:cs typeface="Times New Roman" panose="02020603050405020304" pitchFamily="18" charset="0"/>
              </a:rPr>
              <a:t>Hyper Parameter Tuning</a:t>
            </a:r>
          </a:p>
        </p:txBody>
      </p:sp>
    </p:spTree>
    <p:extLst>
      <p:ext uri="{BB962C8B-B14F-4D97-AF65-F5344CB8AC3E}">
        <p14:creationId xmlns:p14="http://schemas.microsoft.com/office/powerpoint/2010/main" val="139436726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ED7D-F661-4491-7D68-069515FD65FE}"/>
              </a:ext>
            </a:extLst>
          </p:cNvPr>
          <p:cNvSpPr>
            <a:spLocks noGrp="1"/>
          </p:cNvSpPr>
          <p:nvPr>
            <p:ph type="title"/>
          </p:nvPr>
        </p:nvSpPr>
        <p:spPr>
          <a:xfrm>
            <a:off x="4297173" y="897800"/>
            <a:ext cx="3353307"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Setup Planned</a:t>
            </a:r>
          </a:p>
        </p:txBody>
      </p:sp>
      <p:sp>
        <p:nvSpPr>
          <p:cNvPr id="6" name="Rectangle 1">
            <a:extLst>
              <a:ext uri="{FF2B5EF4-FFF2-40B4-BE49-F238E27FC236}">
                <a16:creationId xmlns:a16="http://schemas.microsoft.com/office/drawing/2014/main" id="{0D0963A9-C9B5-A8C8-975C-530301AA4F1C}"/>
              </a:ext>
            </a:extLst>
          </p:cNvPr>
          <p:cNvSpPr>
            <a:spLocks noChangeArrowheads="1"/>
          </p:cNvSpPr>
          <p:nvPr/>
        </p:nvSpPr>
        <p:spPr bwMode="auto">
          <a:xfrm>
            <a:off x="396240" y="1566816"/>
            <a:ext cx="10668000" cy="2600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lnSpc>
                <a:spcPct val="150000"/>
              </a:lnSpc>
              <a:spcBef>
                <a:spcPct val="0"/>
              </a:spcBef>
              <a:spcAft>
                <a:spcPct val="0"/>
              </a:spcAft>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Gather a diverse dataset of crop images, including various anomalies.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and optimize the YOLO v8 model for your specific use case. </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the system on suitable hardware for drone deployment. </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 thorough testing and validation in real-world conditions. </a:t>
            </a:r>
          </a:p>
        </p:txBody>
      </p:sp>
    </p:spTree>
    <p:extLst>
      <p:ext uri="{BB962C8B-B14F-4D97-AF65-F5344CB8AC3E}">
        <p14:creationId xmlns:p14="http://schemas.microsoft.com/office/powerpoint/2010/main" val="15008362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ED7D-F661-4491-7D68-069515FD65FE}"/>
              </a:ext>
            </a:extLst>
          </p:cNvPr>
          <p:cNvSpPr>
            <a:spLocks noGrp="1"/>
          </p:cNvSpPr>
          <p:nvPr>
            <p:ph type="title"/>
          </p:nvPr>
        </p:nvSpPr>
        <p:spPr>
          <a:xfrm>
            <a:off x="2559813" y="523675"/>
            <a:ext cx="7377173" cy="669016"/>
          </a:xfrm>
        </p:spPr>
        <p:txBody>
          <a:bodyPr>
            <a:normAutofit fontScale="90000"/>
          </a:bodyPr>
          <a:lstStyle/>
          <a:p>
            <a:r>
              <a:rPr lang="en-US" sz="4000" b="1" dirty="0">
                <a:solidFill>
                  <a:srgbClr val="CC0066"/>
                </a:solidFill>
                <a:latin typeface="Times New Roman" panose="02020603050405020304" pitchFamily="18" charset="0"/>
                <a:cs typeface="Times New Roman" panose="02020603050405020304" pitchFamily="18" charset="0"/>
              </a:rPr>
              <a:t>Formulas for Performance Metrics</a:t>
            </a:r>
          </a:p>
        </p:txBody>
      </p:sp>
      <p:sp>
        <p:nvSpPr>
          <p:cNvPr id="4" name="TextBox 3">
            <a:extLst>
              <a:ext uri="{FF2B5EF4-FFF2-40B4-BE49-F238E27FC236}">
                <a16:creationId xmlns:a16="http://schemas.microsoft.com/office/drawing/2014/main" id="{5929EAEF-233F-CBB1-D4D3-6837D8D0401A}"/>
              </a:ext>
            </a:extLst>
          </p:cNvPr>
          <p:cNvSpPr txBox="1"/>
          <p:nvPr/>
        </p:nvSpPr>
        <p:spPr>
          <a:xfrm>
            <a:off x="1813560" y="1570226"/>
            <a:ext cx="8869680" cy="2677656"/>
          </a:xfrm>
          <a:prstGeom prst="rect">
            <a:avLst/>
          </a:prstGeom>
          <a:noFill/>
        </p:spPr>
        <p:txBody>
          <a:bodyPr wrap="square">
            <a:spAutoFit/>
          </a:bodyPr>
          <a:lstStyle/>
          <a:p>
            <a:pPr rtl="0" fontAlgn="base">
              <a:spcBef>
                <a:spcPts val="0"/>
              </a:spcBef>
              <a:spcAft>
                <a:spcPts val="0"/>
              </a:spcAft>
            </a:pPr>
            <a:r>
              <a:rPr lang="en-IN" sz="2400" b="1" i="0" u="none" strike="noStrike" dirty="0">
                <a:effectLst/>
                <a:latin typeface="Times New Roman" panose="02020603050405020304" pitchFamily="18" charset="0"/>
                <a:cs typeface="Times New Roman" panose="02020603050405020304" pitchFamily="18" charset="0"/>
              </a:rPr>
              <a:t>Accuracy = (TP + TN) / (TP + TN + FP + FN)</a:t>
            </a:r>
            <a:endParaRPr lang="en-IN" sz="2400" b="0" i="0" u="none" strike="noStrike" dirty="0">
              <a:effectLst/>
              <a:latin typeface="Times New Roman" panose="02020603050405020304" pitchFamily="18" charset="0"/>
              <a:cs typeface="Times New Roman" panose="02020603050405020304" pitchFamily="18" charset="0"/>
            </a:endParaRPr>
          </a:p>
          <a:p>
            <a:pPr rtl="0" fontAlgn="base">
              <a:spcBef>
                <a:spcPts val="0"/>
              </a:spcBef>
              <a:spcAft>
                <a:spcPts val="0"/>
              </a:spcAft>
            </a:pPr>
            <a:br>
              <a:rPr lang="en-IN" sz="2400" b="0" dirty="0">
                <a:effectLst/>
                <a:latin typeface="Times New Roman" panose="02020603050405020304" pitchFamily="18" charset="0"/>
                <a:cs typeface="Times New Roman" panose="02020603050405020304" pitchFamily="18" charset="0"/>
              </a:rPr>
            </a:br>
            <a:r>
              <a:rPr lang="en-IN" sz="2400" b="1" i="0" u="none" strike="noStrike" dirty="0">
                <a:effectLst/>
                <a:latin typeface="Times New Roman" panose="02020603050405020304" pitchFamily="18" charset="0"/>
                <a:cs typeface="Times New Roman" panose="02020603050405020304" pitchFamily="18" charset="0"/>
              </a:rPr>
              <a:t>Precision = TP / (TP + FP)</a:t>
            </a:r>
            <a:endParaRPr lang="en-IN" sz="2400" b="0" i="0" u="none" strike="noStrike" dirty="0">
              <a:effectLst/>
              <a:latin typeface="Times New Roman" panose="02020603050405020304" pitchFamily="18" charset="0"/>
              <a:cs typeface="Times New Roman" panose="02020603050405020304" pitchFamily="18" charset="0"/>
            </a:endParaRPr>
          </a:p>
          <a:p>
            <a:pPr rtl="0" fontAlgn="base">
              <a:spcBef>
                <a:spcPts val="0"/>
              </a:spcBef>
              <a:spcAft>
                <a:spcPts val="0"/>
              </a:spcAft>
            </a:pPr>
            <a:br>
              <a:rPr lang="en-IN" sz="2400" b="0" dirty="0">
                <a:effectLst/>
                <a:latin typeface="Times New Roman" panose="02020603050405020304" pitchFamily="18" charset="0"/>
                <a:cs typeface="Times New Roman" panose="02020603050405020304" pitchFamily="18" charset="0"/>
              </a:rPr>
            </a:br>
            <a:r>
              <a:rPr lang="en-IN" sz="2400" b="1" i="0" u="none" strike="noStrike" dirty="0">
                <a:effectLst/>
                <a:latin typeface="Times New Roman" panose="02020603050405020304" pitchFamily="18" charset="0"/>
                <a:cs typeface="Times New Roman" panose="02020603050405020304" pitchFamily="18" charset="0"/>
              </a:rPr>
              <a:t>Recall = TP / (TP + FN)</a:t>
            </a:r>
            <a:endParaRPr lang="en-IN" sz="2400" b="0" i="0" u="none" strike="noStrike" dirty="0">
              <a:effectLst/>
              <a:latin typeface="Times New Roman" panose="02020603050405020304" pitchFamily="18" charset="0"/>
              <a:cs typeface="Times New Roman" panose="02020603050405020304" pitchFamily="18" charset="0"/>
            </a:endParaRPr>
          </a:p>
          <a:p>
            <a:pPr rtl="0" fontAlgn="base">
              <a:spcBef>
                <a:spcPts val="0"/>
              </a:spcBef>
              <a:spcAft>
                <a:spcPts val="0"/>
              </a:spcAft>
            </a:pPr>
            <a:br>
              <a:rPr lang="en-IN" sz="2400" b="0" dirty="0">
                <a:effectLst/>
                <a:latin typeface="Times New Roman" panose="02020603050405020304" pitchFamily="18" charset="0"/>
                <a:cs typeface="Times New Roman" panose="02020603050405020304" pitchFamily="18" charset="0"/>
              </a:rPr>
            </a:br>
            <a:r>
              <a:rPr lang="en-IN" sz="2400" b="1" i="0" u="none" strike="noStrike" dirty="0">
                <a:effectLst/>
                <a:latin typeface="Times New Roman" panose="02020603050405020304" pitchFamily="18" charset="0"/>
                <a:cs typeface="Times New Roman" panose="02020603050405020304" pitchFamily="18" charset="0"/>
              </a:rPr>
              <a:t>F1 Score = 2 * (Precision * Recall) / (Precision + Recall)</a:t>
            </a:r>
            <a:endParaRPr lang="en-IN" sz="2400" b="0" i="0" u="none" strike="noStrike"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30288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40519" y="335722"/>
            <a:ext cx="10678464"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References </a:t>
            </a:r>
          </a:p>
        </p:txBody>
      </p:sp>
      <p:sp>
        <p:nvSpPr>
          <p:cNvPr id="4" name="TextBox 3">
            <a:extLst>
              <a:ext uri="{FF2B5EF4-FFF2-40B4-BE49-F238E27FC236}">
                <a16:creationId xmlns:a16="http://schemas.microsoft.com/office/drawing/2014/main" id="{12CF7BDF-F6BC-3B20-8B33-D4AAF0734DC8}"/>
              </a:ext>
            </a:extLst>
          </p:cNvPr>
          <p:cNvSpPr txBox="1"/>
          <p:nvPr/>
        </p:nvSpPr>
        <p:spPr>
          <a:xfrm>
            <a:off x="508311" y="1151774"/>
            <a:ext cx="10593798" cy="2862322"/>
          </a:xfrm>
          <a:prstGeom prst="rect">
            <a:avLst/>
          </a:prstGeom>
          <a:noFill/>
        </p:spPr>
        <p:txBody>
          <a:bodyPr wrap="square" rtlCol="0">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hlinkClick r:id="rId2"/>
              </a:rPr>
              <a:t>https://github.com/ultralytics/ultralytics/issues/189</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Singh, E.; Pratap, A.;  Mehta, U.; </a:t>
            </a:r>
            <a:r>
              <a:rPr lang="en-IN" dirty="0" err="1">
                <a:latin typeface="Times New Roman" panose="02020603050405020304" pitchFamily="18" charset="0"/>
                <a:cs typeface="Times New Roman" panose="02020603050405020304" pitchFamily="18" charset="0"/>
              </a:rPr>
              <a:t>Azid</a:t>
            </a:r>
            <a:r>
              <a:rPr lang="en-IN" dirty="0">
                <a:latin typeface="Times New Roman" panose="02020603050405020304" pitchFamily="18" charset="0"/>
                <a:cs typeface="Times New Roman" panose="02020603050405020304" pitchFamily="18" charset="0"/>
              </a:rPr>
              <a:t>, S.I. Smart  Agriculture Drone for Crop Spraying  Using Image-Processing and Machine  Learning Techniques: Experimental  Validation. IoT 2024, 5, 250–270.  </a:t>
            </a:r>
            <a:r>
              <a:rPr lang="en-IN" dirty="0">
                <a:latin typeface="Times New Roman" panose="02020603050405020304" pitchFamily="18" charset="0"/>
                <a:cs typeface="Times New Roman" panose="02020603050405020304" pitchFamily="18" charset="0"/>
                <a:hlinkClick r:id="rId3"/>
              </a:rPr>
              <a:t>https://doi.org/10.3390/iot5020013</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0" i="0" dirty="0">
                <a:solidFill>
                  <a:srgbClr val="1F1F1F"/>
                </a:solidFill>
                <a:effectLst/>
                <a:latin typeface="Times New Roman" panose="02020603050405020304" pitchFamily="18" charset="0"/>
                <a:cs typeface="Times New Roman" panose="02020603050405020304" pitchFamily="18" charset="0"/>
              </a:rPr>
              <a:t>A lightweight SSV2-YOLO based model for detection of sugarcane aphids in unstructured natural environments </a:t>
            </a:r>
            <a:r>
              <a:rPr lang="en-IN" dirty="0">
                <a:latin typeface="Times New Roman" panose="02020603050405020304" pitchFamily="18" charset="0"/>
                <a:cs typeface="Times New Roman" panose="02020603050405020304" pitchFamily="18" charset="0"/>
                <a:hlinkClick r:id="rId4"/>
              </a:rPr>
              <a:t>https://doi.org/10.1016/j.compag.2023.107961</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i="1" u="none" strike="noStrike" dirty="0">
                <a:solidFill>
                  <a:srgbClr val="0563C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Jacob </a:t>
            </a:r>
            <a:r>
              <a:rPr lang="en-US" b="1" i="1" u="none" strike="noStrike" dirty="0" err="1">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Solawetz</a:t>
            </a:r>
            <a:r>
              <a:rPr lang="en-US" b="0" i="1" dirty="0">
                <a:effectLst/>
                <a:latin typeface="Times New Roman" panose="02020603050405020304" pitchFamily="18" charset="0"/>
                <a:cs typeface="Times New Roman" panose="02020603050405020304" pitchFamily="18" charset="0"/>
              </a:rPr>
              <a:t>, </a:t>
            </a:r>
            <a:r>
              <a:rPr lang="en-US" b="1" i="1" u="none" strike="noStrike" dirty="0">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Francesco</a:t>
            </a:r>
            <a:r>
              <a:rPr lang="en-US" b="0" i="1" dirty="0">
                <a:effectLst/>
                <a:latin typeface="Times New Roman" panose="02020603050405020304" pitchFamily="18" charset="0"/>
                <a:cs typeface="Times New Roman" panose="02020603050405020304" pitchFamily="18" charset="0"/>
              </a:rPr>
              <a:t>. (Sep 4, 2024). What is YOLOv8? A Complete Guide.. </a:t>
            </a:r>
            <a:r>
              <a:rPr lang="en-US" b="0" i="1" dirty="0" err="1">
                <a:effectLst/>
                <a:latin typeface="Times New Roman" panose="02020603050405020304" pitchFamily="18" charset="0"/>
                <a:cs typeface="Times New Roman" panose="02020603050405020304" pitchFamily="18" charset="0"/>
              </a:rPr>
              <a:t>Roboflow</a:t>
            </a:r>
            <a:r>
              <a:rPr lang="en-US" b="0" i="1" dirty="0">
                <a:effectLst/>
                <a:latin typeface="Times New Roman" panose="02020603050405020304" pitchFamily="18" charset="0"/>
                <a:cs typeface="Times New Roman" panose="02020603050405020304" pitchFamily="18" charset="0"/>
              </a:rPr>
              <a:t> Blog: </a:t>
            </a:r>
            <a:r>
              <a:rPr lang="en-US" b="0" i="1" dirty="0">
                <a:effectLst/>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https://blog.roboflow.com/what-is-yolov8/</a:t>
            </a:r>
            <a:endParaRPr lang="en-US" b="0" i="1"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https://doi.org/10.1186/s40537-021-00434-w</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396699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197314" y="2136813"/>
            <a:ext cx="3797372" cy="1603914"/>
          </a:xfrm>
        </p:spPr>
        <p:txBody>
          <a:bodyPr>
            <a:normAutofit/>
          </a:bodyPr>
          <a:lstStyle/>
          <a:p>
            <a:r>
              <a:rPr lang="en-US" b="1" dirty="0">
                <a:solidFill>
                  <a:srgbClr val="CC0066"/>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56655726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43CD6CE29747349A5A94DA81629FDC5" ma:contentTypeVersion="11" ma:contentTypeDescription="Create a new document." ma:contentTypeScope="" ma:versionID="dc06cc9d132ff9dbfd94d33746a170bc">
  <xsd:schema xmlns:xsd="http://www.w3.org/2001/XMLSchema" xmlns:xs="http://www.w3.org/2001/XMLSchema" xmlns:p="http://schemas.microsoft.com/office/2006/metadata/properties" xmlns:ns2="288a120d-550d-410d-8e83-3a0debd8f61a" xmlns:ns3="b2fc7224-56e7-4a56-81e9-64380d6fda13" targetNamespace="http://schemas.microsoft.com/office/2006/metadata/properties" ma:root="true" ma:fieldsID="3e4d2b7f430bf8adbb47ab8b4dbba55a" ns2:_="" ns3:_="">
    <xsd:import namespace="288a120d-550d-410d-8e83-3a0debd8f61a"/>
    <xsd:import namespace="b2fc7224-56e7-4a56-81e9-64380d6fd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a120d-550d-410d-8e83-3a0debd8f6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fc7224-56e7-4a56-81e9-64380d6fda1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4EAF80-A9B1-4397-8673-948369AFEFED}">
  <ds:schemaRefs>
    <ds:schemaRef ds:uri="http://schemas.microsoft.com/sharepoint/v3/contenttype/forms"/>
  </ds:schemaRefs>
</ds:datastoreItem>
</file>

<file path=customXml/itemProps2.xml><?xml version="1.0" encoding="utf-8"?>
<ds:datastoreItem xmlns:ds="http://schemas.openxmlformats.org/officeDocument/2006/customXml" ds:itemID="{CC86E6DA-5186-4C2D-B67F-DA1E8DD817FC}">
  <ds:schemaRefs>
    <ds:schemaRef ds:uri="http://purl.org/dc/dcmitype/"/>
    <ds:schemaRef ds:uri="http://purl.org/dc/terms/"/>
    <ds:schemaRef ds:uri="http://purl.org/dc/elements/1.1/"/>
    <ds:schemaRef ds:uri="288a120d-550d-410d-8e83-3a0debd8f61a"/>
    <ds:schemaRef ds:uri="http://schemas.microsoft.com/office/2006/metadata/properties"/>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b2fc7224-56e7-4a56-81e9-64380d6fda13"/>
  </ds:schemaRefs>
</ds:datastoreItem>
</file>

<file path=customXml/itemProps3.xml><?xml version="1.0" encoding="utf-8"?>
<ds:datastoreItem xmlns:ds="http://schemas.openxmlformats.org/officeDocument/2006/customXml" ds:itemID="{896A51D3-70D6-4C59-A5F9-E965D4778D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a120d-550d-410d-8e83-3a0debd8f61a"/>
    <ds:schemaRef ds:uri="b2fc7224-56e7-4a56-81e9-64380d6fd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30525</TotalTime>
  <Words>1406</Words>
  <Application>Microsoft Office PowerPoint</Application>
  <PresentationFormat>Widescreen</PresentationFormat>
  <Paragraphs>167</Paragraphs>
  <Slides>20</Slides>
  <Notes>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Avenir Next LT Pro</vt:lpstr>
      <vt:lpstr>Calibri</vt:lpstr>
      <vt:lpstr>Futura</vt:lpstr>
      <vt:lpstr>Times New Roman</vt:lpstr>
      <vt:lpstr>Times New Roman Bold</vt:lpstr>
      <vt:lpstr>Wingdings</vt:lpstr>
      <vt:lpstr>Presentation slides</vt:lpstr>
      <vt:lpstr>Anomalies detection in crop health and creating a custom flight path.</vt:lpstr>
      <vt:lpstr>PowerPoint Presentation</vt:lpstr>
      <vt:lpstr>Introduction</vt:lpstr>
      <vt:lpstr>PowerPoint Presentation</vt:lpstr>
      <vt:lpstr>Literature Survey</vt:lpstr>
      <vt:lpstr>YOLO Architecture &amp; its Features</vt:lpstr>
      <vt:lpstr>YOLO Architecture &amp; its Features</vt:lpstr>
      <vt:lpstr>YOLO Architecture &amp; its Features</vt:lpstr>
      <vt:lpstr>Block Diagram/Methodology</vt:lpstr>
      <vt:lpstr>Block Diagram/Methodology</vt:lpstr>
      <vt:lpstr>Autonomous Mission Plan</vt:lpstr>
      <vt:lpstr>Algorithm</vt:lpstr>
      <vt:lpstr>Why YOLO-V8 Architecture</vt:lpstr>
      <vt:lpstr>Computer Vision based Approach</vt:lpstr>
      <vt:lpstr>Hyper Parameter Table</vt:lpstr>
      <vt:lpstr>Hyper Parameter Tuning</vt:lpstr>
      <vt:lpstr>Setup Planned</vt:lpstr>
      <vt:lpstr>Formulas for Performance Metrics</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KSUM-SB2-XPS-35</dc:creator>
  <cp:lastModifiedBy>Sashank Sasi</cp:lastModifiedBy>
  <cp:revision>847</cp:revision>
  <dcterms:created xsi:type="dcterms:W3CDTF">2020-07-03T08:40:50Z</dcterms:created>
  <dcterms:modified xsi:type="dcterms:W3CDTF">2024-09-29T18:05:16Z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0x010100643CD6CE29747349A5A94DA81629FDC5</vt:lpwstr>
  </property>
</Properties>
</file>