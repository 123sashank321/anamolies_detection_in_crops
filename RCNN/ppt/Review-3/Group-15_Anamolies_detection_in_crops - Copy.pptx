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4"/>
    <p:sldMasterId id="2147483660" r:id="rId5"/>
    <p:sldMasterId id="2147483685" r:id="rId6"/>
    <p:sldMasterId id="2147483688" r:id="rId7"/>
    <p:sldMasterId id="2147483701" r:id="rId8"/>
  </p:sldMasterIdLst>
  <p:notesMasterIdLst>
    <p:notesMasterId r:id="rId39"/>
  </p:notesMasterIdLst>
  <p:handoutMasterIdLst>
    <p:handoutMasterId r:id="rId40"/>
  </p:handoutMasterIdLst>
  <p:sldIdLst>
    <p:sldId id="904" r:id="rId9"/>
    <p:sldId id="861" r:id="rId10"/>
    <p:sldId id="831" r:id="rId11"/>
    <p:sldId id="900" r:id="rId12"/>
    <p:sldId id="901" r:id="rId13"/>
    <p:sldId id="903" r:id="rId14"/>
    <p:sldId id="902" r:id="rId15"/>
    <p:sldId id="860" r:id="rId16"/>
    <p:sldId id="850" r:id="rId17"/>
    <p:sldId id="875" r:id="rId18"/>
    <p:sldId id="876" r:id="rId19"/>
    <p:sldId id="877" r:id="rId20"/>
    <p:sldId id="887" r:id="rId21"/>
    <p:sldId id="888" r:id="rId22"/>
    <p:sldId id="889" r:id="rId23"/>
    <p:sldId id="890" r:id="rId24"/>
    <p:sldId id="891" r:id="rId25"/>
    <p:sldId id="893" r:id="rId26"/>
    <p:sldId id="892" r:id="rId27"/>
    <p:sldId id="894" r:id="rId28"/>
    <p:sldId id="895" r:id="rId29"/>
    <p:sldId id="896" r:id="rId30"/>
    <p:sldId id="897" r:id="rId31"/>
    <p:sldId id="898" r:id="rId32"/>
    <p:sldId id="878" r:id="rId33"/>
    <p:sldId id="879" r:id="rId34"/>
    <p:sldId id="884" r:id="rId35"/>
    <p:sldId id="882" r:id="rId36"/>
    <p:sldId id="885" r:id="rId37"/>
    <p:sldId id="88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14D"/>
    <a:srgbClr val="E26FA9"/>
    <a:srgbClr val="CC0066"/>
    <a:srgbClr val="38507C"/>
    <a:srgbClr val="086072"/>
    <a:srgbClr val="336699"/>
    <a:srgbClr val="69115F"/>
    <a:srgbClr val="E96C1F"/>
    <a:srgbClr val="2657E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26" autoAdjust="0"/>
  </p:normalViewPr>
  <p:slideViewPr>
    <p:cSldViewPr snapToGrid="0">
      <p:cViewPr varScale="1">
        <p:scale>
          <a:sx n="114" d="100"/>
          <a:sy n="114" d="100"/>
        </p:scale>
        <p:origin x="474" y="102"/>
      </p:cViewPr>
      <p:guideLst>
        <p:guide orient="horz" pos="2160"/>
        <p:guide pos="3840"/>
      </p:guideLst>
    </p:cSldViewPr>
  </p:slideViewPr>
  <p:outlineViewPr>
    <p:cViewPr>
      <p:scale>
        <a:sx n="33" d="100"/>
        <a:sy n="33" d="100"/>
      </p:scale>
      <p:origin x="0" y="-4248"/>
    </p:cViewPr>
  </p:outlineViewPr>
  <p:notesTextViewPr>
    <p:cViewPr>
      <p:scale>
        <a:sx n="150" d="100"/>
        <a:sy n="150" d="100"/>
      </p:scale>
      <p:origin x="0" y="0"/>
    </p:cViewPr>
  </p:notesTextViewPr>
  <p:sorterViewPr>
    <p:cViewPr>
      <p:scale>
        <a:sx n="75" d="100"/>
        <a:sy n="75" d="100"/>
      </p:scale>
      <p:origin x="0" y="0"/>
    </p:cViewPr>
  </p:sorter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notesMaster" Target="notesMasters/notesMaster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FDB985-8404-473A-A297-1E33D8BC29AD}" type="datetimeFigureOut">
              <a:rPr lang="en-US" smtClean="0"/>
              <a:pPr/>
              <a:t>11/9/2024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2B8ED-2479-4BFE-A0EA-F4DF447902E2}" type="slidenum">
              <a:rPr lang="en-US" smtClean="0"/>
              <a:pPr/>
              <a:t>‹#›</a:t>
            </a:fld>
            <a:endParaRPr lang="en-US" dirty="0"/>
          </a:p>
        </p:txBody>
      </p:sp>
    </p:spTree>
    <p:extLst>
      <p:ext uri="{BB962C8B-B14F-4D97-AF65-F5344CB8AC3E}">
        <p14:creationId xmlns:p14="http://schemas.microsoft.com/office/powerpoint/2010/main" val="286997832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85CDB-4198-450F-B6D3-048A14B96D4C}" type="datetimeFigureOut">
              <a:rPr lang="en-IN" smtClean="0"/>
              <a:pPr/>
              <a:t>09-11-2024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04008-3433-43AD-8483-BD8A804A264A}" type="slidenum">
              <a:rPr lang="en-IN" smtClean="0"/>
              <a:pPr/>
              <a:t>‹#›</a:t>
            </a:fld>
            <a:endParaRPr lang="en-IN" dirty="0"/>
          </a:p>
        </p:txBody>
      </p:sp>
    </p:spTree>
    <p:extLst>
      <p:ext uri="{BB962C8B-B14F-4D97-AF65-F5344CB8AC3E}">
        <p14:creationId xmlns:p14="http://schemas.microsoft.com/office/powerpoint/2010/main" val="38727393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25359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4187337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38538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949138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591524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203092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210312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14638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17184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71895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202905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479445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791746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6B218248-39AE-B24D-B571-E8695ACF81F5}" type="slidenum">
              <a:rPr lang="en-US" smtClean="0"/>
              <a:pPr/>
              <a:t>‹#›</a:t>
            </a:fld>
            <a:endParaRPr lang="en-US" dirty="0"/>
          </a:p>
        </p:txBody>
      </p:sp>
    </p:spTree>
    <p:extLst>
      <p:ext uri="{BB962C8B-B14F-4D97-AF65-F5344CB8AC3E}">
        <p14:creationId xmlns:p14="http://schemas.microsoft.com/office/powerpoint/2010/main" val="28068857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77296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4448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49693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69442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82615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3299912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392649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2684968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50763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5338761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8505224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415600" y="593367"/>
            <a:ext cx="11360800" cy="763600"/>
          </a:xfrm>
          <a:prstGeom prst="rect">
            <a:avLst/>
          </a:prstGeom>
        </p:spPr>
        <p:txBody>
          <a:bodyPr spcFirstLastPara="1" wrap="square" lIns="90000" tIns="46800" rIns="90000" bIns="46800"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29" name="Google Shape;29;p7"/>
          <p:cNvSpPr txBox="1">
            <a:spLocks noGrp="1"/>
          </p:cNvSpPr>
          <p:nvPr>
            <p:ph type="body" idx="1"/>
          </p:nvPr>
        </p:nvSpPr>
        <p:spPr>
          <a:xfrm>
            <a:off x="415600" y="1536633"/>
            <a:ext cx="11360800" cy="4555200"/>
          </a:xfrm>
          <a:prstGeom prst="rect">
            <a:avLst/>
          </a:prstGeom>
        </p:spPr>
        <p:txBody>
          <a:bodyPr spcFirstLastPara="1" wrap="square" lIns="90000" tIns="46800" rIns="90000" bIns="46800" anchor="t" anchorCtr="0">
            <a:noAutofit/>
          </a:bodyPr>
          <a:lstStyle>
            <a:lvl1pPr marL="609570" lvl="0" indent="-450510" rtl="0">
              <a:spcBef>
                <a:spcPts val="675"/>
              </a:spcBef>
              <a:spcAft>
                <a:spcPts val="0"/>
              </a:spcAft>
              <a:buSzPts val="1721"/>
              <a:buChar char="⚫"/>
              <a:defRPr/>
            </a:lvl1pPr>
            <a:lvl2pPr marL="1219140" lvl="1" indent="-402569" rtl="0">
              <a:spcBef>
                <a:spcPts val="551"/>
              </a:spcBef>
              <a:spcAft>
                <a:spcPts val="0"/>
              </a:spcAft>
              <a:buSzPts val="1155"/>
              <a:buChar char="⚪"/>
              <a:defRPr/>
            </a:lvl2pPr>
            <a:lvl3pPr marL="1828709" lvl="2" indent="-400029" rtl="0">
              <a:spcBef>
                <a:spcPts val="500"/>
              </a:spcBef>
              <a:spcAft>
                <a:spcPts val="0"/>
              </a:spcAft>
              <a:buSzPts val="1125"/>
              <a:buChar char="⯍"/>
              <a:defRPr/>
            </a:lvl3pPr>
            <a:lvl4pPr marL="2438278" lvl="3" indent="-393681" rtl="0">
              <a:spcBef>
                <a:spcPts val="500"/>
              </a:spcBef>
              <a:spcAft>
                <a:spcPts val="0"/>
              </a:spcAft>
              <a:buSzPts val="1050"/>
              <a:buChar char="🞆"/>
              <a:defRPr/>
            </a:lvl4pPr>
            <a:lvl5pPr marL="3047848" lvl="4" indent="-431779" rtl="0">
              <a:spcBef>
                <a:spcPts val="500"/>
              </a:spcBef>
              <a:spcAft>
                <a:spcPts val="0"/>
              </a:spcAft>
              <a:buSzPts val="1500"/>
              <a:buChar char="•"/>
              <a:defRPr/>
            </a:lvl5pPr>
            <a:lvl6pPr marL="3657418" lvl="5" indent="-431779" rtl="0">
              <a:spcBef>
                <a:spcPts val="500"/>
              </a:spcBef>
              <a:spcAft>
                <a:spcPts val="0"/>
              </a:spcAft>
              <a:buSzPts val="1500"/>
              <a:buChar char="•"/>
              <a:defRPr/>
            </a:lvl6pPr>
            <a:lvl7pPr marL="4266987" lvl="6" indent="-431779" rtl="0">
              <a:spcBef>
                <a:spcPts val="500"/>
              </a:spcBef>
              <a:spcAft>
                <a:spcPts val="0"/>
              </a:spcAft>
              <a:buSzPts val="1500"/>
              <a:buChar char="•"/>
              <a:defRPr/>
            </a:lvl7pPr>
            <a:lvl8pPr marL="4876557" lvl="7" indent="-431779" rtl="0">
              <a:spcBef>
                <a:spcPts val="500"/>
              </a:spcBef>
              <a:spcAft>
                <a:spcPts val="0"/>
              </a:spcAft>
              <a:buSzPts val="1500"/>
              <a:buChar char="•"/>
              <a:defRPr/>
            </a:lvl8pPr>
            <a:lvl9pPr marL="5486126" lvl="8" indent="-431779" rtl="0">
              <a:spcBef>
                <a:spcPts val="500"/>
              </a:spcBef>
              <a:spcAft>
                <a:spcPts val="0"/>
              </a:spcAft>
              <a:buSzPts val="1500"/>
              <a:buChar char="•"/>
              <a:defRPr/>
            </a:lvl9pPr>
          </a:lstStyle>
          <a:p>
            <a:pPr lvl="0"/>
            <a:r>
              <a:rPr lang="en-US"/>
              <a:t>Click to edit Master text styles</a:t>
            </a:r>
          </a:p>
        </p:txBody>
      </p:sp>
      <p:sp>
        <p:nvSpPr>
          <p:cNvPr id="30" name="Google Shape;30;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l"/>
            <a:fld id="{00000000-1234-1234-1234-123412341234}" type="slidenum">
              <a:rPr lang="en" smtClean="0"/>
              <a:pPr algn="l"/>
              <a:t>‹#›</a:t>
            </a:fld>
            <a:endParaRPr lang="en"/>
          </a:p>
        </p:txBody>
      </p:sp>
    </p:spTree>
    <p:extLst>
      <p:ext uri="{BB962C8B-B14F-4D97-AF65-F5344CB8AC3E}">
        <p14:creationId xmlns:p14="http://schemas.microsoft.com/office/powerpoint/2010/main" val="42510730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635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620417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51280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031838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002664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080833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729884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899571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55781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862495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5822068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70B5-2641-4048-A5B7-426327B0BA58}"/>
              </a:ext>
            </a:extLst>
          </p:cNvPr>
          <p:cNvSpPr>
            <a:spLocks noGrp="1"/>
          </p:cNvSpPr>
          <p:nvPr>
            <p:ph type="title"/>
          </p:nvPr>
        </p:nvSpPr>
        <p:spPr>
          <a:xfrm>
            <a:off x="838091" y="365084"/>
            <a:ext cx="10515819" cy="831928"/>
          </a:xfrm>
          <a:prstGeom prst="rect">
            <a:avLst/>
          </a:prstGeom>
        </p:spPr>
        <p:txBody>
          <a:bodyPr anchor="ctr"/>
          <a:lstStyle>
            <a:lvl1pPr>
              <a:defRPr sz="3599"/>
            </a:lvl1pPr>
          </a:lstStyle>
          <a:p>
            <a:r>
              <a:rPr lang="en-US"/>
              <a:t>Click to edit Master title style</a:t>
            </a:r>
          </a:p>
        </p:txBody>
      </p:sp>
    </p:spTree>
    <p:extLst>
      <p:ext uri="{BB962C8B-B14F-4D97-AF65-F5344CB8AC3E}">
        <p14:creationId xmlns:p14="http://schemas.microsoft.com/office/powerpoint/2010/main" val="4282590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53297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4.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2.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0" name="Straight Connector 9"/>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1002095191"/>
      </p:ext>
    </p:extLst>
  </p:cSld>
  <p:clrMap bg1="lt1" tx1="dk1" bg2="lt2" tx2="dk2" accent1="accent1" accent2="accent2" accent3="accent3" accent4="accent4" accent5="accent5" accent6="accent6" hlink="hlink" folHlink="folHlink"/>
  <p:sldLayoutIdLst>
    <p:sldLayoutId id="2147483680" r:id="rId1"/>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0" name="Straight Connector 9"/>
          <p:cNvCxnSpPr/>
          <p:nvPr/>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
        <p:nvSpPr>
          <p:cNvPr id="12" name="Rectangle 11">
            <a:extLst>
              <a:ext uri="{FF2B5EF4-FFF2-40B4-BE49-F238E27FC236}">
                <a16:creationId xmlns:a16="http://schemas.microsoft.com/office/drawing/2014/main" id="{723A1E2C-F9E9-476C-A5F4-4A59EF6C5BFF}"/>
              </a:ext>
            </a:extLst>
          </p:cNvPr>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3" name="Straight Connector 12">
            <a:extLst>
              <a:ext uri="{FF2B5EF4-FFF2-40B4-BE49-F238E27FC236}">
                <a16:creationId xmlns:a16="http://schemas.microsoft.com/office/drawing/2014/main" id="{DF098539-A9C5-4E0A-946B-5498FE4AB03F}"/>
              </a:ext>
            </a:extLst>
          </p:cNvPr>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4" name="Picture 13">
            <a:extLst>
              <a:ext uri="{FF2B5EF4-FFF2-40B4-BE49-F238E27FC236}">
                <a16:creationId xmlns:a16="http://schemas.microsoft.com/office/drawing/2014/main" id="{B9FF7B53-CEDA-4C55-9457-6E244D4B49B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51432786"/>
      </p:ext>
    </p:extLst>
  </p:cSld>
  <p:clrMap bg1="lt1" tx1="dk1" bg2="lt2" tx2="dk2" accent1="accent1" accent2="accent2" accent3="accent3" accent4="accent4" accent5="accent5" accent6="accent6" hlink="hlink" folHlink="folHlink"/>
  <p:sldLayoutIdLst>
    <p:sldLayoutId id="2147483686" r:id="rId1"/>
    <p:sldLayoutId id="2147483687" r:id="rId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378748780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169695910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123sashank321/Anamolies_Detection_in_Crops" TargetMode="External"/><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hyperlink" Target="https://sites.google.com/view/anamolies-detection-in-crops/home"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amritavishwavidyapeetham-my.sharepoint.com/:b:/g/personal/b_avadhani_cb_students_amrita_edu/ESmGNBClVBJBhXNPi7tZw4kBeYsi0W7NHeu1Ov-JY62RoA?e=XzvqkG" TargetMode="Externa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11.jpg"/><Relationship Id="rId3" Type="http://schemas.microsoft.com/office/2007/relationships/hdphoto" Target="../media/hdphoto1.wdp"/><Relationship Id="rId7" Type="http://schemas.openxmlformats.org/officeDocument/2006/relationships/image" Target="../media/image9.png"/><Relationship Id="rId12"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6" Type="http://schemas.microsoft.com/office/2007/relationships/hdphoto" Target="../media/hdphoto2.wdp"/><Relationship Id="rId11" Type="http://schemas.openxmlformats.org/officeDocument/2006/relationships/slide" Target="slide7.xml"/><Relationship Id="rId5" Type="http://schemas.openxmlformats.org/officeDocument/2006/relationships/image" Target="../media/image8.png"/><Relationship Id="rId10" Type="http://schemas.openxmlformats.org/officeDocument/2006/relationships/image" Target="../media/image10.png"/><Relationship Id="rId4" Type="http://schemas.openxmlformats.org/officeDocument/2006/relationships/image" Target="../media/image7.jpeg"/><Relationship Id="rId9" Type="http://schemas.openxmlformats.org/officeDocument/2006/relationships/image" Target="../media/image60.png"/></Relationships>
</file>

<file path=ppt/slides/_rels/slide6.xml.rels><?xml version="1.0" encoding="UTF-8" standalone="yes"?>
<Relationships xmlns="http://schemas.openxmlformats.org/package/2006/relationships"><Relationship Id="rId3" Type="http://schemas.openxmlformats.org/officeDocument/2006/relationships/hyperlink" Target="https://www.analyticsvidhya.com/blog/2022/01/convolutional-neural-network-an-overview/" TargetMode="External"/><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r-cnn-region-based-cnns/" TargetMode="External"/><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6FE1-BE3A-E444-EF9B-B6330AA8D529}"/>
              </a:ext>
            </a:extLst>
          </p:cNvPr>
          <p:cNvSpPr>
            <a:spLocks noGrp="1"/>
          </p:cNvSpPr>
          <p:nvPr>
            <p:ph type="ctrTitle"/>
          </p:nvPr>
        </p:nvSpPr>
        <p:spPr>
          <a:xfrm>
            <a:off x="2372799" y="113360"/>
            <a:ext cx="7446402" cy="1122276"/>
          </a:xfrm>
        </p:spPr>
        <p:txBody>
          <a:bodyPr>
            <a:normAutofit fontScale="90000"/>
          </a:bodyPr>
          <a:lstStyle/>
          <a:p>
            <a:pPr>
              <a:lnSpc>
                <a:spcPct val="100000"/>
              </a:lnSpc>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Anomalies detection in crop health and creating a custom flight path.</a:t>
            </a:r>
            <a:endParaRPr lang="en-IN" sz="3600" b="1" dirty="0"/>
          </a:p>
        </p:txBody>
      </p:sp>
      <p:sp>
        <p:nvSpPr>
          <p:cNvPr id="3" name="TextBox 14">
            <a:extLst>
              <a:ext uri="{FF2B5EF4-FFF2-40B4-BE49-F238E27FC236}">
                <a16:creationId xmlns:a16="http://schemas.microsoft.com/office/drawing/2014/main" id="{05820C93-91AA-8278-C5E4-ED8E5FCF5229}"/>
              </a:ext>
            </a:extLst>
          </p:cNvPr>
          <p:cNvSpPr txBox="1"/>
          <p:nvPr/>
        </p:nvSpPr>
        <p:spPr>
          <a:xfrm>
            <a:off x="876036" y="3176112"/>
            <a:ext cx="23622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800" dirty="0">
                <a:solidFill>
                  <a:srgbClr val="B6114D"/>
                </a:solidFill>
                <a:latin typeface="Times New Roman"/>
                <a:ea typeface="Times New Roman"/>
                <a:cs typeface="Times New Roman"/>
                <a:sym typeface="Times New Roman"/>
              </a:rPr>
              <a:t>CB.EN.U4AEE21034</a:t>
            </a:r>
          </a:p>
          <a:p>
            <a:pPr algn="ctr">
              <a:defRPr/>
            </a:pPr>
            <a:r>
              <a:rPr lang="en-US" sz="1800" dirty="0">
                <a:solidFill>
                  <a:srgbClr val="B6114D"/>
                </a:solidFill>
                <a:latin typeface="Times New Roman"/>
                <a:ea typeface="Times New Roman"/>
                <a:cs typeface="Times New Roman"/>
                <a:sym typeface="Times New Roman"/>
              </a:rPr>
              <a:t>Erukala Sashank</a:t>
            </a:r>
          </a:p>
        </p:txBody>
      </p:sp>
      <p:sp>
        <p:nvSpPr>
          <p:cNvPr id="9" name="TextBox 9">
            <a:extLst>
              <a:ext uri="{FF2B5EF4-FFF2-40B4-BE49-F238E27FC236}">
                <a16:creationId xmlns:a16="http://schemas.microsoft.com/office/drawing/2014/main" id="{06F4F9EA-F74A-C4EB-F105-783EADEA4E70}"/>
              </a:ext>
            </a:extLst>
          </p:cNvPr>
          <p:cNvSpPr txBox="1"/>
          <p:nvPr/>
        </p:nvSpPr>
        <p:spPr>
          <a:xfrm>
            <a:off x="410201" y="4300724"/>
            <a:ext cx="10955821" cy="615553"/>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B6114D"/>
                </a:solidFill>
                <a:latin typeface="Times New Roman Bold"/>
                <a:ea typeface="Times New Roman Bold"/>
                <a:cs typeface="Times New Roman Bold"/>
                <a:sym typeface="Times New Roman Bold"/>
              </a:rPr>
              <a:t>Git hub URL: </a:t>
            </a:r>
            <a:r>
              <a:rPr lang="en-US" sz="2000" dirty="0">
                <a:solidFill>
                  <a:srgbClr val="B6114D"/>
                </a:solidFill>
                <a:latin typeface="Times New Roman Bold"/>
                <a:ea typeface="Times New Roman Bold"/>
                <a:cs typeface="Times New Roman Bold"/>
                <a:sym typeface="Times New Roman Bold"/>
                <a:hlinkClick r:id="rId3"/>
              </a:rPr>
              <a:t>https://github.com/123sashank321/Anamolies_Detection_in_Crops</a:t>
            </a:r>
            <a:endParaRPr lang="en-US" sz="2000" dirty="0">
              <a:solidFill>
                <a:srgbClr val="B6114D"/>
              </a:solidFill>
              <a:latin typeface="Times New Roman Bold"/>
              <a:ea typeface="Times New Roman Bold"/>
              <a:cs typeface="Times New Roman Bold"/>
              <a:sym typeface="Times New Roman Bold"/>
            </a:endParaRPr>
          </a:p>
          <a:p>
            <a:pPr algn="ctr"/>
            <a:r>
              <a:rPr lang="en-US" sz="2000" dirty="0" err="1">
                <a:solidFill>
                  <a:srgbClr val="B6114D"/>
                </a:solidFill>
                <a:latin typeface="Times New Roman Bold"/>
                <a:ea typeface="Times New Roman Bold"/>
                <a:cs typeface="Times New Roman Bold"/>
                <a:sym typeface="Times New Roman Bold"/>
              </a:rPr>
              <a:t>Sites.google</a:t>
            </a:r>
            <a:r>
              <a:rPr lang="en-US" sz="2000" dirty="0">
                <a:solidFill>
                  <a:srgbClr val="B6114D"/>
                </a:solidFill>
                <a:latin typeface="Times New Roman Bold"/>
                <a:ea typeface="Times New Roman Bold"/>
                <a:cs typeface="Times New Roman Bold"/>
                <a:sym typeface="Times New Roman Bold"/>
              </a:rPr>
              <a:t> : </a:t>
            </a:r>
            <a:r>
              <a:rPr lang="en-US" sz="2000" dirty="0">
                <a:solidFill>
                  <a:srgbClr val="B6114D"/>
                </a:solidFill>
                <a:latin typeface="Times New Roman Bold"/>
                <a:ea typeface="Times New Roman Bold"/>
                <a:cs typeface="Times New Roman Bold"/>
                <a:sym typeface="Times New Roman Bold"/>
                <a:hlinkClick r:id="rId4"/>
              </a:rPr>
              <a:t>https://sites.google.com/view/anamolies-detection-in-crops/home</a:t>
            </a:r>
            <a:endParaRPr lang="en-US" sz="2000" dirty="0">
              <a:solidFill>
                <a:srgbClr val="B6114D"/>
              </a:solidFill>
              <a:latin typeface="Times New Roman Bold"/>
              <a:ea typeface="Times New Roman Bold"/>
              <a:cs typeface="Times New Roman Bold"/>
              <a:sym typeface="Times New Roman Bold"/>
            </a:endParaRPr>
          </a:p>
        </p:txBody>
      </p:sp>
      <p:sp>
        <p:nvSpPr>
          <p:cNvPr id="10" name="TextBox 11">
            <a:extLst>
              <a:ext uri="{FF2B5EF4-FFF2-40B4-BE49-F238E27FC236}">
                <a16:creationId xmlns:a16="http://schemas.microsoft.com/office/drawing/2014/main" id="{4D2B317C-CD51-A8D4-EF75-7F64CE5E5110}"/>
              </a:ext>
            </a:extLst>
          </p:cNvPr>
          <p:cNvSpPr txBox="1"/>
          <p:nvPr/>
        </p:nvSpPr>
        <p:spPr>
          <a:xfrm>
            <a:off x="3238236" y="4903833"/>
            <a:ext cx="6218952" cy="110799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C00000"/>
                </a:solidFill>
                <a:latin typeface="Times New Roman Bold"/>
                <a:ea typeface="Times New Roman Bold"/>
                <a:cs typeface="Times New Roman Bold"/>
                <a:sym typeface="Times New Roman Bold"/>
              </a:rPr>
              <a:t>Professor	  :  </a:t>
            </a:r>
            <a:r>
              <a:rPr lang="en-US" sz="2400" dirty="0">
                <a:latin typeface="Times New Roman Bold"/>
                <a:ea typeface="Times New Roman Bold"/>
                <a:cs typeface="Times New Roman Bold"/>
                <a:sym typeface="Times New Roman Bold"/>
              </a:rPr>
              <a:t>Dr.</a:t>
            </a:r>
            <a:r>
              <a:rPr lang="en-US" sz="2400" dirty="0">
                <a:solidFill>
                  <a:srgbClr val="C00000"/>
                </a:solidFill>
                <a:latin typeface="Times New Roman Bold"/>
                <a:ea typeface="Times New Roman Bold"/>
                <a:cs typeface="Times New Roman Bold"/>
                <a:sym typeface="Times New Roman Bold"/>
              </a:rPr>
              <a:t> </a:t>
            </a:r>
            <a:r>
              <a:rPr lang="en-US" sz="2400" b="1" dirty="0">
                <a:latin typeface="Times New Roman Bold"/>
                <a:ea typeface="Times New Roman Bold"/>
                <a:cs typeface="Times New Roman Bold"/>
                <a:sym typeface="Times New Roman Bold"/>
              </a:rPr>
              <a:t>T Senthil Kumar(CSE)</a:t>
            </a:r>
          </a:p>
          <a:p>
            <a:r>
              <a:rPr lang="en-US" sz="2400" b="1" dirty="0">
                <a:solidFill>
                  <a:srgbClr val="C00000"/>
                </a:solidFill>
                <a:latin typeface="Times New Roman Bold"/>
                <a:ea typeface="Times New Roman Bold"/>
                <a:cs typeface="Times New Roman Bold"/>
                <a:sym typeface="Times New Roman Bold"/>
              </a:rPr>
              <a:t>Collaborator</a:t>
            </a:r>
            <a:r>
              <a:rPr lang="en-US" sz="2400" b="1" dirty="0">
                <a:latin typeface="Times New Roman Bold"/>
                <a:ea typeface="Times New Roman Bold"/>
                <a:cs typeface="Times New Roman Bold"/>
                <a:sym typeface="Times New Roman Bold"/>
              </a:rPr>
              <a:t>    </a:t>
            </a:r>
            <a:r>
              <a:rPr lang="en-US" sz="2400" b="1" dirty="0">
                <a:solidFill>
                  <a:srgbClr val="C00000"/>
                </a:solidFill>
                <a:latin typeface="Times New Roman Bold"/>
                <a:ea typeface="Times New Roman Bold"/>
                <a:cs typeface="Times New Roman Bold"/>
                <a:sym typeface="Times New Roman Bold"/>
              </a:rPr>
              <a:t>:</a:t>
            </a:r>
            <a:r>
              <a:rPr lang="en-US" sz="2400" b="1" dirty="0">
                <a:latin typeface="Times New Roman Bold"/>
                <a:ea typeface="Times New Roman Bold"/>
                <a:cs typeface="Times New Roman Bold"/>
                <a:sym typeface="Times New Roman Bold"/>
              </a:rPr>
              <a:t>   Mr. Akash (Sky –X)</a:t>
            </a:r>
          </a:p>
          <a:p>
            <a:r>
              <a:rPr lang="en-US" sz="2400" b="1" dirty="0">
                <a:solidFill>
                  <a:srgbClr val="C00000"/>
                </a:solidFill>
                <a:latin typeface="Times New Roman Bold"/>
                <a:ea typeface="Times New Roman Bold"/>
                <a:cs typeface="Times New Roman Bold"/>
                <a:sym typeface="Times New Roman Bold"/>
              </a:rPr>
              <a:t>Professor 	   :</a:t>
            </a:r>
            <a:r>
              <a:rPr lang="en-US" sz="2400" b="1" dirty="0">
                <a:latin typeface="Times New Roman Bold"/>
                <a:ea typeface="Times New Roman Bold"/>
                <a:cs typeface="Times New Roman Bold"/>
                <a:sym typeface="Times New Roman Bold"/>
              </a:rPr>
              <a:t>  S </a:t>
            </a:r>
            <a:r>
              <a:rPr lang="en-US" sz="2400" b="1" dirty="0" err="1">
                <a:latin typeface="Times New Roman Bold"/>
                <a:ea typeface="Times New Roman Bold"/>
                <a:cs typeface="Times New Roman Bold"/>
                <a:sym typeface="Times New Roman Bold"/>
              </a:rPr>
              <a:t>Thangeswari</a:t>
            </a:r>
            <a:endParaRPr lang="en-US" sz="2400" b="1" dirty="0">
              <a:latin typeface="Times New Roman Bold"/>
              <a:ea typeface="Times New Roman Bold"/>
              <a:cs typeface="Times New Roman Bold"/>
              <a:sym typeface="Times New Roman Bold"/>
            </a:endParaRPr>
          </a:p>
        </p:txBody>
      </p:sp>
      <p:pic>
        <p:nvPicPr>
          <p:cNvPr id="5" name="Picture 4">
            <a:extLst>
              <a:ext uri="{FF2B5EF4-FFF2-40B4-BE49-F238E27FC236}">
                <a16:creationId xmlns:a16="http://schemas.microsoft.com/office/drawing/2014/main" id="{4257351B-81C0-F594-E435-A9F9BB8FF22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06904" y="1396630"/>
            <a:ext cx="1261872" cy="1618488"/>
          </a:xfrm>
          <a:prstGeom prst="rect">
            <a:avLst/>
          </a:prstGeom>
        </p:spPr>
      </p:pic>
      <p:sp>
        <p:nvSpPr>
          <p:cNvPr id="7" name="TextBox 6">
            <a:extLst>
              <a:ext uri="{FF2B5EF4-FFF2-40B4-BE49-F238E27FC236}">
                <a16:creationId xmlns:a16="http://schemas.microsoft.com/office/drawing/2014/main" id="{0D11F339-4B49-99AE-88C1-D69459013285}"/>
              </a:ext>
            </a:extLst>
          </p:cNvPr>
          <p:cNvSpPr txBox="1"/>
          <p:nvPr/>
        </p:nvSpPr>
        <p:spPr>
          <a:xfrm>
            <a:off x="2668776" y="3801101"/>
            <a:ext cx="6096000" cy="461665"/>
          </a:xfrm>
          <a:prstGeom prst="rect">
            <a:avLst/>
          </a:prstGeom>
          <a:noFill/>
        </p:spPr>
        <p:txBody>
          <a:bodyPr wrap="square">
            <a:spAutoFit/>
          </a:bodyPr>
          <a:lstStyle/>
          <a:p>
            <a:pPr algn="ctr">
              <a:defRPr/>
            </a:pPr>
            <a:r>
              <a:rPr lang="en-US" sz="2400" dirty="0">
                <a:solidFill>
                  <a:srgbClr val="B6114D"/>
                </a:solidFill>
                <a:latin typeface="Times New Roman"/>
                <a:ea typeface="Times New Roman"/>
                <a:cs typeface="Times New Roman"/>
                <a:sym typeface="Times New Roman"/>
              </a:rPr>
              <a:t>Review – 1 </a:t>
            </a:r>
          </a:p>
        </p:txBody>
      </p:sp>
      <p:sp>
        <p:nvSpPr>
          <p:cNvPr id="8" name="TextBox 14">
            <a:extLst>
              <a:ext uri="{FF2B5EF4-FFF2-40B4-BE49-F238E27FC236}">
                <a16:creationId xmlns:a16="http://schemas.microsoft.com/office/drawing/2014/main" id="{EADA9350-8B5B-D7C3-4775-306822304523}"/>
              </a:ext>
            </a:extLst>
          </p:cNvPr>
          <p:cNvSpPr txBox="1"/>
          <p:nvPr/>
        </p:nvSpPr>
        <p:spPr>
          <a:xfrm>
            <a:off x="4408791" y="3176112"/>
            <a:ext cx="23622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800" dirty="0">
                <a:solidFill>
                  <a:srgbClr val="B6114D"/>
                </a:solidFill>
                <a:latin typeface="Times New Roman"/>
                <a:ea typeface="Times New Roman"/>
                <a:cs typeface="Times New Roman"/>
                <a:sym typeface="Times New Roman"/>
              </a:rPr>
              <a:t>CB.EN.U4AEE21046</a:t>
            </a:r>
          </a:p>
          <a:p>
            <a:pPr algn="ctr">
              <a:defRPr/>
            </a:pPr>
            <a:r>
              <a:rPr lang="en-US" dirty="0">
                <a:solidFill>
                  <a:srgbClr val="B6114D"/>
                </a:solidFill>
                <a:latin typeface="Times New Roman"/>
                <a:ea typeface="Times New Roman"/>
                <a:cs typeface="Times New Roman"/>
                <a:sym typeface="Times New Roman"/>
              </a:rPr>
              <a:t>Vishwa K</a:t>
            </a:r>
            <a:endParaRPr lang="en-US" sz="1800" dirty="0">
              <a:solidFill>
                <a:srgbClr val="B6114D"/>
              </a:solidFill>
              <a:latin typeface="Times New Roman"/>
              <a:ea typeface="Times New Roman"/>
              <a:cs typeface="Times New Roman"/>
              <a:sym typeface="Times New Roman"/>
            </a:endParaRPr>
          </a:p>
        </p:txBody>
      </p:sp>
      <p:pic>
        <p:nvPicPr>
          <p:cNvPr id="11" name="Picture 10">
            <a:extLst>
              <a:ext uri="{FF2B5EF4-FFF2-40B4-BE49-F238E27FC236}">
                <a16:creationId xmlns:a16="http://schemas.microsoft.com/office/drawing/2014/main" id="{49B758B4-0A25-5433-4E20-0B0C2B42C788}"/>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4944563" y="1396630"/>
            <a:ext cx="1252064" cy="1618488"/>
          </a:xfrm>
          <a:prstGeom prst="rect">
            <a:avLst/>
          </a:prstGeom>
        </p:spPr>
      </p:pic>
      <p:sp>
        <p:nvSpPr>
          <p:cNvPr id="12" name="TextBox 14">
            <a:extLst>
              <a:ext uri="{FF2B5EF4-FFF2-40B4-BE49-F238E27FC236}">
                <a16:creationId xmlns:a16="http://schemas.microsoft.com/office/drawing/2014/main" id="{A3AD67A3-773E-978E-34EF-CA906E55BD32}"/>
              </a:ext>
            </a:extLst>
          </p:cNvPr>
          <p:cNvSpPr txBox="1"/>
          <p:nvPr/>
        </p:nvSpPr>
        <p:spPr>
          <a:xfrm>
            <a:off x="7941546" y="3169013"/>
            <a:ext cx="23622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800" dirty="0">
                <a:solidFill>
                  <a:srgbClr val="B6114D"/>
                </a:solidFill>
                <a:latin typeface="Times New Roman"/>
                <a:ea typeface="Times New Roman"/>
                <a:cs typeface="Times New Roman"/>
                <a:sym typeface="Times New Roman"/>
              </a:rPr>
              <a:t>CB.EN.U4AEE21057</a:t>
            </a:r>
          </a:p>
          <a:p>
            <a:pPr algn="ctr">
              <a:defRPr/>
            </a:pPr>
            <a:r>
              <a:rPr lang="en-US" dirty="0" err="1">
                <a:solidFill>
                  <a:srgbClr val="B6114D"/>
                </a:solidFill>
                <a:latin typeface="Times New Roman"/>
                <a:ea typeface="Times New Roman"/>
                <a:cs typeface="Times New Roman"/>
                <a:sym typeface="Times New Roman"/>
              </a:rPr>
              <a:t>Magesvar</a:t>
            </a:r>
            <a:r>
              <a:rPr lang="en-US" dirty="0">
                <a:solidFill>
                  <a:srgbClr val="B6114D"/>
                </a:solidFill>
                <a:latin typeface="Times New Roman"/>
                <a:ea typeface="Times New Roman"/>
                <a:cs typeface="Times New Roman"/>
                <a:sym typeface="Times New Roman"/>
              </a:rPr>
              <a:t> </a:t>
            </a:r>
            <a:endParaRPr lang="en-US" sz="1800" dirty="0">
              <a:solidFill>
                <a:srgbClr val="B6114D"/>
              </a:solidFill>
              <a:latin typeface="Times New Roman"/>
              <a:ea typeface="Times New Roman"/>
              <a:cs typeface="Times New Roman"/>
              <a:sym typeface="Times New Roman"/>
            </a:endParaRPr>
          </a:p>
        </p:txBody>
      </p:sp>
      <p:pic>
        <p:nvPicPr>
          <p:cNvPr id="13" name="Picture 12">
            <a:extLst>
              <a:ext uri="{FF2B5EF4-FFF2-40B4-BE49-F238E27FC236}">
                <a16:creationId xmlns:a16="http://schemas.microsoft.com/office/drawing/2014/main" id="{7DE6DEC0-8A46-5E2D-164E-C6C3008BBC18}"/>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485666" y="1389531"/>
            <a:ext cx="1235367" cy="1618488"/>
          </a:xfrm>
          <a:prstGeom prst="rect">
            <a:avLst/>
          </a:prstGeom>
        </p:spPr>
      </p:pic>
    </p:spTree>
    <p:extLst>
      <p:ext uri="{BB962C8B-B14F-4D97-AF65-F5344CB8AC3E}">
        <p14:creationId xmlns:p14="http://schemas.microsoft.com/office/powerpoint/2010/main" val="6147116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1A14A-84D5-E8CC-72D7-88B748D69E64}"/>
              </a:ext>
            </a:extLst>
          </p:cNvPr>
          <p:cNvSpPr>
            <a:spLocks noGrp="1"/>
          </p:cNvSpPr>
          <p:nvPr>
            <p:ph type="title"/>
          </p:nvPr>
        </p:nvSpPr>
        <p:spPr>
          <a:xfrm>
            <a:off x="838200" y="365127"/>
            <a:ext cx="10515600" cy="712559"/>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General Guidelines for the sections of the paper</a:t>
            </a:r>
          </a:p>
        </p:txBody>
      </p:sp>
      <p:sp>
        <p:nvSpPr>
          <p:cNvPr id="3" name="Content Placeholder 2">
            <a:extLst>
              <a:ext uri="{FF2B5EF4-FFF2-40B4-BE49-F238E27FC236}">
                <a16:creationId xmlns:a16="http://schemas.microsoft.com/office/drawing/2014/main" id="{0172EAC9-A880-C5C1-A4A8-F5CC6A456DCC}"/>
              </a:ext>
            </a:extLst>
          </p:cNvPr>
          <p:cNvSpPr>
            <a:spLocks noGrp="1"/>
          </p:cNvSpPr>
          <p:nvPr>
            <p:ph idx="1"/>
          </p:nvPr>
        </p:nvSpPr>
        <p:spPr>
          <a:xfrm>
            <a:off x="930728" y="1113066"/>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Please find the PDF document in the below link. </a:t>
            </a:r>
          </a:p>
          <a:p>
            <a:r>
              <a:rPr lang="en-US" sz="2400" dirty="0">
                <a:latin typeface="Times New Roman" panose="02020603050405020304" pitchFamily="18" charset="0"/>
                <a:cs typeface="Times New Roman" panose="02020603050405020304" pitchFamily="18" charset="0"/>
                <a:hlinkClick r:id="rId2"/>
              </a:rPr>
              <a:t>General Guidelines for paper writing.pdf</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7737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182564"/>
            <a:ext cx="10515600" cy="456628"/>
          </a:xfrm>
        </p:spPr>
        <p:txBody>
          <a:bodyPr>
            <a:noAutofit/>
          </a:bodyPr>
          <a:lstStyle/>
          <a:p>
            <a:r>
              <a:rPr lang="en-IN" sz="3200" b="1" i="1" dirty="0">
                <a:solidFill>
                  <a:srgbClr val="C00000"/>
                </a:solidFill>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F28071CB-6A6B-63B9-9B7E-59DAC86A4632}"/>
              </a:ext>
            </a:extLst>
          </p:cNvPr>
          <p:cNvSpPr>
            <a:spLocks noGrp="1"/>
          </p:cNvSpPr>
          <p:nvPr>
            <p:ph idx="1"/>
          </p:nvPr>
        </p:nvSpPr>
        <p:spPr>
          <a:xfrm>
            <a:off x="544285" y="799838"/>
            <a:ext cx="10881275" cy="5296162"/>
          </a:xfrm>
        </p:spPr>
        <p:txBody>
          <a:bodyPr>
            <a:noAutofit/>
          </a:bodyPr>
          <a:lstStyle/>
          <a:p>
            <a:pPr algn="just">
              <a:lnSpc>
                <a:spcPct val="150000"/>
              </a:lnSpc>
              <a:buFont typeface="Wingdings" panose="05000000000000000000" pitchFamily="2" charset="2"/>
              <a:buChar char="Ø"/>
            </a:pPr>
            <a:r>
              <a:rPr lang="en-IN" sz="1800" b="1" dirty="0">
                <a:solidFill>
                  <a:srgbClr val="38507C"/>
                </a:solidFill>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Ø"/>
            </a:pPr>
            <a:r>
              <a:rPr lang="en-IN" sz="1800" b="1" dirty="0">
                <a:solidFill>
                  <a:srgbClr val="38507C"/>
                </a:solidFill>
                <a:latin typeface="Times New Roman" panose="02020603050405020304" pitchFamily="18" charset="0"/>
                <a:cs typeface="Times New Roman" panose="02020603050405020304" pitchFamily="18" charset="0"/>
              </a:rPr>
              <a:t>Literature survey</a:t>
            </a:r>
          </a:p>
          <a:p>
            <a:pPr algn="just">
              <a:lnSpc>
                <a:spcPct val="150000"/>
              </a:lnSpc>
              <a:buFont typeface="Wingdings" panose="05000000000000000000" pitchFamily="2" charset="2"/>
              <a:buChar char="Ø"/>
            </a:pPr>
            <a:r>
              <a:rPr lang="en-IN" sz="1800" b="1" dirty="0">
                <a:solidFill>
                  <a:srgbClr val="38507C"/>
                </a:solidFill>
                <a:latin typeface="Times New Roman" panose="02020603050405020304" pitchFamily="18" charset="0"/>
                <a:cs typeface="Times New Roman" panose="02020603050405020304" pitchFamily="18" charset="0"/>
              </a:rPr>
              <a:t>Challenges</a:t>
            </a:r>
          </a:p>
          <a:p>
            <a:pPr algn="just">
              <a:lnSpc>
                <a:spcPct val="150000"/>
              </a:lnSpc>
              <a:buFont typeface="Wingdings" panose="05000000000000000000" pitchFamily="2" charset="2"/>
              <a:buChar char="Ø"/>
            </a:pPr>
            <a:r>
              <a:rPr lang="en-IN" sz="1800" b="1" dirty="0">
                <a:solidFill>
                  <a:srgbClr val="38507C"/>
                </a:solidFill>
                <a:latin typeface="Times New Roman" panose="02020603050405020304" pitchFamily="18" charset="0"/>
                <a:cs typeface="Times New Roman" panose="02020603050405020304" pitchFamily="18" charset="0"/>
              </a:rPr>
              <a:t>Dataset description</a:t>
            </a:r>
          </a:p>
          <a:p>
            <a:pPr algn="just">
              <a:lnSpc>
                <a:spcPct val="150000"/>
              </a:lnSpc>
              <a:buFont typeface="Wingdings" panose="05000000000000000000" pitchFamily="2" charset="2"/>
              <a:buChar char="Ø"/>
            </a:pPr>
            <a:r>
              <a:rPr lang="en-IN" sz="1800" b="1" dirty="0">
                <a:solidFill>
                  <a:srgbClr val="38507C"/>
                </a:solidFill>
                <a:latin typeface="Times New Roman" panose="02020603050405020304" pitchFamily="18" charset="0"/>
                <a:cs typeface="Times New Roman" panose="02020603050405020304" pitchFamily="18" charset="0"/>
              </a:rPr>
              <a:t>Methodology</a:t>
            </a:r>
          </a:p>
          <a:p>
            <a:pPr lvl="1" algn="just">
              <a:lnSpc>
                <a:spcPct val="150000"/>
              </a:lnSpc>
            </a:pPr>
            <a:r>
              <a:rPr lang="en-IN" sz="1400" b="1" dirty="0">
                <a:solidFill>
                  <a:srgbClr val="38507C"/>
                </a:solidFill>
                <a:latin typeface="Times New Roman" panose="02020603050405020304" pitchFamily="18" charset="0"/>
                <a:cs typeface="Times New Roman" panose="02020603050405020304" pitchFamily="18" charset="0"/>
              </a:rPr>
              <a:t>Data analysis</a:t>
            </a:r>
          </a:p>
          <a:p>
            <a:pPr lvl="1" algn="just">
              <a:lnSpc>
                <a:spcPct val="150000"/>
              </a:lnSpc>
            </a:pPr>
            <a:r>
              <a:rPr lang="en-IN" sz="1400" b="1" dirty="0">
                <a:solidFill>
                  <a:srgbClr val="38507C"/>
                </a:solidFill>
                <a:latin typeface="Times New Roman" panose="02020603050405020304" pitchFamily="18" charset="0"/>
                <a:cs typeface="Times New Roman" panose="02020603050405020304" pitchFamily="18" charset="0"/>
              </a:rPr>
              <a:t>ML model</a:t>
            </a:r>
          </a:p>
          <a:p>
            <a:pPr lvl="1" algn="just">
              <a:lnSpc>
                <a:spcPct val="150000"/>
              </a:lnSpc>
            </a:pPr>
            <a:r>
              <a:rPr lang="en-IN" sz="1400" b="1" dirty="0">
                <a:solidFill>
                  <a:srgbClr val="38507C"/>
                </a:solidFill>
                <a:latin typeface="Times New Roman" panose="02020603050405020304" pitchFamily="18" charset="0"/>
                <a:cs typeface="Times New Roman" panose="02020603050405020304" pitchFamily="18" charset="0"/>
              </a:rPr>
              <a:t>DL model</a:t>
            </a:r>
          </a:p>
          <a:p>
            <a:pPr lvl="1" algn="just">
              <a:lnSpc>
                <a:spcPct val="150000"/>
              </a:lnSpc>
            </a:pPr>
            <a:r>
              <a:rPr lang="en-IN" sz="1400" b="1" dirty="0">
                <a:solidFill>
                  <a:srgbClr val="38507C"/>
                </a:solidFill>
                <a:latin typeface="Times New Roman" panose="02020603050405020304" pitchFamily="18" charset="0"/>
                <a:cs typeface="Times New Roman" panose="02020603050405020304" pitchFamily="18" charset="0"/>
              </a:rPr>
              <a:t>Explainable AI</a:t>
            </a:r>
          </a:p>
          <a:p>
            <a:pPr algn="just">
              <a:lnSpc>
                <a:spcPct val="150000"/>
              </a:lnSpc>
              <a:buFont typeface="Wingdings" panose="05000000000000000000" pitchFamily="2" charset="2"/>
              <a:buChar char="Ø"/>
            </a:pPr>
            <a:r>
              <a:rPr lang="en-IN" sz="1800" b="1" dirty="0">
                <a:solidFill>
                  <a:srgbClr val="38507C"/>
                </a:solidFill>
                <a:latin typeface="Times New Roman" panose="02020603050405020304" pitchFamily="18" charset="0"/>
                <a:cs typeface="Times New Roman" panose="02020603050405020304" pitchFamily="18" charset="0"/>
              </a:rPr>
              <a:t>Conclusion </a:t>
            </a:r>
          </a:p>
          <a:p>
            <a:pPr algn="just">
              <a:lnSpc>
                <a:spcPct val="150000"/>
              </a:lnSpc>
              <a:buFont typeface="Wingdings" panose="05000000000000000000" pitchFamily="2" charset="2"/>
              <a:buChar char="Ø"/>
            </a:pPr>
            <a:r>
              <a:rPr lang="en-IN" sz="1800" b="1" dirty="0">
                <a:solidFill>
                  <a:srgbClr val="38507C"/>
                </a:solidFill>
                <a:latin typeface="Times New Roman" panose="02020603050405020304" pitchFamily="18" charset="0"/>
                <a:cs typeface="Times New Roman" panose="02020603050405020304" pitchFamily="18" charset="0"/>
              </a:rPr>
              <a:t>Future Enhancement</a:t>
            </a:r>
          </a:p>
        </p:txBody>
      </p:sp>
    </p:spTree>
    <p:extLst>
      <p:ext uri="{BB962C8B-B14F-4D97-AF65-F5344CB8AC3E}">
        <p14:creationId xmlns:p14="http://schemas.microsoft.com/office/powerpoint/2010/main" val="1563946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358055"/>
            <a:ext cx="4992339"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Information about Data Set</a:t>
            </a:r>
            <a:endParaRPr lang="en-IN" sz="3200" b="1" i="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FB4597-D08F-0E99-E710-88BD73CDA5DE}"/>
              </a:ext>
            </a:extLst>
          </p:cNvPr>
          <p:cNvSpPr>
            <a:spLocks noGrp="1"/>
          </p:cNvSpPr>
          <p:nvPr>
            <p:ph idx="1"/>
          </p:nvPr>
        </p:nvSpPr>
        <p:spPr>
          <a:xfrm>
            <a:off x="680357" y="1253331"/>
            <a:ext cx="10515600" cy="4565578"/>
          </a:xfrm>
        </p:spPr>
        <p:txBody>
          <a:bodyPr>
            <a:normAutofit/>
          </a:bodyPr>
          <a:lstStyle/>
          <a:p>
            <a:r>
              <a:rPr lang="en-US" dirty="0">
                <a:latin typeface="Times New Roman" panose="02020603050405020304" pitchFamily="18" charset="0"/>
                <a:cs typeface="Times New Roman" panose="02020603050405020304" pitchFamily="18" charset="0"/>
              </a:rPr>
              <a:t>Dataset for our project is mainly based on sugarcane crops. </a:t>
            </a:r>
          </a:p>
          <a:p>
            <a:r>
              <a:rPr lang="en-US" dirty="0">
                <a:latin typeface="Times New Roman" panose="02020603050405020304" pitchFamily="18" charset="0"/>
                <a:cs typeface="Times New Roman" panose="02020603050405020304" pitchFamily="18" charset="0"/>
              </a:rPr>
              <a:t>Our Dataset consists of images categorized into folders of</a:t>
            </a:r>
          </a:p>
          <a:p>
            <a:pPr lvl="1"/>
            <a:r>
              <a:rPr lang="en-US" dirty="0">
                <a:latin typeface="Times New Roman" panose="02020603050405020304" pitchFamily="18" charset="0"/>
                <a:cs typeface="Times New Roman" panose="02020603050405020304" pitchFamily="18" charset="0"/>
              </a:rPr>
              <a:t>Healthy</a:t>
            </a:r>
          </a:p>
          <a:p>
            <a:pPr lvl="1"/>
            <a:r>
              <a:rPr lang="en-US" dirty="0">
                <a:latin typeface="Times New Roman" panose="02020603050405020304" pitchFamily="18" charset="0"/>
                <a:cs typeface="Times New Roman" panose="02020603050405020304" pitchFamily="18" charset="0"/>
              </a:rPr>
              <a:t>Unhealthy</a:t>
            </a:r>
          </a:p>
          <a:p>
            <a:pPr lvl="1"/>
            <a:r>
              <a:rPr lang="en-US" dirty="0">
                <a:latin typeface="Times New Roman" panose="02020603050405020304" pitchFamily="18" charset="0"/>
                <a:cs typeface="Times New Roman" panose="02020603050405020304" pitchFamily="18" charset="0"/>
              </a:rPr>
              <a:t>Mosaic</a:t>
            </a:r>
          </a:p>
          <a:p>
            <a:pPr lvl="1"/>
            <a:r>
              <a:rPr lang="en-US" dirty="0">
                <a:latin typeface="Times New Roman" panose="02020603050405020304" pitchFamily="18" charset="0"/>
                <a:cs typeface="Times New Roman" panose="02020603050405020304" pitchFamily="18" charset="0"/>
              </a:rPr>
              <a:t>Red Rot</a:t>
            </a:r>
          </a:p>
          <a:p>
            <a:pPr lvl="1"/>
            <a:r>
              <a:rPr lang="en-US" dirty="0">
                <a:latin typeface="Times New Roman" panose="02020603050405020304" pitchFamily="18" charset="0"/>
                <a:cs typeface="Times New Roman" panose="02020603050405020304" pitchFamily="18" charset="0"/>
              </a:rPr>
              <a:t>Yellow</a:t>
            </a:r>
          </a:p>
          <a:p>
            <a:pPr lvl="1"/>
            <a:r>
              <a:rPr lang="en-US" dirty="0">
                <a:latin typeface="Times New Roman" panose="02020603050405020304" pitchFamily="18" charset="0"/>
                <a:cs typeface="Times New Roman" panose="02020603050405020304" pitchFamily="18" charset="0"/>
              </a:rPr>
              <a:t>Rust</a:t>
            </a:r>
          </a:p>
        </p:txBody>
      </p:sp>
    </p:spTree>
    <p:extLst>
      <p:ext uri="{BB962C8B-B14F-4D97-AF65-F5344CB8AC3E}">
        <p14:creationId xmlns:p14="http://schemas.microsoft.com/office/powerpoint/2010/main" val="2302558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479124" y="220834"/>
            <a:ext cx="2821794"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Block Diagram</a:t>
            </a:r>
            <a:endParaRPr lang="en-IN" sz="3200" b="1" i="1" dirty="0">
              <a:solidFill>
                <a:srgbClr val="C0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94AFC867-0298-30D9-11F8-9DE4CFF3E008}"/>
              </a:ext>
            </a:extLst>
          </p:cNvPr>
          <p:cNvGrpSpPr/>
          <p:nvPr/>
        </p:nvGrpSpPr>
        <p:grpSpPr>
          <a:xfrm>
            <a:off x="86253" y="1217455"/>
            <a:ext cx="3810000" cy="1790704"/>
            <a:chOff x="476250" y="1190622"/>
            <a:chExt cx="3810000" cy="1790704"/>
          </a:xfrm>
        </p:grpSpPr>
        <p:sp>
          <p:nvSpPr>
            <p:cNvPr id="9" name="Rectangle: Rounded Corners 8">
              <a:extLst>
                <a:ext uri="{FF2B5EF4-FFF2-40B4-BE49-F238E27FC236}">
                  <a16:creationId xmlns:a16="http://schemas.microsoft.com/office/drawing/2014/main" id="{C3A718E1-6B43-38BA-6D64-91469C34E949}"/>
                </a:ext>
              </a:extLst>
            </p:cNvPr>
            <p:cNvSpPr/>
            <p:nvPr/>
          </p:nvSpPr>
          <p:spPr>
            <a:xfrm>
              <a:off x="476250" y="1266229"/>
              <a:ext cx="3809999" cy="1715096"/>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7">
              <a:extLst>
                <a:ext uri="{FF2B5EF4-FFF2-40B4-BE49-F238E27FC236}">
                  <a16:creationId xmlns:a16="http://schemas.microsoft.com/office/drawing/2014/main" id="{F767B282-9427-D063-5BEA-B63FEFE4C5D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78" b="89778" l="5778" r="96444">
                          <a14:foregroundMark x1="11111" y1="35556" x2="10667" y2="47556"/>
                          <a14:foregroundMark x1="6222" y1="40889" x2="7556" y2="46667"/>
                          <a14:foregroundMark x1="90222" y1="34222" x2="96444" y2="37778"/>
                        </a14:backgroundRemoval>
                      </a14:imgEffect>
                    </a14:imgLayer>
                  </a14:imgProps>
                </a:ext>
                <a:ext uri="{28A0092B-C50C-407E-A947-70E740481C1C}">
                  <a14:useLocalDpi xmlns:a14="http://schemas.microsoft.com/office/drawing/2010/main" val="0"/>
                </a:ext>
              </a:extLst>
            </a:blip>
            <a:stretch>
              <a:fillRect/>
            </a:stretch>
          </p:blipFill>
          <p:spPr>
            <a:xfrm>
              <a:off x="2521866" y="1190622"/>
              <a:ext cx="1764384" cy="1790704"/>
            </a:xfrm>
            <a:prstGeom prst="rect">
              <a:avLst/>
            </a:prstGeom>
          </p:spPr>
        </p:pic>
        <p:pic>
          <p:nvPicPr>
            <p:cNvPr id="16" name="Picture 15">
              <a:extLst>
                <a:ext uri="{FF2B5EF4-FFF2-40B4-BE49-F238E27FC236}">
                  <a16:creationId xmlns:a16="http://schemas.microsoft.com/office/drawing/2014/main" id="{912F6F32-B9E4-91A9-F09C-59ABA8C731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8399" y="1685925"/>
              <a:ext cx="1298458" cy="875704"/>
            </a:xfrm>
            <a:prstGeom prst="rect">
              <a:avLst/>
            </a:prstGeom>
          </p:spPr>
        </p:pic>
        <p:cxnSp>
          <p:nvCxnSpPr>
            <p:cNvPr id="18" name="Straight Arrow Connector 17">
              <a:extLst>
                <a:ext uri="{FF2B5EF4-FFF2-40B4-BE49-F238E27FC236}">
                  <a16:creationId xmlns:a16="http://schemas.microsoft.com/office/drawing/2014/main" id="{58C8E6AA-44FD-26C2-EC50-457F07136F11}"/>
                </a:ext>
              </a:extLst>
            </p:cNvPr>
            <p:cNvCxnSpPr/>
            <p:nvPr/>
          </p:nvCxnSpPr>
          <p:spPr>
            <a:xfrm>
              <a:off x="1976857" y="2137410"/>
              <a:ext cx="6063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1FB302C-046E-8153-500C-DC9EC176DF78}"/>
              </a:ext>
            </a:extLst>
          </p:cNvPr>
          <p:cNvGrpSpPr/>
          <p:nvPr/>
        </p:nvGrpSpPr>
        <p:grpSpPr>
          <a:xfrm>
            <a:off x="4990995" y="753363"/>
            <a:ext cx="2612634" cy="2736326"/>
            <a:chOff x="5358348" y="717811"/>
            <a:chExt cx="3036386" cy="2736326"/>
          </a:xfrm>
        </p:grpSpPr>
        <p:sp>
          <p:nvSpPr>
            <p:cNvPr id="14" name="Rectangle: Rounded Corners 13">
              <a:extLst>
                <a:ext uri="{FF2B5EF4-FFF2-40B4-BE49-F238E27FC236}">
                  <a16:creationId xmlns:a16="http://schemas.microsoft.com/office/drawing/2014/main" id="{FC162ADE-89FB-45AD-CF28-30AA8CE77AB9}"/>
                </a:ext>
              </a:extLst>
            </p:cNvPr>
            <p:cNvSpPr/>
            <p:nvPr/>
          </p:nvSpPr>
          <p:spPr>
            <a:xfrm>
              <a:off x="5358348" y="717811"/>
              <a:ext cx="3036386" cy="2736326"/>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986BC81-648B-8FCA-B876-F265DF4852CA}"/>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3681" b="93252" l="1299" r="96429">
                          <a14:foregroundMark x1="8766" y1="18405" x2="20779" y2="49693"/>
                          <a14:foregroundMark x1="20779" y1="49693" x2="20130" y2="77914"/>
                          <a14:foregroundMark x1="20130" y1="77914" x2="30519" y2="30675"/>
                          <a14:foregroundMark x1="30519" y1="30675" x2="31494" y2="12270"/>
                          <a14:foregroundMark x1="31494" y1="12270" x2="30519" y2="4294"/>
                          <a14:foregroundMark x1="4545" y1="18405" x2="16558" y2="69325"/>
                          <a14:foregroundMark x1="16558" y1="69325" x2="16558" y2="79755"/>
                          <a14:foregroundMark x1="16558" y1="79755" x2="13312" y2="92025"/>
                          <a14:foregroundMark x1="13312" y1="92025" x2="23377" y2="92025"/>
                          <a14:foregroundMark x1="23377" y1="92025" x2="28571" y2="91411"/>
                          <a14:foregroundMark x1="28571" y1="91411" x2="31494" y2="88957"/>
                          <a14:foregroundMark x1="5195" y1="17791" x2="5844" y2="28221"/>
                          <a14:foregroundMark x1="5844" y1="28221" x2="6494" y2="29448"/>
                          <a14:foregroundMark x1="1623" y1="19018" x2="1948" y2="25767"/>
                          <a14:foregroundMark x1="55844" y1="3681" x2="74351" y2="5521"/>
                          <a14:foregroundMark x1="90260" y1="17791" x2="96429" y2="28834"/>
                          <a14:foregroundMark x1="96429" y1="28834" x2="98377" y2="38650"/>
                          <a14:foregroundMark x1="98377" y1="38650" x2="97403" y2="55215"/>
                          <a14:foregroundMark x1="97403" y1="55215" x2="93506" y2="65644"/>
                          <a14:foregroundMark x1="93506" y1="65644" x2="83766" y2="73006"/>
                          <a14:foregroundMark x1="83766" y1="73006" x2="81169" y2="80982"/>
                          <a14:foregroundMark x1="81169" y1="80982" x2="79545" y2="91411"/>
                          <a14:foregroundMark x1="79545" y1="91411" x2="62338" y2="94479"/>
                          <a14:foregroundMark x1="62338" y1="94479" x2="56169" y2="93252"/>
                          <a14:foregroundMark x1="56169" y1="93252" x2="56169" y2="92638"/>
                          <a14:foregroundMark x1="92857" y1="20245" x2="97078" y2="42331"/>
                          <a14:foregroundMark x1="97078" y1="42331" x2="96429" y2="52147"/>
                          <a14:foregroundMark x1="96429" y1="52147" x2="91883" y2="66258"/>
                          <a14:foregroundMark x1="83117" y1="25767" x2="76299" y2="38037"/>
                          <a14:foregroundMark x1="76299" y1="38037" x2="76299" y2="39877"/>
                          <a14:foregroundMark x1="42208" y1="26994" x2="37987" y2="33129"/>
                          <a14:foregroundMark x1="37987" y1="33129" x2="36688" y2="41104"/>
                          <a14:foregroundMark x1="69481" y1="42945" x2="71104" y2="67485"/>
                        </a14:backgroundRemoval>
                      </a14:imgEffect>
                    </a14:imgLayer>
                  </a14:imgProps>
                </a:ext>
                <a:ext uri="{28A0092B-C50C-407E-A947-70E740481C1C}">
                  <a14:useLocalDpi xmlns:a14="http://schemas.microsoft.com/office/drawing/2010/main" val="0"/>
                </a:ext>
              </a:extLst>
            </a:blip>
            <a:stretch>
              <a:fillRect/>
            </a:stretch>
          </p:blipFill>
          <p:spPr>
            <a:xfrm>
              <a:off x="6422583" y="2706271"/>
              <a:ext cx="1039468" cy="550108"/>
            </a:xfrm>
            <a:prstGeom prst="rect">
              <a:avLst/>
            </a:prstGeom>
          </p:spPr>
        </p:pic>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6A3F55C3-0E93-BC49-BD1B-69CF34168379}"/>
                    </a:ext>
                  </a:extLst>
                </p:cNvPr>
                <p:cNvGraphicFramePr>
                  <a:graphicFrameLocks noChangeAspect="1"/>
                </p:cNvGraphicFramePr>
                <p:nvPr>
                  <p:extLst>
                    <p:ext uri="{D42A27DB-BD31-4B8C-83A1-F6EECF244321}">
                      <p14:modId xmlns:p14="http://schemas.microsoft.com/office/powerpoint/2010/main" val="1247735964"/>
                    </p:ext>
                  </p:extLst>
                </p:nvPr>
              </p:nvGraphicFramePr>
              <p:xfrm>
                <a:off x="6195359" y="901969"/>
                <a:ext cx="1362364" cy="766330"/>
              </p:xfrm>
              <a:graphic>
                <a:graphicData uri="http://schemas.microsoft.com/office/powerpoint/2016/slidezoom">
                  <pslz:sldZm>
                    <pslz:sldZmObj sldId="903" cId="1300725762">
                      <pslz:zmPr id="{E2C0F6EF-CEF1-4106-86A2-E9A35A0F88C0}" transitionDur="1000" showBg="0">
                        <p166:blipFill xmlns:p166="http://schemas.microsoft.com/office/powerpoint/2016/6/main">
                          <a:blip r:embed="rId7"/>
                          <a:stretch>
                            <a:fillRect/>
                          </a:stretch>
                        </p166:blipFill>
                        <p166:spPr xmlns:p166="http://schemas.microsoft.com/office/powerpoint/2016/6/main">
                          <a:xfrm>
                            <a:off x="0" y="0"/>
                            <a:ext cx="1172235" cy="766330"/>
                          </a:xfrm>
                          <a:prstGeom prst="rect">
                            <a:avLst/>
                          </a:prstGeom>
                        </p166:spPr>
                      </pslz:zmPr>
                    </pslz:sldZmObj>
                  </pslz:sldZm>
                </a:graphicData>
              </a:graphic>
            </p:graphicFrame>
          </mc:Choice>
          <mc:Fallback xmlns="">
            <p:pic>
              <p:nvPicPr>
                <p:cNvPr id="15" name="Slide Zoom 14">
                  <a:hlinkClick r:id="rId8" action="ppaction://hlinksldjump"/>
                  <a:extLst>
                    <a:ext uri="{FF2B5EF4-FFF2-40B4-BE49-F238E27FC236}">
                      <a16:creationId xmlns:a16="http://schemas.microsoft.com/office/drawing/2014/main" id="{6A3F55C3-0E93-BC49-BD1B-69CF34168379}"/>
                    </a:ext>
                  </a:extLst>
                </p:cNvPr>
                <p:cNvPicPr>
                  <a:picLocks noGrp="1" noRot="1" noChangeAspect="1" noMove="1" noResize="1" noEditPoints="1" noAdjustHandles="1" noChangeArrowheads="1" noChangeShapeType="1"/>
                </p:cNvPicPr>
                <p:nvPr/>
              </p:nvPicPr>
              <p:blipFill>
                <a:blip r:embed="rId9"/>
                <a:stretch>
                  <a:fillRect/>
                </a:stretch>
              </p:blipFill>
              <p:spPr>
                <a:xfrm>
                  <a:off x="5711194" y="937521"/>
                  <a:ext cx="1172235" cy="766330"/>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E422DD67-6325-D704-ECA4-FB641803DF05}"/>
                    </a:ext>
                  </a:extLst>
                </p:cNvPr>
                <p:cNvGraphicFramePr>
                  <a:graphicFrameLocks noChangeAspect="1"/>
                </p:cNvGraphicFramePr>
                <p:nvPr>
                  <p:extLst>
                    <p:ext uri="{D42A27DB-BD31-4B8C-83A1-F6EECF244321}">
                      <p14:modId xmlns:p14="http://schemas.microsoft.com/office/powerpoint/2010/main" val="2530938349"/>
                    </p:ext>
                  </p:extLst>
                </p:nvPr>
              </p:nvGraphicFramePr>
              <p:xfrm>
                <a:off x="6195359" y="1795299"/>
                <a:ext cx="1362364" cy="766330"/>
              </p:xfrm>
              <a:graphic>
                <a:graphicData uri="http://schemas.microsoft.com/office/powerpoint/2016/slidezoom">
                  <pslz:sldZm>
                    <pslz:sldZmObj sldId="902" cId="2137308840">
                      <pslz:zmPr id="{8D2C5F7B-77E6-4F9D-B870-F8EE812A4FC9}" transitionDur="1000" showBg="0">
                        <p166:blipFill xmlns:p166="http://schemas.microsoft.com/office/powerpoint/2016/6/main">
                          <a:blip r:embed="rId10"/>
                          <a:stretch>
                            <a:fillRect/>
                          </a:stretch>
                        </p166:blipFill>
                        <p166:spPr xmlns:p166="http://schemas.microsoft.com/office/powerpoint/2016/6/main">
                          <a:xfrm>
                            <a:off x="0" y="0"/>
                            <a:ext cx="1172235" cy="766330"/>
                          </a:xfrm>
                          <a:prstGeom prst="rect">
                            <a:avLst/>
                          </a:prstGeom>
                        </p166:spPr>
                      </pslz:zmPr>
                    </pslz:sldZmObj>
                  </pslz:sldZm>
                </a:graphicData>
              </a:graphic>
            </p:graphicFrame>
          </mc:Choice>
          <mc:Fallback xmlns="">
            <p:pic>
              <p:nvPicPr>
                <p:cNvPr id="19" name="Slide Zoom 18">
                  <a:hlinkClick r:id="rId11" action="ppaction://hlinksldjump"/>
                  <a:extLst>
                    <a:ext uri="{FF2B5EF4-FFF2-40B4-BE49-F238E27FC236}">
                      <a16:creationId xmlns:a16="http://schemas.microsoft.com/office/drawing/2014/main" id="{E422DD67-6325-D704-ECA4-FB641803DF05}"/>
                    </a:ext>
                  </a:extLst>
                </p:cNvPr>
                <p:cNvPicPr>
                  <a:picLocks noGrp="1" noRot="1" noChangeAspect="1" noMove="1" noResize="1" noEditPoints="1" noAdjustHandles="1" noChangeArrowheads="1" noChangeShapeType="1"/>
                </p:cNvPicPr>
                <p:nvPr/>
              </p:nvPicPr>
              <p:blipFill>
                <a:blip r:embed="rId12"/>
                <a:stretch>
                  <a:fillRect/>
                </a:stretch>
              </p:blipFill>
              <p:spPr>
                <a:xfrm>
                  <a:off x="5711194" y="1830851"/>
                  <a:ext cx="1172235" cy="766330"/>
                </a:xfrm>
                <a:prstGeom prst="rect">
                  <a:avLst/>
                </a:prstGeom>
              </p:spPr>
            </p:pic>
          </mc:Fallback>
        </mc:AlternateContent>
      </p:grpSp>
      <p:cxnSp>
        <p:nvCxnSpPr>
          <p:cNvPr id="22" name="Straight Arrow Connector 21">
            <a:extLst>
              <a:ext uri="{FF2B5EF4-FFF2-40B4-BE49-F238E27FC236}">
                <a16:creationId xmlns:a16="http://schemas.microsoft.com/office/drawing/2014/main" id="{0CB4A40D-20C9-CBE7-9A3B-9904FC995317}"/>
              </a:ext>
            </a:extLst>
          </p:cNvPr>
          <p:cNvCxnSpPr>
            <a:stCxn id="9" idx="3"/>
            <a:endCxn id="14" idx="1"/>
          </p:cNvCxnSpPr>
          <p:nvPr/>
        </p:nvCxnSpPr>
        <p:spPr>
          <a:xfrm flipV="1">
            <a:off x="3896252" y="2121526"/>
            <a:ext cx="1094743" cy="29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ACA02E0A-EA34-ECBF-62AF-A0371C45D132}"/>
              </a:ext>
            </a:extLst>
          </p:cNvPr>
          <p:cNvGrpSpPr/>
          <p:nvPr/>
        </p:nvGrpSpPr>
        <p:grpSpPr>
          <a:xfrm>
            <a:off x="9062430" y="1217455"/>
            <a:ext cx="2435347" cy="1808143"/>
            <a:chOff x="9098498" y="1233338"/>
            <a:chExt cx="2435347" cy="1808143"/>
          </a:xfrm>
        </p:grpSpPr>
        <p:sp>
          <p:nvSpPr>
            <p:cNvPr id="25" name="Rectangle: Rounded Corners 24">
              <a:extLst>
                <a:ext uri="{FF2B5EF4-FFF2-40B4-BE49-F238E27FC236}">
                  <a16:creationId xmlns:a16="http://schemas.microsoft.com/office/drawing/2014/main" id="{CFB5F478-FD11-EC81-EA81-128C5A7303BA}"/>
                </a:ext>
              </a:extLst>
            </p:cNvPr>
            <p:cNvSpPr/>
            <p:nvPr/>
          </p:nvSpPr>
          <p:spPr>
            <a:xfrm>
              <a:off x="9098498" y="1233338"/>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TextBox 27">
              <a:extLst>
                <a:ext uri="{FF2B5EF4-FFF2-40B4-BE49-F238E27FC236}">
                  <a16:creationId xmlns:a16="http://schemas.microsoft.com/office/drawing/2014/main" id="{50964B1D-D6A0-1AFA-821B-C02B5DE1E96A}"/>
                </a:ext>
              </a:extLst>
            </p:cNvPr>
            <p:cNvSpPr txBox="1"/>
            <p:nvPr/>
          </p:nvSpPr>
          <p:spPr>
            <a:xfrm>
              <a:off x="9309407" y="1537245"/>
              <a:ext cx="2013528"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Global Coordinates of Anomaly </a:t>
              </a:r>
              <a:endParaRPr lang="en-IN" sz="2400" dirty="0">
                <a:latin typeface="Times New Roman" panose="02020603050405020304" pitchFamily="18" charset="0"/>
                <a:cs typeface="Times New Roman" panose="02020603050405020304" pitchFamily="18" charset="0"/>
              </a:endParaRPr>
            </a:p>
          </p:txBody>
        </p:sp>
      </p:grpSp>
      <p:cxnSp>
        <p:nvCxnSpPr>
          <p:cNvPr id="33" name="Straight Arrow Connector 32">
            <a:extLst>
              <a:ext uri="{FF2B5EF4-FFF2-40B4-BE49-F238E27FC236}">
                <a16:creationId xmlns:a16="http://schemas.microsoft.com/office/drawing/2014/main" id="{D9630202-EDE1-31F6-7F26-301435FEA88A}"/>
              </a:ext>
            </a:extLst>
          </p:cNvPr>
          <p:cNvCxnSpPr>
            <a:cxnSpLocks/>
            <a:stCxn id="14" idx="3"/>
            <a:endCxn id="25" idx="1"/>
          </p:cNvCxnSpPr>
          <p:nvPr/>
        </p:nvCxnSpPr>
        <p:spPr>
          <a:xfrm>
            <a:off x="7603629" y="2121526"/>
            <a:ext cx="14588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4BA8CC45-D520-5B9B-B870-F61B4DC35AD9}"/>
              </a:ext>
            </a:extLst>
          </p:cNvPr>
          <p:cNvGrpSpPr/>
          <p:nvPr/>
        </p:nvGrpSpPr>
        <p:grpSpPr>
          <a:xfrm>
            <a:off x="9062430" y="4094967"/>
            <a:ext cx="2435347" cy="1808143"/>
            <a:chOff x="9098498" y="1266050"/>
            <a:chExt cx="2435347" cy="1808143"/>
          </a:xfrm>
        </p:grpSpPr>
        <p:sp>
          <p:nvSpPr>
            <p:cNvPr id="36" name="Rectangle: Rounded Corners 35">
              <a:extLst>
                <a:ext uri="{FF2B5EF4-FFF2-40B4-BE49-F238E27FC236}">
                  <a16:creationId xmlns:a16="http://schemas.microsoft.com/office/drawing/2014/main" id="{2C8E373B-6CE4-07B8-286B-45D871438BFF}"/>
                </a:ext>
              </a:extLst>
            </p:cNvPr>
            <p:cNvSpPr/>
            <p:nvPr/>
          </p:nvSpPr>
          <p:spPr>
            <a:xfrm>
              <a:off x="9098498" y="1266050"/>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TextBox 36">
              <a:extLst>
                <a:ext uri="{FF2B5EF4-FFF2-40B4-BE49-F238E27FC236}">
                  <a16:creationId xmlns:a16="http://schemas.microsoft.com/office/drawing/2014/main" id="{CC25E60F-6E15-1062-46F2-B7D72362221B}"/>
                </a:ext>
              </a:extLst>
            </p:cNvPr>
            <p:cNvSpPr txBox="1"/>
            <p:nvPr/>
          </p:nvSpPr>
          <p:spPr>
            <a:xfrm>
              <a:off x="9309407" y="1385291"/>
              <a:ext cx="2013528" cy="1569660"/>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Path Planning algorithms to reach those coordinates</a:t>
              </a:r>
              <a:endParaRPr lang="en-IN" sz="2400" dirty="0">
                <a:latin typeface="Times New Roman" panose="02020603050405020304" pitchFamily="18" charset="0"/>
                <a:cs typeface="Times New Roman" panose="02020603050405020304" pitchFamily="18" charset="0"/>
              </a:endParaRPr>
            </a:p>
          </p:txBody>
        </p:sp>
      </p:grpSp>
      <p:grpSp>
        <p:nvGrpSpPr>
          <p:cNvPr id="38" name="Group 37">
            <a:extLst>
              <a:ext uri="{FF2B5EF4-FFF2-40B4-BE49-F238E27FC236}">
                <a16:creationId xmlns:a16="http://schemas.microsoft.com/office/drawing/2014/main" id="{3826E07C-7822-2D41-8D6F-08C1B4033A51}"/>
              </a:ext>
            </a:extLst>
          </p:cNvPr>
          <p:cNvGrpSpPr/>
          <p:nvPr/>
        </p:nvGrpSpPr>
        <p:grpSpPr>
          <a:xfrm>
            <a:off x="5257048" y="4112336"/>
            <a:ext cx="2435347" cy="1808143"/>
            <a:chOff x="9098498" y="1266050"/>
            <a:chExt cx="2435347" cy="1808143"/>
          </a:xfrm>
        </p:grpSpPr>
        <p:sp>
          <p:nvSpPr>
            <p:cNvPr id="39" name="Rectangle: Rounded Corners 38">
              <a:extLst>
                <a:ext uri="{FF2B5EF4-FFF2-40B4-BE49-F238E27FC236}">
                  <a16:creationId xmlns:a16="http://schemas.microsoft.com/office/drawing/2014/main" id="{8E6FF315-48F6-C16E-8BE7-388D6F6418E4}"/>
                </a:ext>
              </a:extLst>
            </p:cNvPr>
            <p:cNvSpPr/>
            <p:nvPr/>
          </p:nvSpPr>
          <p:spPr>
            <a:xfrm>
              <a:off x="9098498" y="1266050"/>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TextBox 39">
              <a:extLst>
                <a:ext uri="{FF2B5EF4-FFF2-40B4-BE49-F238E27FC236}">
                  <a16:creationId xmlns:a16="http://schemas.microsoft.com/office/drawing/2014/main" id="{DA6E4EA5-E73A-2320-8C64-8284618C9459}"/>
                </a:ext>
              </a:extLst>
            </p:cNvPr>
            <p:cNvSpPr txBox="1"/>
            <p:nvPr/>
          </p:nvSpPr>
          <p:spPr>
            <a:xfrm>
              <a:off x="9309407" y="1385291"/>
              <a:ext cx="2013528" cy="1569660"/>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Send Coordinates to Drone Flight controller</a:t>
              </a:r>
              <a:endParaRPr lang="en-IN" sz="2400" dirty="0">
                <a:latin typeface="Times New Roman" panose="02020603050405020304" pitchFamily="18" charset="0"/>
                <a:cs typeface="Times New Roman" panose="02020603050405020304" pitchFamily="18" charset="0"/>
              </a:endParaRPr>
            </a:p>
          </p:txBody>
        </p:sp>
      </p:grpSp>
      <p:cxnSp>
        <p:nvCxnSpPr>
          <p:cNvPr id="42" name="Straight Arrow Connector 41">
            <a:extLst>
              <a:ext uri="{FF2B5EF4-FFF2-40B4-BE49-F238E27FC236}">
                <a16:creationId xmlns:a16="http://schemas.microsoft.com/office/drawing/2014/main" id="{19D54E00-DE7E-40F1-0C52-DF8EFAA8B635}"/>
              </a:ext>
            </a:extLst>
          </p:cNvPr>
          <p:cNvCxnSpPr>
            <a:stCxn id="25" idx="2"/>
            <a:endCxn id="36" idx="0"/>
          </p:cNvCxnSpPr>
          <p:nvPr/>
        </p:nvCxnSpPr>
        <p:spPr>
          <a:xfrm>
            <a:off x="10280104" y="3025598"/>
            <a:ext cx="0" cy="1069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7EACC6B-6629-2EEE-4E5F-1A807B8DF110}"/>
              </a:ext>
            </a:extLst>
          </p:cNvPr>
          <p:cNvCxnSpPr>
            <a:stCxn id="36" idx="1"/>
            <a:endCxn id="39" idx="3"/>
          </p:cNvCxnSpPr>
          <p:nvPr/>
        </p:nvCxnSpPr>
        <p:spPr>
          <a:xfrm flipH="1">
            <a:off x="7692395" y="4999039"/>
            <a:ext cx="1370035" cy="17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1425CAE-ADFD-24A1-00B6-19594DE8B815}"/>
              </a:ext>
            </a:extLst>
          </p:cNvPr>
          <p:cNvSpPr txBox="1"/>
          <p:nvPr/>
        </p:nvSpPr>
        <p:spPr>
          <a:xfrm>
            <a:off x="1130445" y="3677329"/>
            <a:ext cx="3171602"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Reach the Coordinates</a:t>
            </a:r>
            <a:endParaRPr lang="en-IN" sz="2400" dirty="0">
              <a:latin typeface="Times New Roman" panose="02020603050405020304" pitchFamily="18" charset="0"/>
              <a:cs typeface="Times New Roman" panose="02020603050405020304" pitchFamily="18" charset="0"/>
            </a:endParaRPr>
          </a:p>
        </p:txBody>
      </p:sp>
      <p:grpSp>
        <p:nvGrpSpPr>
          <p:cNvPr id="51" name="Group 50">
            <a:extLst>
              <a:ext uri="{FF2B5EF4-FFF2-40B4-BE49-F238E27FC236}">
                <a16:creationId xmlns:a16="http://schemas.microsoft.com/office/drawing/2014/main" id="{2332997A-1C07-F3C2-B6B1-3DD74E2976F3}"/>
              </a:ext>
            </a:extLst>
          </p:cNvPr>
          <p:cNvGrpSpPr/>
          <p:nvPr/>
        </p:nvGrpSpPr>
        <p:grpSpPr>
          <a:xfrm>
            <a:off x="1498573" y="4112336"/>
            <a:ext cx="2435347" cy="1808143"/>
            <a:chOff x="1796387" y="4112336"/>
            <a:chExt cx="2435347" cy="1808143"/>
          </a:xfrm>
        </p:grpSpPr>
        <p:sp>
          <p:nvSpPr>
            <p:cNvPr id="47" name="Rectangle: Rounded Corners 46">
              <a:extLst>
                <a:ext uri="{FF2B5EF4-FFF2-40B4-BE49-F238E27FC236}">
                  <a16:creationId xmlns:a16="http://schemas.microsoft.com/office/drawing/2014/main" id="{B584A34A-D8EE-99E9-8F3C-E1BBC09A31A3}"/>
                </a:ext>
              </a:extLst>
            </p:cNvPr>
            <p:cNvSpPr/>
            <p:nvPr/>
          </p:nvSpPr>
          <p:spPr>
            <a:xfrm>
              <a:off x="1796387" y="4112336"/>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0" name="Picture 49">
              <a:extLst>
                <a:ext uri="{FF2B5EF4-FFF2-40B4-BE49-F238E27FC236}">
                  <a16:creationId xmlns:a16="http://schemas.microsoft.com/office/drawing/2014/main" id="{A9353F89-16CC-D681-0898-3408FF988A7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144642" y="4412668"/>
              <a:ext cx="1788416" cy="1190110"/>
            </a:xfrm>
            <a:prstGeom prst="rect">
              <a:avLst/>
            </a:prstGeom>
          </p:spPr>
        </p:pic>
      </p:grpSp>
      <p:cxnSp>
        <p:nvCxnSpPr>
          <p:cNvPr id="53" name="Straight Arrow Connector 52">
            <a:extLst>
              <a:ext uri="{FF2B5EF4-FFF2-40B4-BE49-F238E27FC236}">
                <a16:creationId xmlns:a16="http://schemas.microsoft.com/office/drawing/2014/main" id="{4271C376-2DA2-7A9C-957A-4A509194301E}"/>
              </a:ext>
            </a:extLst>
          </p:cNvPr>
          <p:cNvCxnSpPr>
            <a:stCxn id="39" idx="1"/>
            <a:endCxn id="47" idx="3"/>
          </p:cNvCxnSpPr>
          <p:nvPr/>
        </p:nvCxnSpPr>
        <p:spPr>
          <a:xfrm flipH="1">
            <a:off x="3933920" y="5016408"/>
            <a:ext cx="1323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B4E60489-77DE-F3FA-F290-744AEE74A32B}"/>
              </a:ext>
            </a:extLst>
          </p:cNvPr>
          <p:cNvSpPr txBox="1"/>
          <p:nvPr/>
        </p:nvSpPr>
        <p:spPr>
          <a:xfrm>
            <a:off x="4711510" y="254653"/>
            <a:ext cx="3171602"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Deep Learning Models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588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246126"/>
            <a:ext cx="10515600"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CNN Architecture</a:t>
            </a:r>
            <a:endParaRPr lang="en-IN" sz="3200" b="1" i="1" dirty="0">
              <a:solidFill>
                <a:srgbClr val="C00000"/>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C0220141-0D99-A68B-A7A3-C307C40EE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5940" y="783545"/>
            <a:ext cx="9315042" cy="4644364"/>
          </a:xfrm>
          <a:prstGeom prst="rect">
            <a:avLst/>
          </a:prstGeom>
        </p:spPr>
      </p:pic>
      <p:sp>
        <p:nvSpPr>
          <p:cNvPr id="6" name="TextBox 5">
            <a:extLst>
              <a:ext uri="{FF2B5EF4-FFF2-40B4-BE49-F238E27FC236}">
                <a16:creationId xmlns:a16="http://schemas.microsoft.com/office/drawing/2014/main" id="{3E94DC32-A432-768A-F5BE-C0A7468F5E66}"/>
              </a:ext>
            </a:extLst>
          </p:cNvPr>
          <p:cNvSpPr txBox="1"/>
          <p:nvPr/>
        </p:nvSpPr>
        <p:spPr>
          <a:xfrm>
            <a:off x="595661" y="5621846"/>
            <a:ext cx="10363200" cy="369332"/>
          </a:xfrm>
          <a:prstGeom prst="rect">
            <a:avLst/>
          </a:prstGeom>
          <a:noFill/>
        </p:spPr>
        <p:txBody>
          <a:bodyPr wrap="square">
            <a:spAutoFit/>
          </a:bodyPr>
          <a:lstStyle/>
          <a:p>
            <a:r>
              <a:rPr lang="en-IN" dirty="0"/>
              <a:t>Source </a:t>
            </a:r>
            <a:r>
              <a:rPr lang="en-IN" dirty="0">
                <a:hlinkClick r:id="rId3"/>
              </a:rPr>
              <a:t>: https://www.analyticsvidhya.com/blog/2022/01/convolutional-neural-network-an-overview/</a:t>
            </a:r>
            <a:endParaRPr lang="en-IN" dirty="0"/>
          </a:p>
        </p:txBody>
      </p:sp>
    </p:spTree>
    <p:extLst>
      <p:ext uri="{BB962C8B-B14F-4D97-AF65-F5344CB8AC3E}">
        <p14:creationId xmlns:p14="http://schemas.microsoft.com/office/powerpoint/2010/main" val="1300725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246126"/>
            <a:ext cx="10515600"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Block Diagram - RCNN</a:t>
            </a:r>
            <a:endParaRPr lang="en-IN" sz="3200" b="1" i="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03120A8-C191-BC21-DD08-21EA9A524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074" y="609600"/>
            <a:ext cx="11961852" cy="5259708"/>
          </a:xfrm>
          <a:prstGeom prst="rect">
            <a:avLst/>
          </a:prstGeom>
        </p:spPr>
      </p:pic>
      <p:sp>
        <p:nvSpPr>
          <p:cNvPr id="6" name="TextBox 5">
            <a:extLst>
              <a:ext uri="{FF2B5EF4-FFF2-40B4-BE49-F238E27FC236}">
                <a16:creationId xmlns:a16="http://schemas.microsoft.com/office/drawing/2014/main" id="{FD44E1A7-4FA2-1E87-8BBD-0905591A2A3B}"/>
              </a:ext>
            </a:extLst>
          </p:cNvPr>
          <p:cNvSpPr txBox="1"/>
          <p:nvPr/>
        </p:nvSpPr>
        <p:spPr>
          <a:xfrm>
            <a:off x="3297382" y="5684642"/>
            <a:ext cx="6576291" cy="369332"/>
          </a:xfrm>
          <a:prstGeom prst="rect">
            <a:avLst/>
          </a:prstGeom>
          <a:noFill/>
        </p:spPr>
        <p:txBody>
          <a:bodyPr wrap="square">
            <a:spAutoFit/>
          </a:bodyPr>
          <a:lstStyle/>
          <a:p>
            <a:r>
              <a:rPr lang="en-IN" dirty="0"/>
              <a:t>Source : </a:t>
            </a:r>
            <a:r>
              <a:rPr lang="en-IN" dirty="0">
                <a:hlinkClick r:id="rId3"/>
              </a:rPr>
              <a:t>https://www.geeksforgeeks.org/r-cnn-region-based-cnns/</a:t>
            </a:r>
            <a:endParaRPr lang="en-IN" dirty="0"/>
          </a:p>
        </p:txBody>
      </p:sp>
    </p:spTree>
    <p:extLst>
      <p:ext uri="{BB962C8B-B14F-4D97-AF65-F5344CB8AC3E}">
        <p14:creationId xmlns:p14="http://schemas.microsoft.com/office/powerpoint/2010/main" val="2137308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7A2DE-D677-FE01-C0E4-F0BB6B6592EF}"/>
              </a:ext>
            </a:extLst>
          </p:cNvPr>
          <p:cNvSpPr>
            <a:spLocks noGrp="1"/>
          </p:cNvSpPr>
          <p:nvPr>
            <p:ph type="title"/>
          </p:nvPr>
        </p:nvSpPr>
        <p:spPr>
          <a:xfrm>
            <a:off x="838200" y="365127"/>
            <a:ext cx="10515600" cy="625473"/>
          </a:xfrm>
        </p:spPr>
        <p:txBody>
          <a:bodyPr>
            <a:normAutofit fontScale="90000"/>
          </a:bodyPr>
          <a:lstStyle/>
          <a:p>
            <a:r>
              <a:rPr lang="en-US" b="1" dirty="0">
                <a:solidFill>
                  <a:srgbClr val="CC0066"/>
                </a:solidFill>
                <a:latin typeface="Times New Roman" panose="02020603050405020304" pitchFamily="18" charset="0"/>
                <a:cs typeface="Times New Roman" panose="02020603050405020304" pitchFamily="18" charset="0"/>
              </a:rPr>
              <a:t>Contributions</a:t>
            </a:r>
          </a:p>
        </p:txBody>
      </p:sp>
      <p:graphicFrame>
        <p:nvGraphicFramePr>
          <p:cNvPr id="5" name="Content Placeholder 4">
            <a:extLst>
              <a:ext uri="{FF2B5EF4-FFF2-40B4-BE49-F238E27FC236}">
                <a16:creationId xmlns:a16="http://schemas.microsoft.com/office/drawing/2014/main" id="{EDFCC67A-6EAA-A882-EC2C-332FA3F3C051}"/>
              </a:ext>
            </a:extLst>
          </p:cNvPr>
          <p:cNvGraphicFramePr>
            <a:graphicFrameLocks noGrp="1"/>
          </p:cNvGraphicFramePr>
          <p:nvPr>
            <p:ph idx="1"/>
            <p:extLst>
              <p:ext uri="{D42A27DB-BD31-4B8C-83A1-F6EECF244321}">
                <p14:modId xmlns:p14="http://schemas.microsoft.com/office/powerpoint/2010/main" val="112983033"/>
              </p:ext>
            </p:extLst>
          </p:nvPr>
        </p:nvGraphicFramePr>
        <p:xfrm>
          <a:off x="838200" y="1460954"/>
          <a:ext cx="10515600" cy="3212646"/>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4118981284"/>
                    </a:ext>
                  </a:extLst>
                </a:gridCol>
                <a:gridCol w="2155371">
                  <a:extLst>
                    <a:ext uri="{9D8B030D-6E8A-4147-A177-3AD203B41FA5}">
                      <a16:colId xmlns:a16="http://schemas.microsoft.com/office/drawing/2014/main" val="3362724327"/>
                    </a:ext>
                  </a:extLst>
                </a:gridCol>
                <a:gridCol w="2865747">
                  <a:extLst>
                    <a:ext uri="{9D8B030D-6E8A-4147-A177-3AD203B41FA5}">
                      <a16:colId xmlns:a16="http://schemas.microsoft.com/office/drawing/2014/main" val="3714134445"/>
                    </a:ext>
                  </a:extLst>
                </a:gridCol>
                <a:gridCol w="2865582">
                  <a:extLst>
                    <a:ext uri="{9D8B030D-6E8A-4147-A177-3AD203B41FA5}">
                      <a16:colId xmlns:a16="http://schemas.microsoft.com/office/drawing/2014/main" val="290440193"/>
                    </a:ext>
                  </a:extLst>
                </a:gridCol>
              </a:tblGrid>
              <a:tr h="1026262">
                <a:tc>
                  <a:txBody>
                    <a:bodyPr/>
                    <a:lstStyle/>
                    <a:p>
                      <a:pPr algn="ctr"/>
                      <a:r>
                        <a:rPr lang="en-US" sz="2000" dirty="0">
                          <a:latin typeface="Times New Roman" panose="02020603050405020304" pitchFamily="18" charset="0"/>
                          <a:cs typeface="Times New Roman" panose="02020603050405020304" pitchFamily="18" charset="0"/>
                        </a:rPr>
                        <a:t>Roll.No</a:t>
                      </a:r>
                    </a:p>
                  </a:txBody>
                  <a:tcPr/>
                </a:tc>
                <a:tc>
                  <a:txBody>
                    <a:bodyPr/>
                    <a:lstStyle/>
                    <a:p>
                      <a:pPr algn="ctr"/>
                      <a:r>
                        <a:rPr lang="en-US" sz="2000" dirty="0">
                          <a:latin typeface="Times New Roman" panose="02020603050405020304" pitchFamily="18" charset="0"/>
                          <a:cs typeface="Times New Roman" panose="02020603050405020304" pitchFamily="18" charset="0"/>
                        </a:rPr>
                        <a:t>Name</a:t>
                      </a:r>
                    </a:p>
                  </a:txBody>
                  <a:tcPr/>
                </a:tc>
                <a:tc>
                  <a:txBody>
                    <a:bodyPr/>
                    <a:lstStyle/>
                    <a:p>
                      <a:pPr algn="ctr"/>
                      <a:r>
                        <a:rPr lang="en-US" sz="2000" dirty="0">
                          <a:latin typeface="Times New Roman" panose="02020603050405020304" pitchFamily="18" charset="0"/>
                          <a:cs typeface="Times New Roman" panose="02020603050405020304" pitchFamily="18" charset="0"/>
                        </a:rPr>
                        <a:t>Contribution</a:t>
                      </a:r>
                    </a:p>
                  </a:txBody>
                  <a:tcPr/>
                </a:tc>
                <a:tc>
                  <a:txBody>
                    <a:bodyPr/>
                    <a:lstStyle/>
                    <a:p>
                      <a:pPr algn="ctr"/>
                      <a:r>
                        <a:rPr lang="en-US" sz="2000" dirty="0">
                          <a:latin typeface="Times New Roman" panose="02020603050405020304" pitchFamily="18" charset="0"/>
                          <a:cs typeface="Times New Roman" panose="02020603050405020304" pitchFamily="18" charset="0"/>
                        </a:rPr>
                        <a:t>Uniqueness in Contribution</a:t>
                      </a:r>
                    </a:p>
                  </a:txBody>
                  <a:tcPr/>
                </a:tc>
                <a:extLst>
                  <a:ext uri="{0D108BD9-81ED-4DB2-BD59-A6C34878D82A}">
                    <a16:rowId xmlns:a16="http://schemas.microsoft.com/office/drawing/2014/main" val="427488512"/>
                  </a:ext>
                </a:extLst>
              </a:tr>
              <a:tr h="580061">
                <a:tc>
                  <a:txBody>
                    <a:bodyPr/>
                    <a:lstStyle/>
                    <a:p>
                      <a:pPr algn="ctr"/>
                      <a:r>
                        <a:rPr lang="en-US" sz="2000" dirty="0">
                          <a:latin typeface="Times New Roman" panose="02020603050405020304" pitchFamily="18" charset="0"/>
                          <a:cs typeface="Times New Roman" panose="02020603050405020304" pitchFamily="18" charset="0"/>
                        </a:rPr>
                        <a:t>CB.EN.U4AEE21034</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Erukala Sashank</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Training and Testing</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Using YOLO V8</a:t>
                      </a:r>
                    </a:p>
                  </a:txBody>
                  <a:tcPr anchor="ctr"/>
                </a:tc>
                <a:extLst>
                  <a:ext uri="{0D108BD9-81ED-4DB2-BD59-A6C34878D82A}">
                    <a16:rowId xmlns:a16="http://schemas.microsoft.com/office/drawing/2014/main" val="2123802123"/>
                  </a:ext>
                </a:extLst>
              </a:tr>
              <a:tr h="1026262">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CB.EN.U4AEE21046</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Vishwa K</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Data set collection and Classification</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Using R-CNN</a:t>
                      </a:r>
                    </a:p>
                  </a:txBody>
                  <a:tcPr anchor="ctr"/>
                </a:tc>
                <a:extLst>
                  <a:ext uri="{0D108BD9-81ED-4DB2-BD59-A6C34878D82A}">
                    <a16:rowId xmlns:a16="http://schemas.microsoft.com/office/drawing/2014/main" val="4276564814"/>
                  </a:ext>
                </a:extLst>
              </a:tr>
              <a:tr h="580061">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CB.EN.U4AEE21057</a:t>
                      </a:r>
                    </a:p>
                  </a:txBody>
                  <a:tcPr anchor="ctr"/>
                </a:tc>
                <a:tc>
                  <a:txBody>
                    <a:bodyPr/>
                    <a:lstStyle/>
                    <a:p>
                      <a:pPr algn="ctr"/>
                      <a:r>
                        <a:rPr lang="en-US" sz="2000" dirty="0" err="1">
                          <a:latin typeface="Times New Roman" panose="02020603050405020304" pitchFamily="18" charset="0"/>
                          <a:cs typeface="Times New Roman" panose="02020603050405020304" pitchFamily="18" charset="0"/>
                        </a:rPr>
                        <a:t>Magesvar</a:t>
                      </a:r>
                      <a:r>
                        <a:rPr lang="en-US" sz="2000" dirty="0">
                          <a:latin typeface="Times New Roman" panose="02020603050405020304" pitchFamily="18" charset="0"/>
                          <a:cs typeface="Times New Roman" panose="02020603050405020304" pitchFamily="18" charset="0"/>
                        </a:rPr>
                        <a:t> V 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Training and Testing</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Using CNN</a:t>
                      </a:r>
                    </a:p>
                  </a:txBody>
                  <a:tcPr anchor="ctr"/>
                </a:tc>
                <a:extLst>
                  <a:ext uri="{0D108BD9-81ED-4DB2-BD59-A6C34878D82A}">
                    <a16:rowId xmlns:a16="http://schemas.microsoft.com/office/drawing/2014/main" val="47960820"/>
                  </a:ext>
                </a:extLst>
              </a:tr>
            </a:tbl>
          </a:graphicData>
        </a:graphic>
      </p:graphicFrame>
    </p:spTree>
    <p:extLst>
      <p:ext uri="{BB962C8B-B14F-4D97-AF65-F5344CB8AC3E}">
        <p14:creationId xmlns:p14="http://schemas.microsoft.com/office/powerpoint/2010/main" val="109509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71500" y="250828"/>
            <a:ext cx="2947204" cy="669016"/>
          </a:xfrm>
        </p:spPr>
        <p:txBody>
          <a:bodyPr>
            <a:normAutofit/>
          </a:bodyPr>
          <a:lstStyle/>
          <a:p>
            <a:r>
              <a:rPr lang="en-US" sz="4000" b="1" dirty="0">
                <a:solidFill>
                  <a:srgbClr val="CC0066"/>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DE22E77-B818-9594-6288-535C38AC7812}"/>
              </a:ext>
            </a:extLst>
          </p:cNvPr>
          <p:cNvSpPr>
            <a:spLocks noGrp="1"/>
          </p:cNvSpPr>
          <p:nvPr>
            <p:ph idx="1"/>
          </p:nvPr>
        </p:nvSpPr>
        <p:spPr>
          <a:xfrm>
            <a:off x="680357" y="1020082"/>
            <a:ext cx="10515600" cy="4351338"/>
          </a:xfrm>
        </p:spPr>
        <p:txBody>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Develop an ML algorithm to detect anomalies in crop health using sensor and imaging data.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Automate the creation of custom flight paths for agricultural spraying drones.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Ensure precise treatment of affected areas.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Enhance agricultural efficiency and sustainability.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596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71500" y="250828"/>
            <a:ext cx="10515600"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Statistical Reference</a:t>
            </a:r>
          </a:p>
        </p:txBody>
      </p:sp>
      <p:sp>
        <p:nvSpPr>
          <p:cNvPr id="4" name="Rectangle 1">
            <a:extLst>
              <a:ext uri="{FF2B5EF4-FFF2-40B4-BE49-F238E27FC236}">
                <a16:creationId xmlns:a16="http://schemas.microsoft.com/office/drawing/2014/main" id="{0930BC59-F236-CE29-994B-276828CB1F59}"/>
              </a:ext>
            </a:extLst>
          </p:cNvPr>
          <p:cNvSpPr>
            <a:spLocks noGrp="1" noChangeArrowheads="1"/>
          </p:cNvSpPr>
          <p:nvPr>
            <p:ph idx="1"/>
          </p:nvPr>
        </p:nvSpPr>
        <p:spPr bwMode="auto">
          <a:xfrm>
            <a:off x="417683" y="837425"/>
            <a:ext cx="11356633"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Up to 40% of global crop yields are lost annually due to pests, diseases, and nutrient deficiencies.</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Early detection of crop issues can improve yield by up to 20% through timely intervention.</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Precision agriculture technologies can reduce pesticide use by 10-30%, minimizing environmental impact.</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Automated systems can lower labor costs by 15-25% while improving treatment accuracy. </a:t>
            </a:r>
          </a:p>
        </p:txBody>
      </p:sp>
    </p:spTree>
    <p:extLst>
      <p:ext uri="{BB962C8B-B14F-4D97-AF65-F5344CB8AC3E}">
        <p14:creationId xmlns:p14="http://schemas.microsoft.com/office/powerpoint/2010/main" val="380206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681038" y="111932"/>
            <a:ext cx="3468065"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Social Relevance</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780948"/>
            <a:ext cx="11510962"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Food Security:</a:t>
            </a:r>
            <a:r>
              <a:rPr kumimoji="0" lang="en-US" altLang="en-US" i="0" u="none" strike="noStrike" cap="none" normalizeH="0" baseline="0" dirty="0">
                <a:ln>
                  <a:noFill/>
                </a:ln>
                <a:solidFill>
                  <a:schemeClr val="tx1"/>
                </a:solidFill>
                <a:effectLst/>
                <a:latin typeface="Arial" panose="020B0604020202020204" pitchFamily="34" charset="0"/>
              </a:rPr>
              <a:t> Enhances crop yield and quality, contributing to a more reliable food supply.</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Sustainable Agriculture: </a:t>
            </a:r>
            <a:r>
              <a:rPr kumimoji="0" lang="en-US" altLang="en-US" i="0" u="none" strike="noStrike" cap="none" normalizeH="0" baseline="0" dirty="0">
                <a:ln>
                  <a:noFill/>
                </a:ln>
                <a:solidFill>
                  <a:schemeClr val="tx1"/>
                </a:solidFill>
                <a:effectLst/>
                <a:latin typeface="Arial" panose="020B0604020202020204" pitchFamily="34" charset="0"/>
              </a:rPr>
              <a:t>Reduces pesticide use and promotes eco-friendly farming practices.</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Economic Impact: </a:t>
            </a:r>
            <a:r>
              <a:rPr kumimoji="0" lang="en-US" altLang="en-US" i="0" u="none" strike="noStrike" cap="none" normalizeH="0" baseline="0" dirty="0">
                <a:ln>
                  <a:noFill/>
                </a:ln>
                <a:solidFill>
                  <a:schemeClr val="tx1"/>
                </a:solidFill>
                <a:effectLst/>
                <a:latin typeface="Arial" panose="020B0604020202020204" pitchFamily="34" charset="0"/>
              </a:rPr>
              <a:t>Lowers operational costs for farmers and increases agricultural productivity.</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Labor Efficiency: </a:t>
            </a:r>
            <a:r>
              <a:rPr kumimoji="0" lang="en-US" altLang="en-US" i="0" u="none" strike="noStrike" cap="none" normalizeH="0" baseline="0" dirty="0">
                <a:ln>
                  <a:noFill/>
                </a:ln>
                <a:solidFill>
                  <a:schemeClr val="tx1"/>
                </a:solidFill>
                <a:effectLst/>
                <a:latin typeface="Arial" panose="020B0604020202020204" pitchFamily="34" charset="0"/>
              </a:rPr>
              <a:t>Automates routine tasks, freeing up labor for more skilled agricultural work. </a:t>
            </a:r>
          </a:p>
        </p:txBody>
      </p:sp>
    </p:spTree>
    <p:extLst>
      <p:ext uri="{BB962C8B-B14F-4D97-AF65-F5344CB8AC3E}">
        <p14:creationId xmlns:p14="http://schemas.microsoft.com/office/powerpoint/2010/main" val="3662493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42142" y="224886"/>
            <a:ext cx="4296076"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718671"/>
            <a:ext cx="11510962"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lang="en-US" dirty="0">
                <a:latin typeface="Arial" panose="020B0604020202020204" pitchFamily="34" charset="0"/>
                <a:cs typeface="Arial" panose="020B0604020202020204" pitchFamily="34" charset="0"/>
              </a:rPr>
              <a:t>Current methods for monitoring crop health and managing agricultural spraying are often inefficient and labor-intensive, leading to suboptimal crop yields and increased pesticide use. There is a need for an advanced system that combines machine learning and drone technology to detect anomalies in crop health early and automate the creation of precise, customized flight paths for treatment. This will address issues of inefficiency, high operational costs, and environmental impact in modern agriculture.</a:t>
            </a:r>
            <a:endPar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4468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0" y="0"/>
            <a:ext cx="7724403"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Pros and Cons of using different approach</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927642" y="718673"/>
            <a:ext cx="3963626"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Data Mining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Machine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Deep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Explainable AI</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Federated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Transfer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Generative AI</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Agent AI</a:t>
            </a:r>
          </a:p>
        </p:txBody>
      </p:sp>
    </p:spTree>
    <p:extLst>
      <p:ext uri="{BB962C8B-B14F-4D97-AF65-F5344CB8AC3E}">
        <p14:creationId xmlns:p14="http://schemas.microsoft.com/office/powerpoint/2010/main" val="1865563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724400" y="0"/>
            <a:ext cx="2743200"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Data Mining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818823"/>
            <a:ext cx="12192000" cy="5037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Pattern Discovery:</a:t>
            </a:r>
            <a:r>
              <a:rPr lang="en-US" sz="2000" dirty="0">
                <a:latin typeface="Arial" panose="020B0604020202020204" pitchFamily="34" charset="0"/>
                <a:cs typeface="Arial" panose="020B0604020202020204" pitchFamily="34" charset="0"/>
              </a:rPr>
              <a:t> Efficiently identifies hidden patterns and correlations in large datasets, which is crucial for understanding crop health trends.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Data-Driven Decisions:</a:t>
            </a:r>
            <a:r>
              <a:rPr lang="en-US" sz="2000" dirty="0">
                <a:latin typeface="Arial" panose="020B0604020202020204" pitchFamily="34" charset="0"/>
                <a:cs typeface="Arial" panose="020B0604020202020204" pitchFamily="34" charset="0"/>
              </a:rPr>
              <a:t> Helps in making informed decisions based on historical data and trends, leading to optimized spraying schedules and routes.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Cost-Effective:</a:t>
            </a:r>
            <a:r>
              <a:rPr lang="en-US" sz="2000" dirty="0">
                <a:latin typeface="Arial" panose="020B0604020202020204" pitchFamily="34" charset="0"/>
                <a:cs typeface="Arial" panose="020B0604020202020204" pitchFamily="34" charset="0"/>
              </a:rPr>
              <a:t> Generally less computationally intensive than more advanced ML techniques, making it accessible for initial stages of analysis.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Limited Predictive Power:</a:t>
            </a:r>
            <a:r>
              <a:rPr lang="en-US" sz="2000" dirty="0">
                <a:latin typeface="Arial" panose="020B0604020202020204" pitchFamily="34" charset="0"/>
                <a:cs typeface="Arial" panose="020B0604020202020204" pitchFamily="34" charset="0"/>
              </a:rPr>
              <a:t> May not be as effective in predicting future anomalies or changes in crop health compared to ML or DL methods.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Static Analysis:</a:t>
            </a:r>
            <a:r>
              <a:rPr lang="en-US" sz="2000" dirty="0">
                <a:latin typeface="Arial" panose="020B0604020202020204" pitchFamily="34" charset="0"/>
                <a:cs typeface="Arial" panose="020B0604020202020204" pitchFamily="34" charset="0"/>
              </a:rPr>
              <a:t> Lacks the adaptability and learning capabilities of machine learning models, making it less effective for dynamic and evolving agricultural environments.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Dependency on Quality of Data:</a:t>
            </a:r>
            <a:r>
              <a:rPr lang="en-US" sz="2000" dirty="0">
                <a:latin typeface="Arial" panose="020B0604020202020204" pitchFamily="34" charset="0"/>
                <a:cs typeface="Arial" panose="020B0604020202020204" pitchFamily="34" charset="0"/>
              </a:rPr>
              <a:t> Highly dependent on the quality and completeness of the data available, which can be a limiting factor in rural or underdeveloped areas.</a:t>
            </a:r>
          </a:p>
        </p:txBody>
      </p:sp>
    </p:spTree>
    <p:extLst>
      <p:ext uri="{BB962C8B-B14F-4D97-AF65-F5344CB8AC3E}">
        <p14:creationId xmlns:p14="http://schemas.microsoft.com/office/powerpoint/2010/main" val="2809380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4000" y="0"/>
            <a:ext cx="3403600"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Machine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Predictive Modeling:</a:t>
            </a:r>
            <a:r>
              <a:rPr lang="en-US" sz="2000" dirty="0">
                <a:latin typeface="Arial" panose="020B0604020202020204" pitchFamily="34" charset="0"/>
                <a:cs typeface="Arial" panose="020B0604020202020204" pitchFamily="34" charset="0"/>
              </a:rPr>
              <a:t> Capable of building predictive models that can anticipate crop health issues before they become severe, allowing for proactive measures.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Adaptability:</a:t>
            </a:r>
            <a:r>
              <a:rPr lang="en-US" sz="2000" dirty="0">
                <a:latin typeface="Arial" panose="020B0604020202020204" pitchFamily="34" charset="0"/>
                <a:cs typeface="Arial" panose="020B0604020202020204" pitchFamily="34" charset="0"/>
              </a:rPr>
              <a:t> Can adapt to new data and improve over time, providing increasingly accurate predictions and recommendations.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Versatility:</a:t>
            </a:r>
            <a:r>
              <a:rPr lang="en-US" sz="2000" dirty="0">
                <a:latin typeface="Arial" panose="020B0604020202020204" pitchFamily="34" charset="0"/>
                <a:cs typeface="Arial" panose="020B0604020202020204" pitchFamily="34" charset="0"/>
              </a:rPr>
              <a:t> Applicable to various types of data (e.g., soil, weather, crop images), enabling a holistic approach to anomaly detection and flight path planning.</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Requirements:</a:t>
            </a:r>
            <a:r>
              <a:rPr lang="en-US" sz="2000" dirty="0">
                <a:latin typeface="Arial" panose="020B0604020202020204" pitchFamily="34" charset="0"/>
                <a:cs typeface="Arial" panose="020B0604020202020204" pitchFamily="34" charset="0"/>
              </a:rPr>
              <a:t> Requires substantial amounts of labeled data to train accurate models, which can be challenging to gather in agricultural settings.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Complexity:</a:t>
            </a:r>
            <a:r>
              <a:rPr lang="en-US" sz="2000" dirty="0">
                <a:latin typeface="Arial" panose="020B0604020202020204" pitchFamily="34" charset="0"/>
                <a:cs typeface="Arial" panose="020B0604020202020204" pitchFamily="34" charset="0"/>
              </a:rPr>
              <a:t> Implementing and maintaining ML models can be complex and may require specialized knowledge and resources.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Overfitting Risk:</a:t>
            </a:r>
            <a:r>
              <a:rPr lang="en-US" sz="2000" dirty="0">
                <a:latin typeface="Arial" panose="020B0604020202020204" pitchFamily="34" charset="0"/>
                <a:cs typeface="Arial" panose="020B0604020202020204" pitchFamily="34" charset="0"/>
              </a:rPr>
              <a:t> ML models may overfit to training data, reducing their effectiveness on new, unseen data if not properly managed.</a:t>
            </a:r>
          </a:p>
        </p:txBody>
      </p:sp>
    </p:spTree>
    <p:extLst>
      <p:ext uri="{BB962C8B-B14F-4D97-AF65-F5344CB8AC3E}">
        <p14:creationId xmlns:p14="http://schemas.microsoft.com/office/powerpoint/2010/main" val="1086401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4000" y="0"/>
            <a:ext cx="3403600"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Deep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High Accuracy:</a:t>
            </a:r>
            <a:r>
              <a:rPr lang="en-US" sz="2000" dirty="0">
                <a:latin typeface="Arial" panose="020B0604020202020204" pitchFamily="34" charset="0"/>
                <a:cs typeface="Arial" panose="020B0604020202020204" pitchFamily="34" charset="0"/>
              </a:rPr>
              <a:t> Capable of achieving high levels of accuracy in anomaly detection due to its ability to model complex patterns in large datasets.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Automation:</a:t>
            </a:r>
            <a:r>
              <a:rPr lang="en-US" sz="2000" dirty="0">
                <a:latin typeface="Arial" panose="020B0604020202020204" pitchFamily="34" charset="0"/>
                <a:cs typeface="Arial" panose="020B0604020202020204" pitchFamily="34" charset="0"/>
              </a:rPr>
              <a:t> Can automate feature extraction, reducing the need for manual intervention and allowing for the discovery of subtle patterns.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Scalability:</a:t>
            </a:r>
            <a:r>
              <a:rPr lang="en-US" sz="2000" dirty="0">
                <a:latin typeface="Arial" panose="020B0604020202020204" pitchFamily="34" charset="0"/>
                <a:cs typeface="Arial" panose="020B0604020202020204" pitchFamily="34" charset="0"/>
              </a:rPr>
              <a:t> Effective in handling large-scale data from diverse sources, such as satellite imagery, drone footage, and IoT sensor data.</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Resource Intensive:</a:t>
            </a:r>
            <a:r>
              <a:rPr lang="en-US" sz="2000" dirty="0">
                <a:latin typeface="Arial" panose="020B0604020202020204" pitchFamily="34" charset="0"/>
                <a:cs typeface="Arial" panose="020B0604020202020204" pitchFamily="34" charset="0"/>
              </a:rPr>
              <a:t> Requires significant computational resources and large labeled datasets for training, which may not be feasible in all settings.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Interpretability:</a:t>
            </a:r>
            <a:r>
              <a:rPr lang="en-US" sz="2000" dirty="0">
                <a:latin typeface="Arial" panose="020B0604020202020204" pitchFamily="34" charset="0"/>
                <a:cs typeface="Arial" panose="020B0604020202020204" pitchFamily="34" charset="0"/>
              </a:rPr>
              <a:t> Deep learning models are often seen as "black boxes," making it difficult to understand and interpret their decisions.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Deployment Complexity:</a:t>
            </a:r>
            <a:r>
              <a:rPr lang="en-US" sz="2000" dirty="0">
                <a:latin typeface="Arial" panose="020B0604020202020204" pitchFamily="34" charset="0"/>
                <a:cs typeface="Arial" panose="020B0604020202020204" pitchFamily="34" charset="0"/>
              </a:rPr>
              <a:t> Implementing and maintaining DL models in real-world agricultural environments can be challenging and costly.</a:t>
            </a:r>
          </a:p>
        </p:txBody>
      </p:sp>
    </p:spTree>
    <p:extLst>
      <p:ext uri="{BB962C8B-B14F-4D97-AF65-F5344CB8AC3E}">
        <p14:creationId xmlns:p14="http://schemas.microsoft.com/office/powerpoint/2010/main" val="231793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4000" y="0"/>
            <a:ext cx="3403600"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Explainable AI</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Transparency:</a:t>
            </a:r>
            <a:r>
              <a:rPr lang="en-US" sz="2000" dirty="0">
                <a:latin typeface="Arial" panose="020B0604020202020204" pitchFamily="34" charset="0"/>
                <a:cs typeface="Arial" panose="020B0604020202020204" pitchFamily="34" charset="0"/>
              </a:rPr>
              <a:t> Provides clear insights into how decisions are made, increasing trust and acceptance among stakeholders.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Regulatory Compliance:</a:t>
            </a:r>
            <a:r>
              <a:rPr lang="en-US" sz="2000" dirty="0">
                <a:latin typeface="Arial" panose="020B0604020202020204" pitchFamily="34" charset="0"/>
                <a:cs typeface="Arial" panose="020B0604020202020204" pitchFamily="34" charset="0"/>
              </a:rPr>
              <a:t> Helps in meeting regulatory requirements by providing explanations for automated decisions.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Improved Model Understanding:</a:t>
            </a:r>
            <a:r>
              <a:rPr lang="en-US" sz="2000" dirty="0">
                <a:latin typeface="Arial" panose="020B0604020202020204" pitchFamily="34" charset="0"/>
                <a:cs typeface="Arial" panose="020B0604020202020204" pitchFamily="34" charset="0"/>
              </a:rPr>
              <a:t> Enhances the ability to debug and improve models by understanding their decision-making processes.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Complexity:</a:t>
            </a:r>
            <a:r>
              <a:rPr lang="en-US" sz="2000" dirty="0">
                <a:latin typeface="Arial" panose="020B0604020202020204" pitchFamily="34" charset="0"/>
                <a:cs typeface="Arial" panose="020B0604020202020204" pitchFamily="34" charset="0"/>
              </a:rPr>
              <a:t> Developing explainable models can be more complex and may require trade-offs between accuracy and interpretability.</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Performance Trade-offs:</a:t>
            </a:r>
            <a:r>
              <a:rPr lang="en-US" sz="2000" dirty="0">
                <a:latin typeface="Arial" panose="020B0604020202020204" pitchFamily="34" charset="0"/>
                <a:cs typeface="Arial" panose="020B0604020202020204" pitchFamily="34" charset="0"/>
              </a:rPr>
              <a:t> Explainable models may not always achieve the same level of performance as less interpretable models.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Limited Tools:</a:t>
            </a:r>
            <a:r>
              <a:rPr lang="en-US" sz="2000" dirty="0">
                <a:latin typeface="Arial" panose="020B0604020202020204" pitchFamily="34" charset="0"/>
                <a:cs typeface="Arial" panose="020B0604020202020204" pitchFamily="34" charset="0"/>
              </a:rPr>
              <a:t> The field of explainable AI is still evolving, with limited tools and frameworks available compared to traditional ML/DL.</a:t>
            </a:r>
          </a:p>
        </p:txBody>
      </p:sp>
    </p:spTree>
    <p:extLst>
      <p:ext uri="{BB962C8B-B14F-4D97-AF65-F5344CB8AC3E}">
        <p14:creationId xmlns:p14="http://schemas.microsoft.com/office/powerpoint/2010/main" val="334066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3999" y="0"/>
            <a:ext cx="3666837"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Federated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Privacy:</a:t>
            </a:r>
            <a:r>
              <a:rPr lang="en-US" sz="2000" dirty="0">
                <a:latin typeface="Arial" panose="020B0604020202020204" pitchFamily="34" charset="0"/>
                <a:cs typeface="Arial" panose="020B0604020202020204" pitchFamily="34" charset="0"/>
              </a:rPr>
              <a:t> Enables the use of distributed data without requiring it to be centralized, preserving privacy and security.</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Collaboration:</a:t>
            </a:r>
            <a:r>
              <a:rPr lang="en-US" sz="2000" dirty="0">
                <a:latin typeface="Arial" panose="020B0604020202020204" pitchFamily="34" charset="0"/>
                <a:cs typeface="Arial" panose="020B0604020202020204" pitchFamily="34" charset="0"/>
              </a:rPr>
              <a:t> Facilitates collaboration among different organizations or farms, leading to more robust and diverse models.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Scalability:</a:t>
            </a:r>
            <a:r>
              <a:rPr lang="en-US" sz="2000" dirty="0">
                <a:latin typeface="Arial" panose="020B0604020202020204" pitchFamily="34" charset="0"/>
                <a:cs typeface="Arial" panose="020B0604020202020204" pitchFamily="34" charset="0"/>
              </a:rPr>
              <a:t> Can scale across multiple devices and locations, making it suitable for large-scale agricultural deployments.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Communication Overhead:</a:t>
            </a:r>
            <a:r>
              <a:rPr lang="en-US" sz="2000" dirty="0">
                <a:latin typeface="Arial" panose="020B0604020202020204" pitchFamily="34" charset="0"/>
                <a:cs typeface="Arial" panose="020B0604020202020204" pitchFamily="34" charset="0"/>
              </a:rPr>
              <a:t> Requires efficient communication protocols to handle the exchange of model updates, which can be challenging in remote areas.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Heterogeneity:</a:t>
            </a:r>
            <a:r>
              <a:rPr lang="en-US" sz="2000" dirty="0">
                <a:latin typeface="Arial" panose="020B0604020202020204" pitchFamily="34" charset="0"/>
                <a:cs typeface="Arial" panose="020B0604020202020204" pitchFamily="34" charset="0"/>
              </a:rPr>
              <a:t> Managing heterogeneous data and models from different sources can be complex and may affect model performance.</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Limited Control:</a:t>
            </a:r>
            <a:r>
              <a:rPr lang="en-US" sz="2000" dirty="0">
                <a:latin typeface="Arial" panose="020B0604020202020204" pitchFamily="34" charset="0"/>
                <a:cs typeface="Arial" panose="020B0604020202020204" pitchFamily="34" charset="0"/>
              </a:rPr>
              <a:t> Reduces control over individual data, which may impact the ability to fine-tune and optimize models for specific use cases.</a:t>
            </a:r>
          </a:p>
        </p:txBody>
      </p:sp>
    </p:spTree>
    <p:extLst>
      <p:ext uri="{BB962C8B-B14F-4D97-AF65-F5344CB8AC3E}">
        <p14:creationId xmlns:p14="http://schemas.microsoft.com/office/powerpoint/2010/main" val="196955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3999" y="0"/>
            <a:ext cx="3666837"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Transfer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9"/>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Reduced Training Time:</a:t>
            </a:r>
            <a:r>
              <a:rPr lang="en-US" sz="2000" dirty="0">
                <a:latin typeface="Arial" panose="020B0604020202020204" pitchFamily="34" charset="0"/>
                <a:cs typeface="Arial" panose="020B0604020202020204" pitchFamily="34" charset="0"/>
              </a:rPr>
              <a:t> Leverages pre-trained models to reduce the amount of training data and time required to develop accurate models.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Enhanced Performance:</a:t>
            </a:r>
            <a:r>
              <a:rPr lang="en-US" sz="2000" dirty="0">
                <a:latin typeface="Arial" panose="020B0604020202020204" pitchFamily="34" charset="0"/>
                <a:cs typeface="Arial" panose="020B0604020202020204" pitchFamily="34" charset="0"/>
              </a:rPr>
              <a:t> Can improve performance by transferring knowledge from related tasks or domains.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Resource Efficiency:</a:t>
            </a:r>
            <a:r>
              <a:rPr lang="en-US" sz="2000" dirty="0">
                <a:latin typeface="Arial" panose="020B0604020202020204" pitchFamily="34" charset="0"/>
                <a:cs typeface="Arial" panose="020B0604020202020204" pitchFamily="34" charset="0"/>
              </a:rPr>
              <a:t> Minimizes the need for extensive computational resources and large datasets, making it accessible for smaller farms.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Domain Adaptation:</a:t>
            </a:r>
            <a:r>
              <a:rPr lang="en-US" sz="2000" dirty="0">
                <a:latin typeface="Arial" panose="020B0604020202020204" pitchFamily="34" charset="0"/>
                <a:cs typeface="Arial" panose="020B0604020202020204" pitchFamily="34" charset="0"/>
              </a:rPr>
              <a:t> May require significant adaptation to fit the specific context of crop health monitoring and anomaly detection.</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Mismatch:</a:t>
            </a:r>
            <a:r>
              <a:rPr lang="en-US" sz="2000" dirty="0">
                <a:latin typeface="Arial" panose="020B0604020202020204" pitchFamily="34" charset="0"/>
                <a:cs typeface="Arial" panose="020B0604020202020204" pitchFamily="34" charset="0"/>
              </a:rPr>
              <a:t> Differences between the source and target domains can impact the effectiveness of transfer learning.</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Limited Applicability:</a:t>
            </a:r>
            <a:r>
              <a:rPr lang="en-US" sz="2000" dirty="0">
                <a:latin typeface="Arial" panose="020B0604020202020204" pitchFamily="34" charset="0"/>
                <a:cs typeface="Arial" panose="020B0604020202020204" pitchFamily="34" charset="0"/>
              </a:rPr>
              <a:t> Not all pre-trained models may be suitable for agricultural applications, requiring careful selection and customization.</a:t>
            </a:r>
          </a:p>
        </p:txBody>
      </p:sp>
    </p:spTree>
    <p:extLst>
      <p:ext uri="{BB962C8B-B14F-4D97-AF65-F5344CB8AC3E}">
        <p14:creationId xmlns:p14="http://schemas.microsoft.com/office/powerpoint/2010/main" val="3114235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3999" y="0"/>
            <a:ext cx="3666837"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Generative AI</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498763" y="1133500"/>
            <a:ext cx="11194474" cy="45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Augmentation:</a:t>
            </a:r>
            <a:r>
              <a:rPr lang="en-US" sz="2000" dirty="0">
                <a:latin typeface="Arial" panose="020B0604020202020204" pitchFamily="34" charset="0"/>
                <a:cs typeface="Arial" panose="020B0604020202020204" pitchFamily="34" charset="0"/>
              </a:rPr>
              <a:t> Can generate synthetic data to augment training datasets, improving model robustness and performance.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Scenario Simulation:</a:t>
            </a:r>
            <a:r>
              <a:rPr lang="en-US" sz="2000" dirty="0">
                <a:latin typeface="Arial" panose="020B0604020202020204" pitchFamily="34" charset="0"/>
                <a:cs typeface="Arial" panose="020B0604020202020204" pitchFamily="34" charset="0"/>
              </a:rPr>
              <a:t> Allows for the simulation of various scenarios and conditions, aiding in the development of robust models.</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Innovative Solutions:</a:t>
            </a:r>
            <a:r>
              <a:rPr lang="en-US" sz="2000" dirty="0">
                <a:latin typeface="Arial" panose="020B0604020202020204" pitchFamily="34" charset="0"/>
                <a:cs typeface="Arial" panose="020B0604020202020204" pitchFamily="34" charset="0"/>
              </a:rPr>
              <a:t> Enables the exploration of innovative solutions and techniques for anomaly detection and flight path planning.</a:t>
            </a:r>
          </a:p>
          <a:p>
            <a:pPr marL="0" indent="0" algn="just">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Complexity:</a:t>
            </a:r>
            <a:r>
              <a:rPr lang="en-US" sz="2000" dirty="0">
                <a:latin typeface="Arial" panose="020B0604020202020204" pitchFamily="34" charset="0"/>
                <a:cs typeface="Arial" panose="020B0604020202020204" pitchFamily="34" charset="0"/>
              </a:rPr>
              <a:t> Developing and training generative models can be complex and resource-intensive.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Quality Control:</a:t>
            </a:r>
            <a:r>
              <a:rPr lang="en-US" sz="2000" dirty="0">
                <a:latin typeface="Arial" panose="020B0604020202020204" pitchFamily="34" charset="0"/>
                <a:cs typeface="Arial" panose="020B0604020202020204" pitchFamily="34" charset="0"/>
              </a:rPr>
              <a:t> Ensuring the quality and realism of generated data can be challenging, impacting model performance.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Ethical Considerations:</a:t>
            </a:r>
            <a:r>
              <a:rPr lang="en-US" sz="2000" dirty="0">
                <a:latin typeface="Arial" panose="020B0604020202020204" pitchFamily="34" charset="0"/>
                <a:cs typeface="Arial" panose="020B0604020202020204" pitchFamily="34" charset="0"/>
              </a:rPr>
              <a:t> Raises ethical concerns around data generation and potential misuse.</a:t>
            </a:r>
          </a:p>
        </p:txBody>
      </p:sp>
    </p:spTree>
    <p:extLst>
      <p:ext uri="{BB962C8B-B14F-4D97-AF65-F5344CB8AC3E}">
        <p14:creationId xmlns:p14="http://schemas.microsoft.com/office/powerpoint/2010/main" val="3529486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144654" y="0"/>
            <a:ext cx="2032001"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Agent AI</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498763" y="1133500"/>
            <a:ext cx="11194474" cy="45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Autonomous Decision-Making:</a:t>
            </a:r>
            <a:r>
              <a:rPr lang="en-US" sz="2000" dirty="0">
                <a:latin typeface="Arial" panose="020B0604020202020204" pitchFamily="34" charset="0"/>
                <a:cs typeface="Arial" panose="020B0604020202020204" pitchFamily="34" charset="0"/>
              </a:rPr>
              <a:t> Enables the development of autonomous agents that can make real-time decisions, reducing the need for human intervention.</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Scalability:</a:t>
            </a:r>
            <a:r>
              <a:rPr lang="en-US" sz="2000" dirty="0">
                <a:latin typeface="Arial" panose="020B0604020202020204" pitchFamily="34" charset="0"/>
                <a:cs typeface="Arial" panose="020B0604020202020204" pitchFamily="34" charset="0"/>
              </a:rPr>
              <a:t> Can scale across large agricultural fields, managing multiple tasks simultaneously.</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Adaptability:</a:t>
            </a:r>
            <a:r>
              <a:rPr lang="en-US" sz="2000" dirty="0">
                <a:latin typeface="Arial" panose="020B0604020202020204" pitchFamily="34" charset="0"/>
                <a:cs typeface="Arial" panose="020B0604020202020204" pitchFamily="34" charset="0"/>
              </a:rPr>
              <a:t> Agents can adapt to changing conditions and continuously learn from their environment.</a:t>
            </a:r>
          </a:p>
          <a:p>
            <a:pPr marL="0" indent="0" algn="just">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Complex Development:</a:t>
            </a:r>
            <a:r>
              <a:rPr lang="en-US" sz="2000" dirty="0">
                <a:latin typeface="Arial" panose="020B0604020202020204" pitchFamily="34" charset="0"/>
                <a:cs typeface="Arial" panose="020B0604020202020204" pitchFamily="34" charset="0"/>
              </a:rPr>
              <a:t> Developing intelligent agents requires advanced knowledge and resources, which may not be readily available.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Integration Challenges:</a:t>
            </a:r>
            <a:r>
              <a:rPr lang="en-US" sz="2000" dirty="0">
                <a:latin typeface="Arial" panose="020B0604020202020204" pitchFamily="34" charset="0"/>
                <a:cs typeface="Arial" panose="020B0604020202020204" pitchFamily="34" charset="0"/>
              </a:rPr>
              <a:t> Integrating agent AI with existing systems and processes can be challenging.</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Maintenance:</a:t>
            </a:r>
            <a:r>
              <a:rPr lang="en-US" sz="2000" dirty="0">
                <a:latin typeface="Arial" panose="020B0604020202020204" pitchFamily="34" charset="0"/>
                <a:cs typeface="Arial" panose="020B0604020202020204" pitchFamily="34" charset="0"/>
              </a:rPr>
              <a:t> Requires ongoing maintenance and updates to ensure optimal performance and adaptability.</a:t>
            </a:r>
          </a:p>
        </p:txBody>
      </p:sp>
    </p:spTree>
    <p:extLst>
      <p:ext uri="{BB962C8B-B14F-4D97-AF65-F5344CB8AC3E}">
        <p14:creationId xmlns:p14="http://schemas.microsoft.com/office/powerpoint/2010/main" val="535556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135745" y="332509"/>
            <a:ext cx="5163128"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Types of Machine Learning</a:t>
            </a:r>
          </a:p>
        </p:txBody>
      </p:sp>
      <p:sp>
        <p:nvSpPr>
          <p:cNvPr id="4" name="Rectangle 1">
            <a:extLst>
              <a:ext uri="{FF2B5EF4-FFF2-40B4-BE49-F238E27FC236}">
                <a16:creationId xmlns:a16="http://schemas.microsoft.com/office/drawing/2014/main" id="{0B78F3F3-B971-9204-C1DB-8C29755738F9}"/>
              </a:ext>
            </a:extLst>
          </p:cNvPr>
          <p:cNvSpPr>
            <a:spLocks noGrp="1" noChangeArrowheads="1"/>
          </p:cNvSpPr>
          <p:nvPr>
            <p:ph idx="1"/>
          </p:nvPr>
        </p:nvSpPr>
        <p:spPr bwMode="auto">
          <a:xfrm>
            <a:off x="1311562" y="1899586"/>
            <a:ext cx="4682837" cy="2028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Supervised Learning</a:t>
            </a: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Unsupervised Learning</a:t>
            </a: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Reinforcement Learning</a:t>
            </a: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Deep Learning</a:t>
            </a:r>
          </a:p>
        </p:txBody>
      </p:sp>
    </p:spTree>
    <p:extLst>
      <p:ext uri="{BB962C8B-B14F-4D97-AF65-F5344CB8AC3E}">
        <p14:creationId xmlns:p14="http://schemas.microsoft.com/office/powerpoint/2010/main" val="2130017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185845" y="211324"/>
            <a:ext cx="5435600"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Computer Vision Algorithms</a:t>
            </a:r>
          </a:p>
        </p:txBody>
      </p:sp>
      <p:sp>
        <p:nvSpPr>
          <p:cNvPr id="4" name="Rectangle 1">
            <a:extLst>
              <a:ext uri="{FF2B5EF4-FFF2-40B4-BE49-F238E27FC236}">
                <a16:creationId xmlns:a16="http://schemas.microsoft.com/office/drawing/2014/main" id="{0B78F3F3-B971-9204-C1DB-8C29755738F9}"/>
              </a:ext>
            </a:extLst>
          </p:cNvPr>
          <p:cNvSpPr>
            <a:spLocks noGrp="1" noChangeArrowheads="1"/>
          </p:cNvSpPr>
          <p:nvPr>
            <p:ph idx="1"/>
          </p:nvPr>
        </p:nvSpPr>
        <p:spPr bwMode="auto">
          <a:xfrm>
            <a:off x="358816" y="1030147"/>
            <a:ext cx="11089658" cy="5079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 Convolutional Neural Networks (CNNs) (1980) </a:t>
            </a:r>
          </a:p>
          <a:p>
            <a:pPr marL="0" indent="0">
              <a:buNone/>
            </a:pPr>
            <a:r>
              <a:rPr lang="en-IN" sz="2400" dirty="0">
                <a:latin typeface="Arial" panose="020B0604020202020204" pitchFamily="34" charset="0"/>
                <a:cs typeface="Arial" panose="020B0604020202020204" pitchFamily="34" charset="0"/>
              </a:rPr>
              <a:t> 	Application: Image recognition, classification </a:t>
            </a:r>
          </a:p>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Region-Based Convolutional Neural Networks (R-CNNs) (2014)</a:t>
            </a:r>
          </a:p>
          <a:p>
            <a:pPr marL="0" indent="0">
              <a:buNone/>
            </a:pPr>
            <a:r>
              <a:rPr lang="en-IN" sz="2400" dirty="0">
                <a:latin typeface="Arial" panose="020B0604020202020204" pitchFamily="34" charset="0"/>
                <a:cs typeface="Arial" panose="020B0604020202020204" pitchFamily="34" charset="0"/>
              </a:rPr>
              <a:t>	Application: Object detection </a:t>
            </a:r>
          </a:p>
          <a:p>
            <a:pPr>
              <a:buFont typeface="Wingdings" panose="05000000000000000000" pitchFamily="2" charset="2"/>
              <a:buChar char="Ø"/>
            </a:pPr>
            <a:r>
              <a:rPr lang="en-US" sz="2400" b="1" dirty="0">
                <a:latin typeface="Arial" panose="020B0604020202020204" pitchFamily="34" charset="0"/>
                <a:cs typeface="Arial" panose="020B0604020202020204" pitchFamily="34" charset="0"/>
              </a:rPr>
              <a:t>YOLO (You Only Look Once) (2016)</a:t>
            </a:r>
          </a:p>
          <a:p>
            <a:pPr marL="0" indent="0">
              <a:buNone/>
            </a:pPr>
            <a:r>
              <a:rPr lang="en-IN" sz="2400" dirty="0">
                <a:latin typeface="Arial" panose="020B0604020202020204" pitchFamily="34" charset="0"/>
                <a:cs typeface="Arial" panose="020B0604020202020204" pitchFamily="34" charset="0"/>
              </a:rPr>
              <a:t>	 Application: Real-time object detection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SSD (Single Shot Detector) (1991)</a:t>
            </a:r>
          </a:p>
          <a:p>
            <a:pPr marL="0" indent="0">
              <a:buNone/>
            </a:pPr>
            <a:r>
              <a:rPr lang="en-IN" sz="2400" dirty="0">
                <a:latin typeface="Arial" panose="020B0604020202020204" pitchFamily="34" charset="0"/>
                <a:cs typeface="Arial" panose="020B0604020202020204" pitchFamily="34" charset="0"/>
              </a:rPr>
              <a:t>	 Application: Real-time object detection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Mask R-CNN (2017)</a:t>
            </a:r>
          </a:p>
          <a:p>
            <a:pPr marL="0" indent="0">
              <a:buNone/>
            </a:pPr>
            <a:r>
              <a:rPr lang="en-IN" sz="2400" dirty="0">
                <a:latin typeface="Arial" panose="020B0604020202020204" pitchFamily="34" charset="0"/>
                <a:cs typeface="Arial" panose="020B0604020202020204" pitchFamily="34" charset="0"/>
              </a:rPr>
              <a:t>	 Application: Object instance segmentation </a:t>
            </a:r>
          </a:p>
          <a:p>
            <a:pPr algn="just">
              <a:buFont typeface="Wingdings" panose="05000000000000000000" pitchFamily="2" charset="2"/>
              <a:buChar char="Ø"/>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1973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066296" y="240078"/>
            <a:ext cx="5435600"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Computer Vision Algorithms</a:t>
            </a:r>
          </a:p>
        </p:txBody>
      </p:sp>
      <p:sp>
        <p:nvSpPr>
          <p:cNvPr id="4" name="Rectangle 1">
            <a:extLst>
              <a:ext uri="{FF2B5EF4-FFF2-40B4-BE49-F238E27FC236}">
                <a16:creationId xmlns:a16="http://schemas.microsoft.com/office/drawing/2014/main" id="{0B78F3F3-B971-9204-C1DB-8C29755738F9}"/>
              </a:ext>
            </a:extLst>
          </p:cNvPr>
          <p:cNvSpPr>
            <a:spLocks noGrp="1" noChangeArrowheads="1"/>
          </p:cNvSpPr>
          <p:nvPr>
            <p:ph idx="1"/>
          </p:nvPr>
        </p:nvSpPr>
        <p:spPr bwMode="auto">
          <a:xfrm>
            <a:off x="439838" y="1228617"/>
            <a:ext cx="11470511"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Generative Adversarial Networks (GANs) (2014)</a:t>
            </a:r>
          </a:p>
          <a:p>
            <a:pPr marL="0" indent="0">
              <a:buNone/>
            </a:pPr>
            <a:r>
              <a:rPr lang="en-IN" sz="2400" dirty="0">
                <a:latin typeface="Arial" panose="020B0604020202020204" pitchFamily="34" charset="0"/>
                <a:cs typeface="Arial" panose="020B0604020202020204" pitchFamily="34" charset="0"/>
              </a:rPr>
              <a:t>	 Application: Image generation, style transfer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Optical Character Recognition (OCR) (1993)</a:t>
            </a:r>
          </a:p>
          <a:p>
            <a:pPr marL="0" indent="0">
              <a:buNone/>
            </a:pPr>
            <a:r>
              <a:rPr lang="en-US" sz="2400" dirty="0">
                <a:latin typeface="Arial" panose="020B0604020202020204" pitchFamily="34" charset="0"/>
                <a:cs typeface="Arial" panose="020B0604020202020204" pitchFamily="34" charset="0"/>
              </a:rPr>
              <a:t>	Application: Text detection and recognition </a:t>
            </a:r>
            <a:endParaRPr lang="en-IN" sz="24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SIFT (Scale-Invariant Feature Transform) (1999)</a:t>
            </a:r>
          </a:p>
          <a:p>
            <a:pPr marL="0" indent="0">
              <a:buNone/>
            </a:pPr>
            <a:r>
              <a:rPr lang="en-US" sz="2400" dirty="0">
                <a:latin typeface="Arial" panose="020B0604020202020204" pitchFamily="34" charset="0"/>
                <a:cs typeface="Arial" panose="020B0604020202020204" pitchFamily="34" charset="0"/>
              </a:rPr>
              <a:t> 	Application: Image matching and object recognition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Eigenfaces and </a:t>
            </a:r>
            <a:r>
              <a:rPr lang="en-IN" sz="2400" b="1" dirty="0" err="1">
                <a:latin typeface="Arial" panose="020B0604020202020204" pitchFamily="34" charset="0"/>
                <a:cs typeface="Arial" panose="020B0604020202020204" pitchFamily="34" charset="0"/>
              </a:rPr>
              <a:t>Fisherfaces</a:t>
            </a:r>
            <a:r>
              <a:rPr lang="en-IN" sz="2400" b="1" dirty="0">
                <a:latin typeface="Arial" panose="020B0604020202020204" pitchFamily="34" charset="0"/>
                <a:cs typeface="Arial" panose="020B0604020202020204" pitchFamily="34" charset="0"/>
              </a:rPr>
              <a:t> </a:t>
            </a:r>
          </a:p>
          <a:p>
            <a:pPr marL="0" indent="0">
              <a:buNone/>
            </a:pPr>
            <a:r>
              <a:rPr lang="en-IN" sz="2400" dirty="0">
                <a:latin typeface="Arial" panose="020B0604020202020204" pitchFamily="34" charset="0"/>
                <a:cs typeface="Arial" panose="020B0604020202020204" pitchFamily="34" charset="0"/>
              </a:rPr>
              <a:t>	Application: Face recognition </a:t>
            </a:r>
          </a:p>
          <a:p>
            <a:pPr>
              <a:buFont typeface="Wingdings" panose="05000000000000000000" pitchFamily="2" charset="2"/>
              <a:buChar char="Ø"/>
            </a:pPr>
            <a:r>
              <a:rPr lang="en-IN" sz="2400" b="1" dirty="0" err="1">
                <a:latin typeface="Arial" panose="020B0604020202020204" pitchFamily="34" charset="0"/>
                <a:cs typeface="Arial" panose="020B0604020202020204" pitchFamily="34" charset="0"/>
              </a:rPr>
              <a:t>DeepFace</a:t>
            </a:r>
            <a:r>
              <a:rPr lang="en-IN" sz="2400" b="1" dirty="0">
                <a:latin typeface="Arial" panose="020B0604020202020204" pitchFamily="34" charset="0"/>
                <a:cs typeface="Arial" panose="020B0604020202020204" pitchFamily="34" charset="0"/>
              </a:rPr>
              <a:t> (2015)</a:t>
            </a:r>
          </a:p>
          <a:p>
            <a:pPr marL="0" indent="0">
              <a:buNone/>
            </a:pPr>
            <a:r>
              <a:rPr lang="en-IN" sz="2400" dirty="0">
                <a:latin typeface="Arial" panose="020B0604020202020204" pitchFamily="34" charset="0"/>
                <a:cs typeface="Arial" panose="020B0604020202020204" pitchFamily="34" charset="0"/>
              </a:rPr>
              <a:t>	Application: Face verification and recognition </a:t>
            </a:r>
          </a:p>
        </p:txBody>
      </p:sp>
    </p:spTree>
    <p:extLst>
      <p:ext uri="{BB962C8B-B14F-4D97-AF65-F5344CB8AC3E}">
        <p14:creationId xmlns:p14="http://schemas.microsoft.com/office/powerpoint/2010/main" val="563546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42142" y="224886"/>
            <a:ext cx="4296076"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Analytical Questions</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1227624"/>
            <a:ext cx="11510962" cy="4165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Easy:</a:t>
            </a:r>
          </a:p>
          <a:p>
            <a:pPr>
              <a:buFont typeface="+mj-lt"/>
              <a:buAutoNum type="arabicPeriod"/>
            </a:pPr>
            <a:r>
              <a:rPr lang="en-US" sz="2000" dirty="0">
                <a:latin typeface="Arial" panose="020B0604020202020204" pitchFamily="34" charset="0"/>
                <a:cs typeface="Arial" panose="020B0604020202020204" pitchFamily="34" charset="0"/>
              </a:rPr>
              <a:t>How often do the ML algorithm's anomaly detections need to be validated by manual checks?</a:t>
            </a:r>
          </a:p>
          <a:p>
            <a:pPr>
              <a:buFont typeface="+mj-lt"/>
              <a:buAutoNum type="arabicPeriod"/>
            </a:pPr>
            <a:r>
              <a:rPr lang="en-US" sz="2000" dirty="0">
                <a:latin typeface="Arial" panose="020B0604020202020204" pitchFamily="34" charset="0"/>
                <a:cs typeface="Arial" panose="020B0604020202020204" pitchFamily="34" charset="0"/>
              </a:rPr>
              <a:t>What types of crop health anomalies can the drone's spraying system address effectively?</a:t>
            </a:r>
          </a:p>
          <a:p>
            <a:pPr marL="0" indent="0">
              <a:buNone/>
            </a:pPr>
            <a:r>
              <a:rPr lang="en-US" sz="2000" b="1" dirty="0">
                <a:latin typeface="Arial" panose="020B0604020202020204" pitchFamily="34" charset="0"/>
                <a:cs typeface="Arial" panose="020B0604020202020204" pitchFamily="34" charset="0"/>
              </a:rPr>
              <a:t>Medium:</a:t>
            </a:r>
          </a:p>
          <a:p>
            <a:pPr>
              <a:buFont typeface="+mj-lt"/>
              <a:buAutoNum type="arabicPeriod" startAt="3"/>
            </a:pPr>
            <a:r>
              <a:rPr lang="en-US" sz="2000" dirty="0">
                <a:latin typeface="Arial" panose="020B0604020202020204" pitchFamily="34" charset="0"/>
                <a:cs typeface="Arial" panose="020B0604020202020204" pitchFamily="34" charset="0"/>
              </a:rPr>
              <a:t>How does the accuracy of anomaly detection vary with different sensor types or data inputs?</a:t>
            </a:r>
          </a:p>
          <a:p>
            <a:pPr>
              <a:buFont typeface="+mj-lt"/>
              <a:buAutoNum type="arabicPeriod" startAt="3"/>
            </a:pPr>
            <a:r>
              <a:rPr lang="en-US" sz="2000" dirty="0">
                <a:latin typeface="Arial" panose="020B0604020202020204" pitchFamily="34" charset="0"/>
                <a:cs typeface="Arial" panose="020B0604020202020204" pitchFamily="34" charset="0"/>
              </a:rPr>
              <a:t>What is the effect of different spray dosage levels on crop health outcomes?</a:t>
            </a:r>
          </a:p>
          <a:p>
            <a:pPr marL="0" indent="0">
              <a:buNone/>
            </a:pPr>
            <a:r>
              <a:rPr lang="en-US" sz="2000" b="1" dirty="0">
                <a:latin typeface="Arial" panose="020B0604020202020204" pitchFamily="34" charset="0"/>
                <a:cs typeface="Arial" panose="020B0604020202020204" pitchFamily="34" charset="0"/>
              </a:rPr>
              <a:t>Hard:</a:t>
            </a:r>
          </a:p>
          <a:p>
            <a:pPr>
              <a:buFont typeface="+mj-lt"/>
              <a:buAutoNum type="arabicPeriod" startAt="5"/>
            </a:pPr>
            <a:r>
              <a:rPr lang="en-US" sz="2000" dirty="0">
                <a:latin typeface="Arial" panose="020B0604020202020204" pitchFamily="34" charset="0"/>
                <a:cs typeface="Arial" panose="020B0604020202020204" pitchFamily="34" charset="0"/>
              </a:rPr>
              <a:t>How can the ML algorithm be optimized to improve anomaly detection in varying environmental conditions (different weather, lighting)?</a:t>
            </a:r>
          </a:p>
          <a:p>
            <a:pPr>
              <a:buFont typeface="+mj-lt"/>
              <a:buAutoNum type="arabicPeriod" startAt="5"/>
            </a:pPr>
            <a:r>
              <a:rPr lang="en-US" sz="2000" dirty="0">
                <a:latin typeface="Arial" panose="020B0604020202020204" pitchFamily="34" charset="0"/>
                <a:cs typeface="Arial" panose="020B0604020202020204" pitchFamily="34" charset="0"/>
              </a:rPr>
              <a:t>What are the trade-offs between system complexity and accuracy in the automated flight path generation for the drone?</a:t>
            </a:r>
          </a:p>
        </p:txBody>
      </p:sp>
    </p:spTree>
    <p:extLst>
      <p:ext uri="{BB962C8B-B14F-4D97-AF65-F5344CB8AC3E}">
        <p14:creationId xmlns:p14="http://schemas.microsoft.com/office/powerpoint/2010/main" val="1157173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40519" y="224886"/>
            <a:ext cx="4296076"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Prediction Questions</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893902"/>
            <a:ext cx="11510962" cy="499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Easy:</a:t>
            </a:r>
          </a:p>
          <a:p>
            <a:pPr>
              <a:buFont typeface="+mj-lt"/>
              <a:buAutoNum type="arabicPeriod"/>
            </a:pPr>
            <a:r>
              <a:rPr lang="en-US" sz="2000" dirty="0">
                <a:latin typeface="Arial" panose="020B0604020202020204" pitchFamily="34" charset="0"/>
                <a:cs typeface="Arial" panose="020B0604020202020204" pitchFamily="34" charset="0"/>
              </a:rPr>
              <a:t>What is the predicted improvement in anomaly detection accuracy with the use of the ML algorithm compared to manual inspection?</a:t>
            </a:r>
          </a:p>
          <a:p>
            <a:pPr>
              <a:buFont typeface="+mj-lt"/>
              <a:buAutoNum type="arabicPeriod"/>
            </a:pPr>
            <a:r>
              <a:rPr lang="en-US" sz="2000" dirty="0">
                <a:latin typeface="Arial" panose="020B0604020202020204" pitchFamily="34" charset="0"/>
                <a:cs typeface="Arial" panose="020B0604020202020204" pitchFamily="34" charset="0"/>
              </a:rPr>
              <a:t>How likely is the drone’s automated spraying system to reduce pesticide usage compared to traditional methods?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Medium:</a:t>
            </a:r>
          </a:p>
          <a:p>
            <a:pPr>
              <a:buFont typeface="+mj-lt"/>
              <a:buAutoNum type="arabicPeriod" startAt="3"/>
            </a:pPr>
            <a:r>
              <a:rPr lang="en-US" sz="2000" dirty="0">
                <a:latin typeface="Arial" panose="020B0604020202020204" pitchFamily="34" charset="0"/>
                <a:cs typeface="Arial" panose="020B0604020202020204" pitchFamily="34" charset="0"/>
              </a:rPr>
              <a:t>How might changes in sensor data quality affect the accuracy of anomaly detection predictions?</a:t>
            </a:r>
          </a:p>
          <a:p>
            <a:pPr>
              <a:buFont typeface="+mj-lt"/>
              <a:buAutoNum type="arabicPeriod" startAt="3"/>
            </a:pPr>
            <a:r>
              <a:rPr lang="en-US" sz="2000" dirty="0">
                <a:latin typeface="Arial" panose="020B0604020202020204" pitchFamily="34" charset="0"/>
                <a:cs typeface="Arial" panose="020B0604020202020204" pitchFamily="34" charset="0"/>
              </a:rPr>
              <a:t>What are the expected changes in crop yield when using the ML-driven automated system compared to conventional methods?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Hard:</a:t>
            </a:r>
          </a:p>
          <a:p>
            <a:pPr>
              <a:buFont typeface="+mj-lt"/>
              <a:buAutoNum type="arabicPeriod" startAt="5"/>
            </a:pPr>
            <a:r>
              <a:rPr lang="en-US" sz="2000" dirty="0">
                <a:latin typeface="Arial" panose="020B0604020202020204" pitchFamily="34" charset="0"/>
                <a:cs typeface="Arial" panose="020B0604020202020204" pitchFamily="34" charset="0"/>
              </a:rPr>
              <a:t>How will variations in environmental factors (e.g., weather conditions, crop types) impact the predictive performance of the ML algorithm for anomaly detection?</a:t>
            </a:r>
          </a:p>
          <a:p>
            <a:pPr>
              <a:buFont typeface="+mj-lt"/>
              <a:buAutoNum type="arabicPeriod" startAt="5"/>
            </a:pPr>
            <a:r>
              <a:rPr lang="en-US" sz="2000" dirty="0">
                <a:latin typeface="Arial" panose="020B0604020202020204" pitchFamily="34" charset="0"/>
                <a:cs typeface="Arial" panose="020B0604020202020204" pitchFamily="34" charset="0"/>
              </a:rPr>
              <a:t>What are the long-term predictions for cost savings and environmental benefits with widespread adoption of this ML and drone system in agriculture?</a:t>
            </a:r>
          </a:p>
        </p:txBody>
      </p:sp>
    </p:spTree>
    <p:extLst>
      <p:ext uri="{BB962C8B-B14F-4D97-AF65-F5344CB8AC3E}">
        <p14:creationId xmlns:p14="http://schemas.microsoft.com/office/powerpoint/2010/main" val="3032102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40519" y="224886"/>
            <a:ext cx="10678464" cy="669016"/>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Difference between Image Processing  and Computer Vision</a:t>
            </a:r>
          </a:p>
        </p:txBody>
      </p:sp>
      <p:graphicFrame>
        <p:nvGraphicFramePr>
          <p:cNvPr id="3" name="Table 2">
            <a:extLst>
              <a:ext uri="{FF2B5EF4-FFF2-40B4-BE49-F238E27FC236}">
                <a16:creationId xmlns:a16="http://schemas.microsoft.com/office/drawing/2014/main" id="{9E2C45CC-5F73-9E1C-5F78-668E7B4711BE}"/>
              </a:ext>
            </a:extLst>
          </p:cNvPr>
          <p:cNvGraphicFramePr>
            <a:graphicFrameLocks noGrp="1"/>
          </p:cNvGraphicFramePr>
          <p:nvPr>
            <p:extLst>
              <p:ext uri="{D42A27DB-BD31-4B8C-83A1-F6EECF244321}">
                <p14:modId xmlns:p14="http://schemas.microsoft.com/office/powerpoint/2010/main" val="2925414035"/>
              </p:ext>
            </p:extLst>
          </p:nvPr>
        </p:nvGraphicFramePr>
        <p:xfrm>
          <a:off x="392545" y="893902"/>
          <a:ext cx="11406909" cy="4693920"/>
        </p:xfrm>
        <a:graphic>
          <a:graphicData uri="http://schemas.openxmlformats.org/drawingml/2006/table">
            <a:tbl>
              <a:tblPr firstRow="1" bandRow="1">
                <a:tableStyleId>{2D5ABB26-0587-4C30-8999-92F81FD0307C}</a:tableStyleId>
              </a:tblPr>
              <a:tblGrid>
                <a:gridCol w="2208717">
                  <a:extLst>
                    <a:ext uri="{9D8B030D-6E8A-4147-A177-3AD203B41FA5}">
                      <a16:colId xmlns:a16="http://schemas.microsoft.com/office/drawing/2014/main" val="1562765916"/>
                    </a:ext>
                  </a:extLst>
                </a:gridCol>
                <a:gridCol w="4793673">
                  <a:extLst>
                    <a:ext uri="{9D8B030D-6E8A-4147-A177-3AD203B41FA5}">
                      <a16:colId xmlns:a16="http://schemas.microsoft.com/office/drawing/2014/main" val="2172129066"/>
                    </a:ext>
                  </a:extLst>
                </a:gridCol>
                <a:gridCol w="4404519">
                  <a:extLst>
                    <a:ext uri="{9D8B030D-6E8A-4147-A177-3AD203B41FA5}">
                      <a16:colId xmlns:a16="http://schemas.microsoft.com/office/drawing/2014/main" val="4113228701"/>
                    </a:ext>
                  </a:extLst>
                </a:gridCol>
              </a:tblGrid>
              <a:tr h="201353">
                <a:tc>
                  <a:txBody>
                    <a:bodyPr/>
                    <a:lstStyle/>
                    <a:p>
                      <a:pPr algn="ctr" fontAlgn="base"/>
                      <a:br>
                        <a:rPr lang="en-IN" sz="2000" b="1" dirty="0">
                          <a:solidFill>
                            <a:srgbClr val="000000"/>
                          </a:solidFill>
                          <a:effectLst/>
                          <a:latin typeface="Arial" panose="020B0604020202020204" pitchFamily="34" charset="0"/>
                          <a:cs typeface="Arial" panose="020B0604020202020204" pitchFamily="34" charset="0"/>
                        </a:rPr>
                      </a:b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114D"/>
                    </a:solidFill>
                  </a:tcPr>
                </a:tc>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Computer Vision</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114D"/>
                    </a:solidFill>
                  </a:tcPr>
                </a:tc>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Image Processing</a:t>
                      </a:r>
                      <a:endParaRPr lang="en-IN" sz="2000" dirty="0">
                        <a:solidFill>
                          <a:srgbClr val="000000"/>
                        </a:solidFill>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114D"/>
                    </a:solidFill>
                  </a:tcPr>
                </a:tc>
                <a:extLst>
                  <a:ext uri="{0D108BD9-81ED-4DB2-BD59-A6C34878D82A}">
                    <a16:rowId xmlns:a16="http://schemas.microsoft.com/office/drawing/2014/main" val="545125566"/>
                  </a:ext>
                </a:extLst>
              </a:tr>
              <a:tr h="370840">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Goals</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Extracting insights from images and videos.</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a:solidFill>
                            <a:srgbClr val="000000"/>
                          </a:solidFill>
                          <a:effectLst/>
                          <a:latin typeface="Arial" panose="020B0604020202020204" pitchFamily="34" charset="0"/>
                          <a:cs typeface="Arial" panose="020B0604020202020204" pitchFamily="34" charset="0"/>
                        </a:rPr>
                        <a:t>Manipulating visual aspects of images.</a:t>
                      </a:r>
                      <a:endParaRPr lang="en-US"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619621"/>
                  </a:ext>
                </a:extLst>
              </a:tr>
              <a:tr h="370840">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Input/Output</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Input can be both image and video. Output can be an interpretation, which is often non-visual.</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a:solidFill>
                            <a:srgbClr val="000000"/>
                          </a:solidFill>
                          <a:effectLst/>
                          <a:latin typeface="Arial" panose="020B0604020202020204" pitchFamily="34" charset="0"/>
                          <a:cs typeface="Arial" panose="020B0604020202020204" pitchFamily="34" charset="0"/>
                        </a:rPr>
                        <a:t>Input and output are both images.</a:t>
                      </a:r>
                      <a:endParaRPr lang="en-US"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5148931"/>
                  </a:ext>
                </a:extLst>
              </a:tr>
              <a:tr h="370840">
                <a:tc>
                  <a:txBody>
                    <a:bodyPr/>
                    <a:lstStyle/>
                    <a:p>
                      <a:pPr algn="ctr" fontAlgn="base"/>
                      <a:r>
                        <a:rPr lang="en-IN" sz="2000" b="1">
                          <a:solidFill>
                            <a:srgbClr val="000000"/>
                          </a:solidFill>
                          <a:effectLst/>
                          <a:latin typeface="Arial" panose="020B0604020202020204" pitchFamily="34" charset="0"/>
                          <a:cs typeface="Arial" panose="020B0604020202020204" pitchFamily="34" charset="0"/>
                        </a:rPr>
                        <a:t>Scope</a:t>
                      </a:r>
                      <a:endParaRPr lang="en-IN" sz="200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dirty="0">
                          <a:solidFill>
                            <a:srgbClr val="000000"/>
                          </a:solidFill>
                          <a:effectLst/>
                          <a:latin typeface="Arial" panose="020B0604020202020204" pitchFamily="34" charset="0"/>
                          <a:cs typeface="Arial" panose="020B0604020202020204" pitchFamily="34" charset="0"/>
                        </a:rPr>
                        <a:t>More comprehensive.</a:t>
                      </a:r>
                      <a:endParaRPr lang="en-IN"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Low-level operations that affect pixels within an image.</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6836283"/>
                  </a:ext>
                </a:extLst>
              </a:tr>
              <a:tr h="370840">
                <a:tc>
                  <a:txBody>
                    <a:bodyPr/>
                    <a:lstStyle/>
                    <a:p>
                      <a:pPr algn="ctr" fontAlgn="base"/>
                      <a:r>
                        <a:rPr lang="en-IN" sz="2000" b="1">
                          <a:solidFill>
                            <a:srgbClr val="000000"/>
                          </a:solidFill>
                          <a:effectLst/>
                          <a:latin typeface="Arial" panose="020B0604020202020204" pitchFamily="34" charset="0"/>
                          <a:cs typeface="Arial" panose="020B0604020202020204" pitchFamily="34" charset="0"/>
                        </a:rPr>
                        <a:t>Methods</a:t>
                      </a:r>
                      <a:endParaRPr lang="en-IN" sz="200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a:solidFill>
                            <a:srgbClr val="000000"/>
                          </a:solidFill>
                          <a:effectLst/>
                          <a:latin typeface="Arial" panose="020B0604020202020204" pitchFamily="34" charset="0"/>
                          <a:cs typeface="Arial" panose="020B0604020202020204" pitchFamily="34" charset="0"/>
                        </a:rPr>
                        <a:t>Complex algorithms and techniques.</a:t>
                      </a:r>
                      <a:endParaRPr lang="en-IN"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dirty="0">
                          <a:solidFill>
                            <a:srgbClr val="000000"/>
                          </a:solidFill>
                          <a:effectLst/>
                          <a:latin typeface="Arial" panose="020B0604020202020204" pitchFamily="34" charset="0"/>
                          <a:cs typeface="Arial" panose="020B0604020202020204" pitchFamily="34" charset="0"/>
                        </a:rPr>
                        <a:t>More straightforward operations.</a:t>
                      </a:r>
                      <a:endParaRPr lang="en-IN"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0455389"/>
                  </a:ext>
                </a:extLst>
              </a:tr>
              <a:tr h="370840">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Common Applications</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a:solidFill>
                            <a:srgbClr val="000000"/>
                          </a:solidFill>
                          <a:effectLst/>
                          <a:latin typeface="Arial" panose="020B0604020202020204" pitchFamily="34" charset="0"/>
                          <a:cs typeface="Arial" panose="020B0604020202020204" pitchFamily="34" charset="0"/>
                        </a:rPr>
                        <a:t>Autonomous vehicles, robotics, augmented reality, etc.</a:t>
                      </a:r>
                      <a:endParaRPr lang="en-IN"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Image editing software (like Photoshop), medical imaging enhancements, etc.</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5410304"/>
                  </a:ext>
                </a:extLst>
              </a:tr>
            </a:tbl>
          </a:graphicData>
        </a:graphic>
      </p:graphicFrame>
    </p:spTree>
    <p:extLst>
      <p:ext uri="{BB962C8B-B14F-4D97-AF65-F5344CB8AC3E}">
        <p14:creationId xmlns:p14="http://schemas.microsoft.com/office/powerpoint/2010/main" val="2421893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555386" y="0"/>
            <a:ext cx="5081227" cy="669016"/>
          </a:xfrm>
        </p:spPr>
        <p:txBody>
          <a:bodyPr>
            <a:normAutofit fontScale="90000"/>
          </a:bodyPr>
          <a:lstStyle/>
          <a:p>
            <a:pPr algn="ctr"/>
            <a:r>
              <a:rPr lang="en-US" sz="3600" b="1" dirty="0">
                <a:solidFill>
                  <a:srgbClr val="CC0066"/>
                </a:solidFill>
                <a:latin typeface="Times New Roman" panose="02020603050405020304" pitchFamily="18" charset="0"/>
                <a:cs typeface="Times New Roman" panose="02020603050405020304" pitchFamily="18" charset="0"/>
              </a:rPr>
              <a:t>Deep Learning Architecture</a:t>
            </a:r>
          </a:p>
        </p:txBody>
      </p:sp>
      <p:sp>
        <p:nvSpPr>
          <p:cNvPr id="3" name="Title 1">
            <a:extLst>
              <a:ext uri="{FF2B5EF4-FFF2-40B4-BE49-F238E27FC236}">
                <a16:creationId xmlns:a16="http://schemas.microsoft.com/office/drawing/2014/main" id="{8BD6AFAD-7A30-408B-85D6-C4F121A1E3A8}"/>
              </a:ext>
            </a:extLst>
          </p:cNvPr>
          <p:cNvSpPr txBox="1">
            <a:spLocks/>
          </p:cNvSpPr>
          <p:nvPr/>
        </p:nvSpPr>
        <p:spPr>
          <a:xfrm>
            <a:off x="248769" y="669016"/>
            <a:ext cx="5081227" cy="669016"/>
          </a:xfrm>
          <a:prstGeom prst="rect">
            <a:avLst/>
          </a:prstGeom>
        </p:spPr>
        <p:txBody>
          <a:bodyPr vert="horz" lIns="91440" tIns="45720" rIns="91440" bIns="45720" rtlCol="0" anchor="ctr">
            <a:normAutofit fontScale="67500" lnSpcReduction="20000"/>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pPr algn="ctr"/>
            <a:r>
              <a:rPr lang="en-US" sz="3600" b="1" dirty="0">
                <a:solidFill>
                  <a:srgbClr val="CC0066"/>
                </a:solidFill>
                <a:latin typeface="Times New Roman" panose="02020603050405020304" pitchFamily="18" charset="0"/>
                <a:cs typeface="Times New Roman" panose="02020603050405020304" pitchFamily="18" charset="0"/>
              </a:rPr>
              <a:t>CNN- Convolution Neural Network</a:t>
            </a:r>
          </a:p>
        </p:txBody>
      </p:sp>
      <p:sp>
        <p:nvSpPr>
          <p:cNvPr id="4" name="Rectangle 1">
            <a:extLst>
              <a:ext uri="{FF2B5EF4-FFF2-40B4-BE49-F238E27FC236}">
                <a16:creationId xmlns:a16="http://schemas.microsoft.com/office/drawing/2014/main" id="{CA7B3FFE-BB3F-7F45-888A-3FD475F21E87}"/>
              </a:ext>
            </a:extLst>
          </p:cNvPr>
          <p:cNvSpPr>
            <a:spLocks noChangeArrowheads="1"/>
          </p:cNvSpPr>
          <p:nvPr/>
        </p:nvSpPr>
        <p:spPr bwMode="auto">
          <a:xfrm>
            <a:off x="431799" y="1338032"/>
            <a:ext cx="11328400"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CNNs are highly effective in handling image data, which is crucial for analyzing visual information from crops.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They automatically detect and learn important features (e.g., color, texture, and shape) from images, making them ideal for identifying anomalies like disease spots, pest infestations, and nutrient deficiencies.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CNNs can capture spatial hierarchies in images, which helps in understanding the context and relative positioning of different features within the crop images. </a:t>
            </a:r>
          </a:p>
        </p:txBody>
      </p:sp>
    </p:spTree>
    <p:extLst>
      <p:ext uri="{BB962C8B-B14F-4D97-AF65-F5344CB8AC3E}">
        <p14:creationId xmlns:p14="http://schemas.microsoft.com/office/powerpoint/2010/main" val="497238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555386" y="0"/>
            <a:ext cx="5081227" cy="669016"/>
          </a:xfrm>
        </p:spPr>
        <p:txBody>
          <a:bodyPr>
            <a:normAutofit fontScale="90000"/>
          </a:bodyPr>
          <a:lstStyle/>
          <a:p>
            <a:pPr algn="ctr"/>
            <a:r>
              <a:rPr lang="en-US" sz="3600" b="1" dirty="0">
                <a:solidFill>
                  <a:srgbClr val="CC0066"/>
                </a:solidFill>
                <a:latin typeface="Times New Roman" panose="02020603050405020304" pitchFamily="18" charset="0"/>
                <a:cs typeface="Times New Roman" panose="02020603050405020304" pitchFamily="18" charset="0"/>
              </a:rPr>
              <a:t>Deep Learning Architecture</a:t>
            </a:r>
          </a:p>
        </p:txBody>
      </p:sp>
      <p:sp>
        <p:nvSpPr>
          <p:cNvPr id="3" name="Title 1">
            <a:extLst>
              <a:ext uri="{FF2B5EF4-FFF2-40B4-BE49-F238E27FC236}">
                <a16:creationId xmlns:a16="http://schemas.microsoft.com/office/drawing/2014/main" id="{8BD6AFAD-7A30-408B-85D6-C4F121A1E3A8}"/>
              </a:ext>
            </a:extLst>
          </p:cNvPr>
          <p:cNvSpPr txBox="1">
            <a:spLocks/>
          </p:cNvSpPr>
          <p:nvPr/>
        </p:nvSpPr>
        <p:spPr>
          <a:xfrm>
            <a:off x="248769" y="669016"/>
            <a:ext cx="5081227" cy="669016"/>
          </a:xfrm>
          <a:prstGeom prst="rect">
            <a:avLst/>
          </a:prstGeom>
        </p:spPr>
        <p:txBody>
          <a:bodyPr vert="horz" lIns="91440" tIns="45720" rIns="91440" bIns="45720" rtlCol="0" anchor="ctr">
            <a:normAutofit fontScale="67500" lnSpcReduction="20000"/>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pPr algn="ctr"/>
            <a:r>
              <a:rPr lang="en-US" sz="3600" b="1" dirty="0">
                <a:solidFill>
                  <a:srgbClr val="CC0066"/>
                </a:solidFill>
                <a:latin typeface="Times New Roman" panose="02020603050405020304" pitchFamily="18" charset="0"/>
                <a:cs typeface="Times New Roman" panose="02020603050405020304" pitchFamily="18" charset="0"/>
              </a:rPr>
              <a:t>RNN- Recurrent Neural Network</a:t>
            </a:r>
          </a:p>
        </p:txBody>
      </p:sp>
      <p:sp>
        <p:nvSpPr>
          <p:cNvPr id="5" name="Rectangle 1">
            <a:extLst>
              <a:ext uri="{FF2B5EF4-FFF2-40B4-BE49-F238E27FC236}">
                <a16:creationId xmlns:a16="http://schemas.microsoft.com/office/drawing/2014/main" id="{E492B786-84C6-F7FC-DA0A-BECE776CD9E1}"/>
              </a:ext>
            </a:extLst>
          </p:cNvPr>
          <p:cNvSpPr>
            <a:spLocks noChangeArrowheads="1"/>
          </p:cNvSpPr>
          <p:nvPr/>
        </p:nvSpPr>
        <p:spPr bwMode="auto">
          <a:xfrm>
            <a:off x="248769" y="1201082"/>
            <a:ext cx="11318240"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RNNs are designed to handle sequential data and can capture temporal dependencies, which is useful if you're analyzing time-series data (e.g., monitoring crop health over different growth stages).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They can keep track of historical data, which helps in understanding how past conditions affect current crop health, leading to more accurate anomaly detection.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RNNs can adapt to varying lengths of input sequences, making them versatile for different types of temporal data in agricultural monitoring. </a:t>
            </a:r>
          </a:p>
        </p:txBody>
      </p:sp>
    </p:spTree>
    <p:extLst>
      <p:ext uri="{BB962C8B-B14F-4D97-AF65-F5344CB8AC3E}">
        <p14:creationId xmlns:p14="http://schemas.microsoft.com/office/powerpoint/2010/main" val="2400295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555386" y="0"/>
            <a:ext cx="5081227" cy="669016"/>
          </a:xfrm>
        </p:spPr>
        <p:txBody>
          <a:bodyPr>
            <a:normAutofit fontScale="90000"/>
          </a:bodyPr>
          <a:lstStyle/>
          <a:p>
            <a:pPr algn="ctr"/>
            <a:r>
              <a:rPr lang="en-US" sz="3600" b="1" dirty="0">
                <a:solidFill>
                  <a:srgbClr val="CC0066"/>
                </a:solidFill>
                <a:latin typeface="Times New Roman" panose="02020603050405020304" pitchFamily="18" charset="0"/>
                <a:cs typeface="Times New Roman" panose="02020603050405020304" pitchFamily="18" charset="0"/>
              </a:rPr>
              <a:t>Deep Learning Architecture</a:t>
            </a:r>
          </a:p>
        </p:txBody>
      </p:sp>
      <p:sp>
        <p:nvSpPr>
          <p:cNvPr id="3" name="Title 1">
            <a:extLst>
              <a:ext uri="{FF2B5EF4-FFF2-40B4-BE49-F238E27FC236}">
                <a16:creationId xmlns:a16="http://schemas.microsoft.com/office/drawing/2014/main" id="{8BD6AFAD-7A30-408B-85D6-C4F121A1E3A8}"/>
              </a:ext>
            </a:extLst>
          </p:cNvPr>
          <p:cNvSpPr txBox="1">
            <a:spLocks/>
          </p:cNvSpPr>
          <p:nvPr/>
        </p:nvSpPr>
        <p:spPr>
          <a:xfrm>
            <a:off x="248769" y="877539"/>
            <a:ext cx="10297311" cy="669016"/>
          </a:xfrm>
          <a:prstGeom prst="rect">
            <a:avLst/>
          </a:prstGeom>
        </p:spPr>
        <p:txBody>
          <a:bodyPr vert="horz" lIns="91440" tIns="45720" rIns="91440" bIns="45720" rtlCol="0" anchor="ctr">
            <a:normAutofit fontScale="90000"/>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pPr algn="ctr"/>
            <a:r>
              <a:rPr lang="en-US" sz="3600" b="1" dirty="0">
                <a:solidFill>
                  <a:srgbClr val="CC0066"/>
                </a:solidFill>
                <a:latin typeface="Times New Roman" panose="02020603050405020304" pitchFamily="18" charset="0"/>
                <a:cs typeface="Times New Roman" panose="02020603050405020304" pitchFamily="18" charset="0"/>
              </a:rPr>
              <a:t>Fast R-CNN (Region based convolutional neural network)</a:t>
            </a:r>
          </a:p>
        </p:txBody>
      </p:sp>
      <p:sp>
        <p:nvSpPr>
          <p:cNvPr id="5" name="Rectangle 1">
            <a:extLst>
              <a:ext uri="{FF2B5EF4-FFF2-40B4-BE49-F238E27FC236}">
                <a16:creationId xmlns:a16="http://schemas.microsoft.com/office/drawing/2014/main" id="{E492B786-84C6-F7FC-DA0A-BECE776CD9E1}"/>
              </a:ext>
            </a:extLst>
          </p:cNvPr>
          <p:cNvSpPr>
            <a:spLocks noChangeArrowheads="1"/>
          </p:cNvSpPr>
          <p:nvPr/>
        </p:nvSpPr>
        <p:spPr bwMode="auto">
          <a:xfrm>
            <a:off x="248769" y="1755079"/>
            <a:ext cx="11318240"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400" dirty="0">
                <a:latin typeface="Arial" panose="020B0604020202020204" pitchFamily="34" charset="0"/>
                <a:cs typeface="Arial" panose="020B0604020202020204" pitchFamily="34" charset="0"/>
              </a:rPr>
              <a:t>It is useful for detecting and classifying objects within an image, such as identifying specific regions of crops that show signs of anomalies.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Faster R-CNN allows for end-to-end training, which simplifies the model training process and enhances the overall detection performance.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400" dirty="0">
                <a:latin typeface="Arial" panose="020B0604020202020204" pitchFamily="34" charset="0"/>
                <a:cs typeface="Arial" panose="020B0604020202020204" pitchFamily="34" charset="0"/>
              </a:rPr>
              <a:t>It uses region proposals to focus on relevant parts of the image, reducing computational load and increasing detection accuracy for smaller anomalies.</a:t>
            </a: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7948256"/>
      </p:ext>
    </p:extLst>
  </p:cSld>
  <p:clrMapOvr>
    <a:masterClrMapping/>
  </p:clrMapOvr>
</p:sld>
</file>

<file path=ppt/theme/theme1.xml><?xml version="1.0" encoding="utf-8"?>
<a:theme xmlns:a="http://schemas.openxmlformats.org/drawingml/2006/main" name="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43CD6CE29747349A5A94DA81629FDC5" ma:contentTypeVersion="11" ma:contentTypeDescription="Create a new document." ma:contentTypeScope="" ma:versionID="dc06cc9d132ff9dbfd94d33746a170bc">
  <xsd:schema xmlns:xsd="http://www.w3.org/2001/XMLSchema" xmlns:xs="http://www.w3.org/2001/XMLSchema" xmlns:p="http://schemas.microsoft.com/office/2006/metadata/properties" xmlns:ns2="288a120d-550d-410d-8e83-3a0debd8f61a" xmlns:ns3="b2fc7224-56e7-4a56-81e9-64380d6fda13" targetNamespace="http://schemas.microsoft.com/office/2006/metadata/properties" ma:root="true" ma:fieldsID="3e4d2b7f430bf8adbb47ab8b4dbba55a" ns2:_="" ns3:_="">
    <xsd:import namespace="288a120d-550d-410d-8e83-3a0debd8f61a"/>
    <xsd:import namespace="b2fc7224-56e7-4a56-81e9-64380d6fda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a120d-550d-410d-8e83-3a0debd8f6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fc7224-56e7-4a56-81e9-64380d6fda1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4EAF80-A9B1-4397-8673-948369AFEFED}">
  <ds:schemaRefs>
    <ds:schemaRef ds:uri="http://schemas.microsoft.com/sharepoint/v3/contenttype/forms"/>
  </ds:schemaRefs>
</ds:datastoreItem>
</file>

<file path=customXml/itemProps2.xml><?xml version="1.0" encoding="utf-8"?>
<ds:datastoreItem xmlns:ds="http://schemas.openxmlformats.org/officeDocument/2006/customXml" ds:itemID="{CC86E6DA-5186-4C2D-B67F-DA1E8DD817FC}">
  <ds:schemaRefs>
    <ds:schemaRef ds:uri="http://purl.org/dc/dcmitype/"/>
    <ds:schemaRef ds:uri="http://purl.org/dc/terms/"/>
    <ds:schemaRef ds:uri="http://purl.org/dc/elements/1.1/"/>
    <ds:schemaRef ds:uri="288a120d-550d-410d-8e83-3a0debd8f61a"/>
    <ds:schemaRef ds:uri="http://schemas.microsoft.com/office/2006/metadata/properties"/>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b2fc7224-56e7-4a56-81e9-64380d6fda13"/>
  </ds:schemaRefs>
</ds:datastoreItem>
</file>

<file path=customXml/itemProps3.xml><?xml version="1.0" encoding="utf-8"?>
<ds:datastoreItem xmlns:ds="http://schemas.openxmlformats.org/officeDocument/2006/customXml" ds:itemID="{896A51D3-70D6-4C59-A5F9-E965D4778D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8a120d-550d-410d-8e83-3a0debd8f61a"/>
    <ds:schemaRef ds:uri="b2fc7224-56e7-4a56-81e9-64380d6fd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30129</TotalTime>
  <Words>2353</Words>
  <Application>Microsoft Office PowerPoint</Application>
  <PresentationFormat>Widescreen</PresentationFormat>
  <Paragraphs>243</Paragraphs>
  <Slides>30</Slides>
  <Notes>1</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30</vt:i4>
      </vt:variant>
    </vt:vector>
  </HeadingPairs>
  <TitlesOfParts>
    <vt:vector size="43" baseType="lpstr">
      <vt:lpstr>Arial</vt:lpstr>
      <vt:lpstr>Avenir Next LT Pro</vt:lpstr>
      <vt:lpstr>Calibri</vt:lpstr>
      <vt:lpstr>Futura</vt:lpstr>
      <vt:lpstr>Garamond</vt:lpstr>
      <vt:lpstr>Times New Roman</vt:lpstr>
      <vt:lpstr>Times New Roman Bold</vt:lpstr>
      <vt:lpstr>Wingdings</vt:lpstr>
      <vt:lpstr>Presentation Cover page</vt:lpstr>
      <vt:lpstr>Presentation slides</vt:lpstr>
      <vt:lpstr>1_Presentation Cover page</vt:lpstr>
      <vt:lpstr>1_Presentation slides</vt:lpstr>
      <vt:lpstr>2_Presentation slides</vt:lpstr>
      <vt:lpstr>Anomalies detection in crop health and creating a custom flight path.</vt:lpstr>
      <vt:lpstr>General Guidelines for the sections of the paper</vt:lpstr>
      <vt:lpstr>Agenda</vt:lpstr>
      <vt:lpstr>Information about Data Set</vt:lpstr>
      <vt:lpstr>Block Diagram</vt:lpstr>
      <vt:lpstr>CNN Architecture</vt:lpstr>
      <vt:lpstr>Block Diagram - RCNN</vt:lpstr>
      <vt:lpstr>Contributions</vt:lpstr>
      <vt:lpstr>Introduction</vt:lpstr>
      <vt:lpstr>Statistical Reference</vt:lpstr>
      <vt:lpstr>Social Relevance</vt:lpstr>
      <vt:lpstr>Problem Statement</vt:lpstr>
      <vt:lpstr>Pros and Cons of using different approach</vt:lpstr>
      <vt:lpstr>Data Mining</vt:lpstr>
      <vt:lpstr>Machine Learning</vt:lpstr>
      <vt:lpstr>Deep Learning</vt:lpstr>
      <vt:lpstr>Explainable AI</vt:lpstr>
      <vt:lpstr>Federated Learning</vt:lpstr>
      <vt:lpstr>Transfer Learning</vt:lpstr>
      <vt:lpstr>Generative AI</vt:lpstr>
      <vt:lpstr>Agent AI</vt:lpstr>
      <vt:lpstr>Types of Machine Learning</vt:lpstr>
      <vt:lpstr>Computer Vision Algorithms</vt:lpstr>
      <vt:lpstr>Computer Vision Algorithms</vt:lpstr>
      <vt:lpstr>Analytical Questions</vt:lpstr>
      <vt:lpstr>Prediction Questions</vt:lpstr>
      <vt:lpstr>Difference between Image Processing  and Computer Vision</vt:lpstr>
      <vt:lpstr>Deep Learning Architecture</vt:lpstr>
      <vt:lpstr>Deep Learning Architecture</vt:lpstr>
      <vt:lpstr>Deep Learning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KSUM-SB2-XPS-35</dc:creator>
  <cp:lastModifiedBy>Vishwa Karthi</cp:lastModifiedBy>
  <cp:revision>826</cp:revision>
  <dcterms:created xsi:type="dcterms:W3CDTF">2020-07-03T08:40:50Z</dcterms:created>
  <dcterms:modified xsi:type="dcterms:W3CDTF">2024-11-09T06:12:36Z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0x010100643CD6CE29747349A5A94DA81629FDC5</vt:lpwstr>
  </property>
</Properties>
</file>