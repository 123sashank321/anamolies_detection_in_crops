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4"/>
    <p:sldMasterId id="2147483685" r:id="rId5"/>
    <p:sldMasterId id="2147483688" r:id="rId6"/>
    <p:sldMasterId id="2147483701" r:id="rId7"/>
  </p:sldMasterIdLst>
  <p:notesMasterIdLst>
    <p:notesMasterId r:id="rId27"/>
  </p:notesMasterIdLst>
  <p:handoutMasterIdLst>
    <p:handoutMasterId r:id="rId28"/>
  </p:handoutMasterIdLst>
  <p:sldIdLst>
    <p:sldId id="849" r:id="rId8"/>
    <p:sldId id="882" r:id="rId9"/>
    <p:sldId id="885" r:id="rId10"/>
    <p:sldId id="886" r:id="rId11"/>
    <p:sldId id="887" r:id="rId12"/>
    <p:sldId id="863" r:id="rId13"/>
    <p:sldId id="866" r:id="rId14"/>
    <p:sldId id="867" r:id="rId15"/>
    <p:sldId id="883" r:id="rId16"/>
    <p:sldId id="868" r:id="rId17"/>
    <p:sldId id="869" r:id="rId18"/>
    <p:sldId id="870" r:id="rId19"/>
    <p:sldId id="871" r:id="rId20"/>
    <p:sldId id="872" r:id="rId21"/>
    <p:sldId id="873" r:id="rId22"/>
    <p:sldId id="874" r:id="rId23"/>
    <p:sldId id="875" r:id="rId24"/>
    <p:sldId id="876" r:id="rId25"/>
    <p:sldId id="88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14D"/>
    <a:srgbClr val="CC0066"/>
    <a:srgbClr val="E26FA9"/>
    <a:srgbClr val="38507C"/>
    <a:srgbClr val="086072"/>
    <a:srgbClr val="336699"/>
    <a:srgbClr val="69115F"/>
    <a:srgbClr val="E96C1F"/>
    <a:srgbClr val="2657E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26" autoAdjust="0"/>
  </p:normalViewPr>
  <p:slideViewPr>
    <p:cSldViewPr snapToGrid="0">
      <p:cViewPr varScale="1">
        <p:scale>
          <a:sx n="83" d="100"/>
          <a:sy n="83" d="100"/>
        </p:scale>
        <p:origin x="686" y="77"/>
      </p:cViewPr>
      <p:guideLst>
        <p:guide orient="horz" pos="2160"/>
        <p:guide pos="3840"/>
      </p:guideLst>
    </p:cSldViewPr>
  </p:slideViewPr>
  <p:outlineViewPr>
    <p:cViewPr>
      <p:scale>
        <a:sx n="33" d="100"/>
        <a:sy n="33" d="100"/>
      </p:scale>
      <p:origin x="0" y="-4248"/>
    </p:cViewPr>
  </p:outlineViewPr>
  <p:notesTextViewPr>
    <p:cViewPr>
      <p:scale>
        <a:sx n="150" d="100"/>
        <a:sy n="150" d="100"/>
      </p:scale>
      <p:origin x="0" y="0"/>
    </p:cViewPr>
  </p:notesTextViewPr>
  <p:sorterViewPr>
    <p:cViewPr>
      <p:scale>
        <a:sx n="75" d="100"/>
        <a:sy n="75" d="100"/>
      </p:scale>
      <p:origin x="0" y="0"/>
    </p:cViewPr>
  </p:sorter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FDB985-8404-473A-A297-1E33D8BC29AD}" type="datetimeFigureOut">
              <a:rPr lang="en-US" smtClean="0"/>
              <a:pPr/>
              <a:t>8/8/2025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2B8ED-2479-4BFE-A0EA-F4DF447902E2}" type="slidenum">
              <a:rPr lang="en-US" smtClean="0"/>
              <a:pPr/>
              <a:t>‹#›</a:t>
            </a:fld>
            <a:endParaRPr lang="en-US" dirty="0"/>
          </a:p>
        </p:txBody>
      </p:sp>
    </p:spTree>
    <p:extLst>
      <p:ext uri="{BB962C8B-B14F-4D97-AF65-F5344CB8AC3E}">
        <p14:creationId xmlns:p14="http://schemas.microsoft.com/office/powerpoint/2010/main" val="286997832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85CDB-4198-450F-B6D3-048A14B96D4C}" type="datetimeFigureOut">
              <a:rPr lang="en-IN" smtClean="0"/>
              <a:pPr/>
              <a:t>08-08-2025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04008-3433-43AD-8483-BD8A804A264A}" type="slidenum">
              <a:rPr lang="en-IN" smtClean="0"/>
              <a:pPr/>
              <a:t>‹#›</a:t>
            </a:fld>
            <a:endParaRPr lang="en-IN" dirty="0"/>
          </a:p>
        </p:txBody>
      </p:sp>
    </p:spTree>
    <p:extLst>
      <p:ext uri="{BB962C8B-B14F-4D97-AF65-F5344CB8AC3E}">
        <p14:creationId xmlns:p14="http://schemas.microsoft.com/office/powerpoint/2010/main" val="38727393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25359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4187337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791746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6B218248-39AE-B24D-B571-E8695ACF81F5}" type="slidenum">
              <a:rPr lang="en-US" smtClean="0"/>
              <a:pPr/>
              <a:t>‹#›</a:t>
            </a:fld>
            <a:endParaRPr lang="en-US" dirty="0"/>
          </a:p>
        </p:txBody>
      </p:sp>
    </p:spTree>
    <p:extLst>
      <p:ext uri="{BB962C8B-B14F-4D97-AF65-F5344CB8AC3E}">
        <p14:creationId xmlns:p14="http://schemas.microsoft.com/office/powerpoint/2010/main" val="2806885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77296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444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4969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69442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82615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329991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39264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268496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5076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53387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850522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415600" y="593367"/>
            <a:ext cx="11360800" cy="763600"/>
          </a:xfrm>
          <a:prstGeom prst="rect">
            <a:avLst/>
          </a:prstGeom>
        </p:spPr>
        <p:txBody>
          <a:bodyPr spcFirstLastPara="1" wrap="square" lIns="90000" tIns="46800" rIns="90000" bIns="46800"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29" name="Google Shape;29;p7"/>
          <p:cNvSpPr txBox="1">
            <a:spLocks noGrp="1"/>
          </p:cNvSpPr>
          <p:nvPr>
            <p:ph type="body" idx="1"/>
          </p:nvPr>
        </p:nvSpPr>
        <p:spPr>
          <a:xfrm>
            <a:off x="415600" y="1536633"/>
            <a:ext cx="11360800" cy="4555200"/>
          </a:xfrm>
          <a:prstGeom prst="rect">
            <a:avLst/>
          </a:prstGeom>
        </p:spPr>
        <p:txBody>
          <a:bodyPr spcFirstLastPara="1" wrap="square" lIns="90000" tIns="46800" rIns="90000" bIns="46800" anchor="t" anchorCtr="0">
            <a:noAutofit/>
          </a:bodyPr>
          <a:lstStyle>
            <a:lvl1pPr marL="609570" lvl="0" indent="-450510" rtl="0">
              <a:spcBef>
                <a:spcPts val="675"/>
              </a:spcBef>
              <a:spcAft>
                <a:spcPts val="0"/>
              </a:spcAft>
              <a:buSzPts val="1721"/>
              <a:buChar char="⚫"/>
              <a:defRPr/>
            </a:lvl1pPr>
            <a:lvl2pPr marL="1219140" lvl="1" indent="-402569" rtl="0">
              <a:spcBef>
                <a:spcPts val="551"/>
              </a:spcBef>
              <a:spcAft>
                <a:spcPts val="0"/>
              </a:spcAft>
              <a:buSzPts val="1155"/>
              <a:buChar char="⚪"/>
              <a:defRPr/>
            </a:lvl2pPr>
            <a:lvl3pPr marL="1828709" lvl="2" indent="-400029" rtl="0">
              <a:spcBef>
                <a:spcPts val="500"/>
              </a:spcBef>
              <a:spcAft>
                <a:spcPts val="0"/>
              </a:spcAft>
              <a:buSzPts val="1125"/>
              <a:buChar char="⯍"/>
              <a:defRPr/>
            </a:lvl3pPr>
            <a:lvl4pPr marL="2438278" lvl="3" indent="-393681" rtl="0">
              <a:spcBef>
                <a:spcPts val="500"/>
              </a:spcBef>
              <a:spcAft>
                <a:spcPts val="0"/>
              </a:spcAft>
              <a:buSzPts val="1050"/>
              <a:buChar char="🞆"/>
              <a:defRPr/>
            </a:lvl4pPr>
            <a:lvl5pPr marL="3047848" lvl="4" indent="-431779" rtl="0">
              <a:spcBef>
                <a:spcPts val="500"/>
              </a:spcBef>
              <a:spcAft>
                <a:spcPts val="0"/>
              </a:spcAft>
              <a:buSzPts val="1500"/>
              <a:buChar char="•"/>
              <a:defRPr/>
            </a:lvl5pPr>
            <a:lvl6pPr marL="3657418" lvl="5" indent="-431779" rtl="0">
              <a:spcBef>
                <a:spcPts val="500"/>
              </a:spcBef>
              <a:spcAft>
                <a:spcPts val="0"/>
              </a:spcAft>
              <a:buSzPts val="1500"/>
              <a:buChar char="•"/>
              <a:defRPr/>
            </a:lvl6pPr>
            <a:lvl7pPr marL="4266987" lvl="6" indent="-431779" rtl="0">
              <a:spcBef>
                <a:spcPts val="500"/>
              </a:spcBef>
              <a:spcAft>
                <a:spcPts val="0"/>
              </a:spcAft>
              <a:buSzPts val="1500"/>
              <a:buChar char="•"/>
              <a:defRPr/>
            </a:lvl7pPr>
            <a:lvl8pPr marL="4876557" lvl="7" indent="-431779" rtl="0">
              <a:spcBef>
                <a:spcPts val="500"/>
              </a:spcBef>
              <a:spcAft>
                <a:spcPts val="0"/>
              </a:spcAft>
              <a:buSzPts val="1500"/>
              <a:buChar char="•"/>
              <a:defRPr/>
            </a:lvl8pPr>
            <a:lvl9pPr marL="5486126" lvl="8" indent="-431779" rtl="0">
              <a:spcBef>
                <a:spcPts val="500"/>
              </a:spcBef>
              <a:spcAft>
                <a:spcPts val="0"/>
              </a:spcAft>
              <a:buSzPts val="1500"/>
              <a:buChar char="•"/>
              <a:defRPr/>
            </a:lvl9pPr>
          </a:lstStyle>
          <a:p>
            <a:pPr lvl="0"/>
            <a:r>
              <a:rPr lang="en-US"/>
              <a:t>Click to edit Master text styles</a:t>
            </a:r>
          </a:p>
        </p:txBody>
      </p:sp>
      <p:sp>
        <p:nvSpPr>
          <p:cNvPr id="30" name="Google Shape;30;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l"/>
            <a:fld id="{00000000-1234-1234-1234-123412341234}" type="slidenum">
              <a:rPr lang="en" smtClean="0"/>
              <a:pPr algn="l"/>
              <a:t>‹#›</a:t>
            </a:fld>
            <a:endParaRPr lang="en"/>
          </a:p>
        </p:txBody>
      </p:sp>
    </p:spTree>
    <p:extLst>
      <p:ext uri="{BB962C8B-B14F-4D97-AF65-F5344CB8AC3E}">
        <p14:creationId xmlns:p14="http://schemas.microsoft.com/office/powerpoint/2010/main" val="42510730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635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620417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51280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031838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002664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080833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729884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899571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55781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862495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5822068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70B5-2641-4048-A5B7-426327B0BA58}"/>
              </a:ext>
            </a:extLst>
          </p:cNvPr>
          <p:cNvSpPr>
            <a:spLocks noGrp="1"/>
          </p:cNvSpPr>
          <p:nvPr>
            <p:ph type="title"/>
          </p:nvPr>
        </p:nvSpPr>
        <p:spPr>
          <a:xfrm>
            <a:off x="838091" y="365084"/>
            <a:ext cx="10515819" cy="831928"/>
          </a:xfrm>
          <a:prstGeom prst="rect">
            <a:avLst/>
          </a:prstGeom>
        </p:spPr>
        <p:txBody>
          <a:bodyPr anchor="ctr"/>
          <a:lstStyle>
            <a:lvl1pPr>
              <a:defRPr sz="3599"/>
            </a:lvl1pPr>
          </a:lstStyle>
          <a:p>
            <a:r>
              <a:rPr lang="en-US"/>
              <a:t>Click to edit Master title style</a:t>
            </a:r>
          </a:p>
        </p:txBody>
      </p:sp>
    </p:spTree>
    <p:extLst>
      <p:ext uri="{BB962C8B-B14F-4D97-AF65-F5344CB8AC3E}">
        <p14:creationId xmlns:p14="http://schemas.microsoft.com/office/powerpoint/2010/main" val="4282590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53297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3.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2.pn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0" name="Straight Connector 9"/>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1002095191"/>
      </p:ext>
    </p:extLst>
  </p:cSld>
  <p:clrMap bg1="lt1" tx1="dk1" bg2="lt2" tx2="dk2" accent1="accent1" accent2="accent2" accent3="accent3" accent4="accent4" accent5="accent5" accent6="accent6" hlink="hlink" folHlink="folHlink"/>
  <p:sldLayoutIdLst>
    <p:sldLayoutId id="2147483680" r:id="rId1"/>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0" name="Straight Connector 9"/>
          <p:cNvCxnSpPr/>
          <p:nvPr/>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
        <p:nvSpPr>
          <p:cNvPr id="12" name="Rectangle 11">
            <a:extLst>
              <a:ext uri="{FF2B5EF4-FFF2-40B4-BE49-F238E27FC236}">
                <a16:creationId xmlns:a16="http://schemas.microsoft.com/office/drawing/2014/main" id="{723A1E2C-F9E9-476C-A5F4-4A59EF6C5BFF}"/>
              </a:ext>
            </a:extLst>
          </p:cNvPr>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3" name="Straight Connector 12">
            <a:extLst>
              <a:ext uri="{FF2B5EF4-FFF2-40B4-BE49-F238E27FC236}">
                <a16:creationId xmlns:a16="http://schemas.microsoft.com/office/drawing/2014/main" id="{DF098539-A9C5-4E0A-946B-5498FE4AB03F}"/>
              </a:ext>
            </a:extLst>
          </p:cNvPr>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4" name="Picture 13">
            <a:extLst>
              <a:ext uri="{FF2B5EF4-FFF2-40B4-BE49-F238E27FC236}">
                <a16:creationId xmlns:a16="http://schemas.microsoft.com/office/drawing/2014/main" id="{B9FF7B53-CEDA-4C55-9457-6E244D4B49B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51432786"/>
      </p:ext>
    </p:extLst>
  </p:cSld>
  <p:clrMap bg1="lt1" tx1="dk1" bg2="lt2" tx2="dk2" accent1="accent1" accent2="accent2" accent3="accent3" accent4="accent4" accent5="accent5" accent6="accent6" hlink="hlink" folHlink="folHlink"/>
  <p:sldLayoutIdLst>
    <p:sldLayoutId id="2147483686" r:id="rId1"/>
    <p:sldLayoutId id="2147483687" r:id="rId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378748780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169695910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123sashank321/Anamolies_Detection_in_Crops" TargetMode="External"/><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hyperlink" Target="https://sites.google.com/view/anamolies-detection-in-crops/hom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7.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7.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hyperlink" Target="https://ieeexplore.ieee.org/stamp/stamp.jsp?arnumber=10596987" TargetMode="Externa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hyperlink" Target="https://rb.gy/0mtd97" TargetMode="Externa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6FE1-BE3A-E444-EF9B-B6330AA8D529}"/>
              </a:ext>
            </a:extLst>
          </p:cNvPr>
          <p:cNvSpPr>
            <a:spLocks noGrp="1"/>
          </p:cNvSpPr>
          <p:nvPr>
            <p:ph type="ctrTitle"/>
          </p:nvPr>
        </p:nvSpPr>
        <p:spPr>
          <a:xfrm>
            <a:off x="2334831" y="1849288"/>
            <a:ext cx="7446402" cy="1264000"/>
          </a:xfrm>
        </p:spPr>
        <p:txBody>
          <a:bodyPr>
            <a:normAutofit fontScale="90000"/>
          </a:bodyPr>
          <a:lstStyle/>
          <a:p>
            <a:pPr>
              <a:lnSpc>
                <a:spcPct val="150000"/>
              </a:lnSpc>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Anomalies detection in crop health and creating a custom flight path.</a:t>
            </a:r>
            <a:endParaRPr lang="en-IN" sz="3600" b="1" dirty="0"/>
          </a:p>
        </p:txBody>
      </p:sp>
      <p:sp>
        <p:nvSpPr>
          <p:cNvPr id="9" name="TextBox 9">
            <a:extLst>
              <a:ext uri="{FF2B5EF4-FFF2-40B4-BE49-F238E27FC236}">
                <a16:creationId xmlns:a16="http://schemas.microsoft.com/office/drawing/2014/main" id="{06F4F9EA-F74A-C4EB-F105-783EADEA4E70}"/>
              </a:ext>
            </a:extLst>
          </p:cNvPr>
          <p:cNvSpPr txBox="1"/>
          <p:nvPr/>
        </p:nvSpPr>
        <p:spPr>
          <a:xfrm>
            <a:off x="509954" y="4376712"/>
            <a:ext cx="10955821" cy="73866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dirty="0">
                <a:solidFill>
                  <a:srgbClr val="B6114D"/>
                </a:solidFill>
                <a:latin typeface="Times New Roman Bold"/>
                <a:ea typeface="Times New Roman Bold"/>
                <a:cs typeface="Times New Roman Bold"/>
                <a:sym typeface="Times New Roman Bold"/>
              </a:rPr>
              <a:t>Git hub URL: </a:t>
            </a:r>
            <a:r>
              <a:rPr lang="en-US" sz="2400" dirty="0">
                <a:solidFill>
                  <a:srgbClr val="B6114D"/>
                </a:solidFill>
                <a:latin typeface="Times New Roman Bold"/>
                <a:ea typeface="Times New Roman Bold"/>
                <a:cs typeface="Times New Roman Bold"/>
                <a:sym typeface="Times New Roman Bold"/>
                <a:hlinkClick r:id="rId3"/>
              </a:rPr>
              <a:t>https://github.com/123sashank321/Anamolies_Detection_in_Crops</a:t>
            </a:r>
            <a:endParaRPr lang="en-US" sz="2400" dirty="0">
              <a:solidFill>
                <a:srgbClr val="B6114D"/>
              </a:solidFill>
              <a:latin typeface="Times New Roman Bold"/>
              <a:ea typeface="Times New Roman Bold"/>
              <a:cs typeface="Times New Roman Bold"/>
              <a:sym typeface="Times New Roman Bold"/>
            </a:endParaRPr>
          </a:p>
          <a:p>
            <a:pPr algn="ctr"/>
            <a:r>
              <a:rPr lang="en-US" sz="2400" dirty="0" err="1">
                <a:solidFill>
                  <a:srgbClr val="B6114D"/>
                </a:solidFill>
                <a:latin typeface="Times New Roman Bold"/>
                <a:ea typeface="Times New Roman Bold"/>
                <a:cs typeface="Times New Roman Bold"/>
                <a:sym typeface="Times New Roman Bold"/>
              </a:rPr>
              <a:t>Sites.google</a:t>
            </a:r>
            <a:r>
              <a:rPr lang="en-US" sz="2400" dirty="0">
                <a:solidFill>
                  <a:srgbClr val="B6114D"/>
                </a:solidFill>
                <a:latin typeface="Times New Roman Bold"/>
                <a:ea typeface="Times New Roman Bold"/>
                <a:cs typeface="Times New Roman Bold"/>
                <a:sym typeface="Times New Roman Bold"/>
              </a:rPr>
              <a:t> : </a:t>
            </a:r>
            <a:r>
              <a:rPr lang="en-US" sz="2400" dirty="0">
                <a:solidFill>
                  <a:srgbClr val="B6114D"/>
                </a:solidFill>
                <a:latin typeface="Times New Roman Bold"/>
                <a:ea typeface="Times New Roman Bold"/>
                <a:cs typeface="Times New Roman Bold"/>
                <a:sym typeface="Times New Roman Bold"/>
                <a:hlinkClick r:id="rId4"/>
              </a:rPr>
              <a:t>https://sites.google.com/view/anamolies-detection-in-crops/home</a:t>
            </a:r>
            <a:endParaRPr lang="en-US" sz="2400" dirty="0">
              <a:solidFill>
                <a:srgbClr val="B6114D"/>
              </a:solidFill>
              <a:latin typeface="Times New Roman Bold"/>
              <a:ea typeface="Times New Roman Bold"/>
              <a:cs typeface="Times New Roman Bold"/>
              <a:sym typeface="Times New Roman Bold"/>
            </a:endParaRPr>
          </a:p>
        </p:txBody>
      </p:sp>
      <p:sp>
        <p:nvSpPr>
          <p:cNvPr id="10" name="TextBox 11">
            <a:extLst>
              <a:ext uri="{FF2B5EF4-FFF2-40B4-BE49-F238E27FC236}">
                <a16:creationId xmlns:a16="http://schemas.microsoft.com/office/drawing/2014/main" id="{4D2B317C-CD51-A8D4-EF75-7F64CE5E5110}"/>
              </a:ext>
            </a:extLst>
          </p:cNvPr>
          <p:cNvSpPr txBox="1"/>
          <p:nvPr/>
        </p:nvSpPr>
        <p:spPr>
          <a:xfrm>
            <a:off x="3175868" y="5498653"/>
            <a:ext cx="5764328" cy="49770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4319"/>
              </a:lnSpc>
            </a:pPr>
            <a:r>
              <a:rPr lang="en-US" sz="2800" dirty="0">
                <a:solidFill>
                  <a:srgbClr val="C00000"/>
                </a:solidFill>
                <a:latin typeface="Times New Roman Bold"/>
                <a:ea typeface="Times New Roman Bold"/>
                <a:cs typeface="Times New Roman Bold"/>
                <a:sym typeface="Times New Roman Bold"/>
              </a:rPr>
              <a:t>Professor: 	T Senthil Kumar(CSE)</a:t>
            </a:r>
          </a:p>
        </p:txBody>
      </p:sp>
    </p:spTree>
    <p:extLst>
      <p:ext uri="{BB962C8B-B14F-4D97-AF65-F5344CB8AC3E}">
        <p14:creationId xmlns:p14="http://schemas.microsoft.com/office/powerpoint/2010/main" val="4001134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42142" y="224886"/>
            <a:ext cx="4296076"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1289982"/>
            <a:ext cx="1151096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00000"/>
              </a:lnSpc>
              <a:spcBef>
                <a:spcPct val="0"/>
              </a:spcBef>
              <a:spcAft>
                <a:spcPct val="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Current methods for monitoring crop health and managing agricultural spraying are often in efficient and labor-intensive, leading to suboptimal crop yields and increased pesticide use. There is a need for an advanced system that combines machine learning and drone technology to detect anomalies in crop health early and automate the creation of precise, customized flight paths for treatment. This will address issues of inefficiency, high operational costs, and environmental impact in modern agriculture.</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468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BF420705-DB4A-2B41-A2C8-13E6F8D4D0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2320" y="0"/>
            <a:ext cx="2875280" cy="6065501"/>
          </a:xfrm>
          <a:prstGeom prst="rect">
            <a:avLst/>
          </a:prstGeom>
        </p:spPr>
      </p:pic>
      <p:pic>
        <p:nvPicPr>
          <p:cNvPr id="7" name="Picture 6">
            <a:extLst>
              <a:ext uri="{FF2B5EF4-FFF2-40B4-BE49-F238E27FC236}">
                <a16:creationId xmlns:a16="http://schemas.microsoft.com/office/drawing/2014/main" id="{EAF49818-5172-37E1-532A-66850344DA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6000" y="0"/>
            <a:ext cx="2875280" cy="6065499"/>
          </a:xfrm>
          <a:prstGeom prst="rect">
            <a:avLst/>
          </a:prstGeom>
        </p:spPr>
      </p:pic>
      <p:pic>
        <p:nvPicPr>
          <p:cNvPr id="9" name="Picture 8">
            <a:extLst>
              <a:ext uri="{FF2B5EF4-FFF2-40B4-BE49-F238E27FC236}">
                <a16:creationId xmlns:a16="http://schemas.microsoft.com/office/drawing/2014/main" id="{28741BBE-8458-3373-B122-DEF71874D8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6360" y="-2"/>
            <a:ext cx="2875280" cy="6065499"/>
          </a:xfrm>
          <a:prstGeom prst="rect">
            <a:avLst/>
          </a:prstGeom>
        </p:spPr>
      </p:pic>
      <p:pic>
        <p:nvPicPr>
          <p:cNvPr id="14" name="Picture 13">
            <a:extLst>
              <a:ext uri="{FF2B5EF4-FFF2-40B4-BE49-F238E27FC236}">
                <a16:creationId xmlns:a16="http://schemas.microsoft.com/office/drawing/2014/main" id="{9BFCADED-1C0B-CFC6-62CF-B3CB224B16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6720" y="-1"/>
            <a:ext cx="2875280" cy="6065499"/>
          </a:xfrm>
          <a:prstGeom prst="rect">
            <a:avLst/>
          </a:prstGeom>
        </p:spPr>
      </p:pic>
      <p:sp>
        <p:nvSpPr>
          <p:cNvPr id="15" name="TextBox 14">
            <a:extLst>
              <a:ext uri="{FF2B5EF4-FFF2-40B4-BE49-F238E27FC236}">
                <a16:creationId xmlns:a16="http://schemas.microsoft.com/office/drawing/2014/main" id="{1B8EB5A1-750C-FDB7-6FED-3C268AE83F87}"/>
              </a:ext>
            </a:extLst>
          </p:cNvPr>
          <p:cNvSpPr txBox="1"/>
          <p:nvPr/>
        </p:nvSpPr>
        <p:spPr>
          <a:xfrm>
            <a:off x="121920" y="78092"/>
            <a:ext cx="645160" cy="5909310"/>
          </a:xfrm>
          <a:prstGeom prst="rect">
            <a:avLst/>
          </a:prstGeom>
          <a:noFill/>
        </p:spPr>
        <p:txBody>
          <a:bodyPr wrap="square" rtlCol="0">
            <a:spAutoFit/>
          </a:bodyPr>
          <a:lstStyle/>
          <a:p>
            <a:pPr algn="ctr"/>
            <a:r>
              <a:rPr lang="en-IN" sz="5400" b="1" dirty="0"/>
              <a:t>H</a:t>
            </a:r>
          </a:p>
          <a:p>
            <a:pPr algn="ctr"/>
            <a:r>
              <a:rPr lang="en-IN" sz="5400" b="1" dirty="0"/>
              <a:t>E</a:t>
            </a:r>
          </a:p>
          <a:p>
            <a:pPr algn="ctr"/>
            <a:r>
              <a:rPr lang="en-IN" sz="5400" b="1" dirty="0"/>
              <a:t>A</a:t>
            </a:r>
          </a:p>
          <a:p>
            <a:pPr algn="ctr"/>
            <a:r>
              <a:rPr lang="en-IN" sz="5400" b="1" dirty="0"/>
              <a:t>L</a:t>
            </a:r>
          </a:p>
          <a:p>
            <a:pPr algn="ctr"/>
            <a:r>
              <a:rPr lang="en-IN" sz="5400" b="1" dirty="0"/>
              <a:t>T</a:t>
            </a:r>
          </a:p>
          <a:p>
            <a:pPr algn="ctr"/>
            <a:r>
              <a:rPr lang="en-IN" sz="5400" b="1" dirty="0"/>
              <a:t>H</a:t>
            </a:r>
          </a:p>
          <a:p>
            <a:pPr algn="ctr"/>
            <a:r>
              <a:rPr lang="en-IN" sz="5400" b="1" dirty="0"/>
              <a:t>Y</a:t>
            </a:r>
          </a:p>
        </p:txBody>
      </p:sp>
    </p:spTree>
    <p:extLst>
      <p:ext uri="{BB962C8B-B14F-4D97-AF65-F5344CB8AC3E}">
        <p14:creationId xmlns:p14="http://schemas.microsoft.com/office/powerpoint/2010/main" val="3525479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7F4BB8-18D1-C5D3-978A-B3C9B1E9A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91840"/>
            <a:ext cx="6452565" cy="2773362"/>
          </a:xfrm>
          <a:prstGeom prst="rect">
            <a:avLst/>
          </a:prstGeom>
        </p:spPr>
      </p:pic>
      <p:pic>
        <p:nvPicPr>
          <p:cNvPr id="5" name="Content Placeholder 4">
            <a:extLst>
              <a:ext uri="{FF2B5EF4-FFF2-40B4-BE49-F238E27FC236}">
                <a16:creationId xmlns:a16="http://schemas.microsoft.com/office/drawing/2014/main" id="{46607719-5EB5-8AFA-A3E2-67A3BB00D34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6452565" cy="3262452"/>
          </a:xfrm>
        </p:spPr>
      </p:pic>
      <p:pic>
        <p:nvPicPr>
          <p:cNvPr id="9" name="Picture 8">
            <a:extLst>
              <a:ext uri="{FF2B5EF4-FFF2-40B4-BE49-F238E27FC236}">
                <a16:creationId xmlns:a16="http://schemas.microsoft.com/office/drawing/2014/main" id="{F099DEA2-92B5-E6B7-83B4-2C76311D49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2565" y="0"/>
            <a:ext cx="3509560" cy="6065202"/>
          </a:xfrm>
          <a:prstGeom prst="rect">
            <a:avLst/>
          </a:prstGeom>
        </p:spPr>
      </p:pic>
      <p:sp>
        <p:nvSpPr>
          <p:cNvPr id="10" name="TextBox 9">
            <a:extLst>
              <a:ext uri="{FF2B5EF4-FFF2-40B4-BE49-F238E27FC236}">
                <a16:creationId xmlns:a16="http://schemas.microsoft.com/office/drawing/2014/main" id="{2CA105D6-BFD1-E5A1-5F8A-872FDEB875E7}"/>
              </a:ext>
            </a:extLst>
          </p:cNvPr>
          <p:cNvSpPr txBox="1"/>
          <p:nvPr/>
        </p:nvSpPr>
        <p:spPr>
          <a:xfrm>
            <a:off x="10231120" y="216445"/>
            <a:ext cx="1503680" cy="5632311"/>
          </a:xfrm>
          <a:prstGeom prst="rect">
            <a:avLst/>
          </a:prstGeom>
          <a:noFill/>
        </p:spPr>
        <p:txBody>
          <a:bodyPr wrap="square" rtlCol="0">
            <a:spAutoFit/>
          </a:bodyPr>
          <a:lstStyle/>
          <a:p>
            <a:pPr algn="ctr"/>
            <a:r>
              <a:rPr lang="en-IN" sz="6000" b="1" dirty="0">
                <a:solidFill>
                  <a:srgbClr val="FF0000"/>
                </a:solidFill>
              </a:rPr>
              <a:t>R</a:t>
            </a:r>
          </a:p>
          <a:p>
            <a:pPr algn="ctr"/>
            <a:r>
              <a:rPr lang="en-IN" sz="6000" b="1" dirty="0">
                <a:solidFill>
                  <a:srgbClr val="FF0000"/>
                </a:solidFill>
              </a:rPr>
              <a:t>E</a:t>
            </a:r>
          </a:p>
          <a:p>
            <a:pPr algn="ctr"/>
            <a:r>
              <a:rPr lang="en-IN" sz="6000" b="1" dirty="0">
                <a:solidFill>
                  <a:srgbClr val="FF0000"/>
                </a:solidFill>
              </a:rPr>
              <a:t>D</a:t>
            </a:r>
          </a:p>
          <a:p>
            <a:pPr algn="ctr"/>
            <a:r>
              <a:rPr lang="en-IN" sz="6000" b="1" dirty="0">
                <a:solidFill>
                  <a:srgbClr val="FF0000"/>
                </a:solidFill>
              </a:rPr>
              <a:t>R</a:t>
            </a:r>
          </a:p>
          <a:p>
            <a:pPr algn="ctr"/>
            <a:r>
              <a:rPr lang="en-IN" sz="6000" b="1" dirty="0">
                <a:solidFill>
                  <a:srgbClr val="FF0000"/>
                </a:solidFill>
              </a:rPr>
              <a:t>O</a:t>
            </a:r>
          </a:p>
          <a:p>
            <a:pPr algn="ctr"/>
            <a:r>
              <a:rPr lang="en-IN" sz="6000" b="1" dirty="0">
                <a:solidFill>
                  <a:srgbClr val="FF0000"/>
                </a:solidFill>
              </a:rPr>
              <a:t>T</a:t>
            </a:r>
          </a:p>
        </p:txBody>
      </p:sp>
    </p:spTree>
    <p:extLst>
      <p:ext uri="{BB962C8B-B14F-4D97-AF65-F5344CB8AC3E}">
        <p14:creationId xmlns:p14="http://schemas.microsoft.com/office/powerpoint/2010/main" val="37538511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D7F50F-0594-D1C9-AE5F-E33FD51B71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56760" y="0"/>
            <a:ext cx="7658382" cy="4307840"/>
          </a:xfrm>
        </p:spPr>
      </p:pic>
      <p:pic>
        <p:nvPicPr>
          <p:cNvPr id="7" name="Picture 6">
            <a:extLst>
              <a:ext uri="{FF2B5EF4-FFF2-40B4-BE49-F238E27FC236}">
                <a16:creationId xmlns:a16="http://schemas.microsoft.com/office/drawing/2014/main" id="{222F9AD6-0B13-6BF4-24D9-DD9C84CDC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56760" cy="6075680"/>
          </a:xfrm>
          <a:prstGeom prst="rect">
            <a:avLst/>
          </a:prstGeom>
        </p:spPr>
      </p:pic>
      <p:sp>
        <p:nvSpPr>
          <p:cNvPr id="10" name="TextBox 9">
            <a:extLst>
              <a:ext uri="{FF2B5EF4-FFF2-40B4-BE49-F238E27FC236}">
                <a16:creationId xmlns:a16="http://schemas.microsoft.com/office/drawing/2014/main" id="{91FE23F3-B2FE-DAE3-899B-D8AB81036C8C}"/>
              </a:ext>
            </a:extLst>
          </p:cNvPr>
          <p:cNvSpPr txBox="1"/>
          <p:nvPr/>
        </p:nvSpPr>
        <p:spPr>
          <a:xfrm>
            <a:off x="5788096" y="4480778"/>
            <a:ext cx="5273040" cy="1323439"/>
          </a:xfrm>
          <a:prstGeom prst="rect">
            <a:avLst/>
          </a:prstGeom>
          <a:noFill/>
        </p:spPr>
        <p:txBody>
          <a:bodyPr wrap="square" rtlCol="0">
            <a:spAutoFit/>
          </a:bodyPr>
          <a:lstStyle/>
          <a:p>
            <a:pPr algn="ctr"/>
            <a:r>
              <a:rPr lang="en-IN" sz="8000" b="1" cap="all" dirty="0"/>
              <a:t>mosaic</a:t>
            </a:r>
          </a:p>
        </p:txBody>
      </p:sp>
    </p:spTree>
    <p:extLst>
      <p:ext uri="{BB962C8B-B14F-4D97-AF65-F5344CB8AC3E}">
        <p14:creationId xmlns:p14="http://schemas.microsoft.com/office/powerpoint/2010/main" val="40761736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1A14A-84D5-E8CC-72D7-88B748D69E64}"/>
              </a:ext>
            </a:extLst>
          </p:cNvPr>
          <p:cNvSpPr>
            <a:spLocks noGrp="1"/>
          </p:cNvSpPr>
          <p:nvPr>
            <p:ph type="title"/>
          </p:nvPr>
        </p:nvSpPr>
        <p:spPr>
          <a:xfrm>
            <a:off x="0" y="0"/>
            <a:ext cx="10515600" cy="712559"/>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What is Computer Vision</a:t>
            </a:r>
          </a:p>
        </p:txBody>
      </p:sp>
      <p:sp>
        <p:nvSpPr>
          <p:cNvPr id="3" name="Content Placeholder 2">
            <a:extLst>
              <a:ext uri="{FF2B5EF4-FFF2-40B4-BE49-F238E27FC236}">
                <a16:creationId xmlns:a16="http://schemas.microsoft.com/office/drawing/2014/main" id="{0172EAC9-A880-C5C1-A4A8-F5CC6A456DCC}"/>
              </a:ext>
            </a:extLst>
          </p:cNvPr>
          <p:cNvSpPr>
            <a:spLocks noGrp="1"/>
          </p:cNvSpPr>
          <p:nvPr>
            <p:ph idx="1"/>
          </p:nvPr>
        </p:nvSpPr>
        <p:spPr>
          <a:xfrm>
            <a:off x="0" y="712559"/>
            <a:ext cx="12192000" cy="5412016"/>
          </a:xfrm>
        </p:spPr>
        <p:txBody>
          <a:bodyPr>
            <a:normAutofit/>
          </a:bodyPr>
          <a:lstStyle/>
          <a:p>
            <a:pPr>
              <a:lnSpc>
                <a:spcPct val="100000"/>
              </a:lnSpc>
            </a:pPr>
            <a:r>
              <a:rPr lang="en-US" sz="2000" b="1" dirty="0">
                <a:latin typeface="Times New Roman" panose="02020603050405020304" pitchFamily="18" charset="0"/>
                <a:cs typeface="Times New Roman" panose="02020603050405020304" pitchFamily="18" charset="0"/>
              </a:rPr>
              <a:t>Computer vision</a:t>
            </a:r>
            <a:r>
              <a:rPr lang="en-US" sz="2000" dirty="0">
                <a:latin typeface="Times New Roman" panose="02020603050405020304" pitchFamily="18" charset="0"/>
                <a:cs typeface="Times New Roman" panose="02020603050405020304" pitchFamily="18" charset="0"/>
              </a:rPr>
              <a:t> is a field of artificial intelligence (AI) that focuses on enabling computers and systems to interpret and understand visual data from the world around them. The goal of computer vision is to replicate the complex process of human vision and allow machines to analyze, process, and make decisions based on images or video. It combines techniques from image processing, machine learning, deep learning, and pattern recognition to solve various visual recognition tasks.</a:t>
            </a:r>
          </a:p>
          <a:p>
            <a:pPr>
              <a:lnSpc>
                <a:spcPct val="100000"/>
              </a:lnSpc>
            </a:pPr>
            <a:r>
              <a:rPr lang="en-US" sz="2000" b="1" dirty="0">
                <a:latin typeface="Times New Roman" panose="02020603050405020304" pitchFamily="18" charset="0"/>
                <a:cs typeface="Times New Roman" panose="02020603050405020304" pitchFamily="18" charset="0"/>
              </a:rPr>
              <a:t>Advantages of Computer Vision:</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Automation</a:t>
            </a:r>
            <a:r>
              <a:rPr lang="en-US" sz="2000" dirty="0">
                <a:latin typeface="Times New Roman" panose="02020603050405020304" pitchFamily="18" charset="0"/>
                <a:cs typeface="Times New Roman" panose="02020603050405020304" pitchFamily="18" charset="0"/>
              </a:rPr>
              <a:t>: Reduces human intervention in repetitive tasks.</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Accuracy</a:t>
            </a:r>
            <a:r>
              <a:rPr lang="en-US" sz="2000" dirty="0">
                <a:latin typeface="Times New Roman" panose="02020603050405020304" pitchFamily="18" charset="0"/>
                <a:cs typeface="Times New Roman" panose="02020603050405020304" pitchFamily="18" charset="0"/>
              </a:rPr>
              <a:t>: Increases precision and consistency in inspections.</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Real-Time Processing</a:t>
            </a:r>
            <a:r>
              <a:rPr lang="en-US" sz="2000" dirty="0">
                <a:latin typeface="Times New Roman" panose="02020603050405020304" pitchFamily="18" charset="0"/>
                <a:cs typeface="Times New Roman" panose="02020603050405020304" pitchFamily="18" charset="0"/>
              </a:rPr>
              <a:t>: Analyzes visual data instantly for timely decisions.</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Data Extraction</a:t>
            </a:r>
            <a:r>
              <a:rPr lang="en-US" sz="2000" dirty="0">
                <a:latin typeface="Times New Roman" panose="02020603050405020304" pitchFamily="18" charset="0"/>
                <a:cs typeface="Times New Roman" panose="02020603050405020304" pitchFamily="18" charset="0"/>
              </a:rPr>
              <a:t>: Identifies and interprets objects, faces, and gestures.</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Enhanced Safety</a:t>
            </a:r>
            <a:r>
              <a:rPr lang="en-US" sz="2000" dirty="0">
                <a:latin typeface="Times New Roman" panose="02020603050405020304" pitchFamily="18" charset="0"/>
                <a:cs typeface="Times New Roman" panose="02020603050405020304" pitchFamily="18" charset="0"/>
              </a:rPr>
              <a:t>: Improves safety in applications like autonomous vehicles and industrial monitoring.</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Versatile Applications</a:t>
            </a:r>
            <a:r>
              <a:rPr lang="en-US" sz="2000" dirty="0">
                <a:latin typeface="Times New Roman" panose="02020603050405020304" pitchFamily="18" charset="0"/>
                <a:cs typeface="Times New Roman" panose="02020603050405020304" pitchFamily="18" charset="0"/>
              </a:rPr>
              <a:t>: Applicable in healthcare, agriculture, retail, and security.</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Cost Efficiency</a:t>
            </a:r>
            <a:r>
              <a:rPr lang="en-US" sz="2000" dirty="0">
                <a:latin typeface="Times New Roman" panose="02020603050405020304" pitchFamily="18" charset="0"/>
                <a:cs typeface="Times New Roman" panose="02020603050405020304" pitchFamily="18" charset="0"/>
              </a:rPr>
              <a:t>: Lowers costs associated with manual monitoring and inspections.</a:t>
            </a:r>
          </a:p>
          <a:p>
            <a:pPr marL="914389" lvl="1" indent="-457200">
              <a:lnSpc>
                <a:spcPct val="100000"/>
              </a:lnSpc>
              <a:buFont typeface="+mj-lt"/>
              <a:buAutoNum type="arabicPeriod"/>
            </a:pPr>
            <a:r>
              <a:rPr lang="en-US" sz="2000" b="1" dirty="0">
                <a:latin typeface="Times New Roman" panose="02020603050405020304" pitchFamily="18" charset="0"/>
                <a:cs typeface="Times New Roman" panose="02020603050405020304" pitchFamily="18" charset="0"/>
              </a:rPr>
              <a:t>Scalability</a:t>
            </a:r>
            <a:r>
              <a:rPr lang="en-US" sz="2000" dirty="0">
                <a:latin typeface="Times New Roman" panose="02020603050405020304" pitchFamily="18" charset="0"/>
                <a:cs typeface="Times New Roman" panose="02020603050405020304" pitchFamily="18" charset="0"/>
              </a:rPr>
              <a:t>: Handles large volumes of visual data efficiently.</a:t>
            </a:r>
          </a:p>
          <a:p>
            <a:pPr>
              <a:lnSpc>
                <a:spcPct val="100000"/>
              </a:lnSpc>
            </a:pPr>
            <a:endParaRPr lang="en-US" sz="1600" dirty="0">
              <a:latin typeface="Times New Roman" panose="02020603050405020304" pitchFamily="18" charset="0"/>
              <a:cs typeface="Times New Roman" panose="02020603050405020304" pitchFamily="18" charset="0"/>
            </a:endParaRPr>
          </a:p>
          <a:p>
            <a:pPr>
              <a:lnSpc>
                <a:spcPct val="100000"/>
              </a:lnSpc>
            </a:pPr>
            <a:endParaRPr lang="en-US" sz="1600" dirty="0">
              <a:latin typeface="Times New Roman" panose="02020603050405020304" pitchFamily="18" charset="0"/>
              <a:cs typeface="Times New Roman" panose="02020603050405020304" pitchFamily="18" charset="0"/>
            </a:endParaRPr>
          </a:p>
          <a:p>
            <a:pPr>
              <a:lnSpc>
                <a:spcPct val="10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534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0" y="0"/>
            <a:ext cx="10515600" cy="1325563"/>
          </a:xfrm>
        </p:spPr>
        <p:txBody>
          <a:bodyPr/>
          <a:lstStyle/>
          <a:p>
            <a:r>
              <a:rPr lang="en-US" b="1" dirty="0">
                <a:solidFill>
                  <a:srgbClr val="CC0066"/>
                </a:solidFill>
                <a:latin typeface="Times New Roman" panose="02020603050405020304" pitchFamily="18" charset="0"/>
                <a:cs typeface="Times New Roman" panose="02020603050405020304" pitchFamily="18" charset="0"/>
              </a:rPr>
              <a:t>Deep learning with computer vision</a:t>
            </a:r>
            <a:endParaRPr lang="en-IN" dirty="0"/>
          </a:p>
        </p:txBody>
      </p:sp>
      <p:sp>
        <p:nvSpPr>
          <p:cNvPr id="3" name="Content Placeholder 2">
            <a:extLst>
              <a:ext uri="{FF2B5EF4-FFF2-40B4-BE49-F238E27FC236}">
                <a16:creationId xmlns:a16="http://schemas.microsoft.com/office/drawing/2014/main" id="{CEB6C18F-C63F-D28A-639D-A74389859E66}"/>
              </a:ext>
            </a:extLst>
          </p:cNvPr>
          <p:cNvSpPr>
            <a:spLocks noGrp="1"/>
          </p:cNvSpPr>
          <p:nvPr>
            <p:ph idx="1"/>
          </p:nvPr>
        </p:nvSpPr>
        <p:spPr>
          <a:xfrm>
            <a:off x="838200" y="1253331"/>
            <a:ext cx="10515600" cy="4351338"/>
          </a:xfrm>
        </p:spPr>
        <p:txBody>
          <a:bodyPr>
            <a:normAutofit lnSpcReduction="10000"/>
          </a:bodyPr>
          <a:lstStyle/>
          <a:p>
            <a:pPr>
              <a:lnSpc>
                <a:spcPct val="100000"/>
              </a:lnSpc>
            </a:pPr>
            <a:r>
              <a:rPr lang="en-US" dirty="0">
                <a:latin typeface="Times New Roman" panose="02020603050405020304" pitchFamily="18" charset="0"/>
                <a:cs typeface="Times New Roman" panose="02020603050405020304" pitchFamily="18" charset="0"/>
              </a:rPr>
              <a:t>Deep learning is a subset of machine learning that focuses on using artificial neural networks to model and solve complex patterns or tasks. These networks are called "deep" because they consist of multiple layers, each made up of interconnected nodes (also known as neurons). </a:t>
            </a:r>
          </a:p>
          <a:p>
            <a:pPr>
              <a:lnSpc>
                <a:spcPct val="100000"/>
              </a:lnSpc>
            </a:pPr>
            <a:r>
              <a:rPr lang="en-US" dirty="0">
                <a:latin typeface="Times New Roman" panose="02020603050405020304" pitchFamily="18" charset="0"/>
                <a:cs typeface="Times New Roman" panose="02020603050405020304" pitchFamily="18" charset="0"/>
              </a:rPr>
              <a:t>Computer vision is a field of artificial intelligence that enables computers to interpret and understand visual information from the world, such as images and videos.</a:t>
            </a:r>
          </a:p>
          <a:p>
            <a:pPr>
              <a:lnSpc>
                <a:spcPct val="100000"/>
              </a:lnSpc>
            </a:pPr>
            <a:r>
              <a:rPr lang="en-US" dirty="0">
                <a:latin typeface="Times New Roman" panose="02020603050405020304" pitchFamily="18" charset="0"/>
                <a:cs typeface="Times New Roman" panose="02020603050405020304" pitchFamily="18" charset="0"/>
              </a:rPr>
              <a:t>Hence when we use a multi layered neural network with visual data it becomes deep learning with computer vision.</a:t>
            </a:r>
          </a:p>
        </p:txBody>
      </p:sp>
    </p:spTree>
    <p:extLst>
      <p:ext uri="{BB962C8B-B14F-4D97-AF65-F5344CB8AC3E}">
        <p14:creationId xmlns:p14="http://schemas.microsoft.com/office/powerpoint/2010/main" val="16516080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0" y="0"/>
            <a:ext cx="10515600" cy="1325563"/>
          </a:xfrm>
        </p:spPr>
        <p:txBody>
          <a:bodyPr/>
          <a:lstStyle/>
          <a:p>
            <a:r>
              <a:rPr lang="en-IN" b="1" dirty="0">
                <a:solidFill>
                  <a:srgbClr val="CC0066"/>
                </a:solidFill>
              </a:rPr>
              <a:t>Literature survey on RCNN model</a:t>
            </a:r>
          </a:p>
        </p:txBody>
      </p:sp>
      <p:sp>
        <p:nvSpPr>
          <p:cNvPr id="3" name="Content Placeholder 2">
            <a:extLst>
              <a:ext uri="{FF2B5EF4-FFF2-40B4-BE49-F238E27FC236}">
                <a16:creationId xmlns:a16="http://schemas.microsoft.com/office/drawing/2014/main" id="{CEB6C18F-C63F-D28A-639D-A74389859E66}"/>
              </a:ext>
            </a:extLst>
          </p:cNvPr>
          <p:cNvSpPr>
            <a:spLocks noGrp="1"/>
          </p:cNvSpPr>
          <p:nvPr>
            <p:ph idx="1"/>
          </p:nvPr>
        </p:nvSpPr>
        <p:spPr>
          <a:xfrm>
            <a:off x="407377" y="1099038"/>
            <a:ext cx="11377246" cy="5077925"/>
          </a:xfrm>
        </p:spPr>
        <p:txBody>
          <a:bodyPr>
            <a:normAutofit/>
          </a:bodyPr>
          <a:lstStyle/>
          <a:p>
            <a:pPr marL="0" indent="0">
              <a:lnSpc>
                <a:spcPct val="100000"/>
              </a:lnSpc>
              <a:buNone/>
            </a:pPr>
            <a:r>
              <a:rPr lang="en-US" b="1" i="1" dirty="0">
                <a:latin typeface="Times New Roman" panose="02020603050405020304" pitchFamily="18" charset="0"/>
                <a:cs typeface="Times New Roman" panose="02020603050405020304" pitchFamily="18" charset="0"/>
              </a:rPr>
              <a:t>1. UAV Sensing-Based Litchi Segmentation Using Modified Mask-             RCNN for Precision Agriculture (</a:t>
            </a:r>
            <a:r>
              <a:rPr lang="en-IN" b="1" i="1" dirty="0">
                <a:solidFill>
                  <a:schemeClr val="accent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IEEE Xplore Full-Text PDF:</a:t>
            </a:r>
            <a:r>
              <a:rPr lang="en-US" b="1" i="1" dirty="0">
                <a:latin typeface="Times New Roman" panose="02020603050405020304" pitchFamily="18" charset="0"/>
                <a:cs typeface="Times New Roman" panose="02020603050405020304" pitchFamily="18" charset="0"/>
              </a:rPr>
              <a:t>)</a:t>
            </a:r>
          </a:p>
          <a:p>
            <a:pPr marL="457189" lvl="1" indent="0">
              <a:lnSpc>
                <a:spcPct val="100000"/>
              </a:lnSpc>
              <a:buNone/>
            </a:pPr>
            <a:r>
              <a:rPr lang="en-US" dirty="0">
                <a:latin typeface="Times New Roman" panose="02020603050405020304" pitchFamily="18" charset="0"/>
                <a:cs typeface="Times New Roman" panose="02020603050405020304" pitchFamily="18" charset="0"/>
              </a:rPr>
              <a:t>This paper talks about counting litchi using a UAV by flying over the litchi trees.</a:t>
            </a:r>
          </a:p>
          <a:p>
            <a:pPr lvl="1">
              <a:lnSpc>
                <a:spcPct val="1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Drone used: DJI Phantom 4</a:t>
            </a:r>
          </a:p>
          <a:p>
            <a:pPr lvl="1">
              <a:lnSpc>
                <a:spcPct val="1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Dataset: 10000 images</a:t>
            </a:r>
          </a:p>
          <a:p>
            <a:pPr lvl="1">
              <a:lnSpc>
                <a:spcPct val="1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No. of Annotations: 31000</a:t>
            </a:r>
          </a:p>
          <a:p>
            <a:pPr lvl="1">
              <a:lnSpc>
                <a:spcPct val="10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Data-split: 70:20:10 = Train : Valid : Test</a:t>
            </a:r>
          </a:p>
          <a:p>
            <a:pPr marL="0" indent="0">
              <a:lnSpc>
                <a:spcPct val="100000"/>
              </a:lnSpc>
              <a:buNone/>
            </a:pPr>
            <a:endParaRPr lang="en-US" b="1" dirty="0">
              <a:latin typeface="Times New Roman" panose="02020603050405020304" pitchFamily="18" charset="0"/>
              <a:cs typeface="Times New Roman" panose="02020603050405020304" pitchFamily="18" charset="0"/>
            </a:endParaRPr>
          </a:p>
          <a:p>
            <a:pPr marL="514350" indent="-514350">
              <a:lnSpc>
                <a:spcPct val="100000"/>
              </a:lnSpc>
              <a:buFont typeface="+mj-lt"/>
              <a:buAutoNum type="arabicPeriod"/>
            </a:pPr>
            <a:endParaRPr lang="en-US" dirty="0">
              <a:latin typeface="Times New Roman" panose="02020603050405020304" pitchFamily="18" charset="0"/>
              <a:cs typeface="Times New Roman" panose="02020603050405020304" pitchFamily="18" charset="0"/>
            </a:endParaRPr>
          </a:p>
          <a:p>
            <a:pPr>
              <a:lnSpc>
                <a:spcPct val="10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2457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0" y="0"/>
            <a:ext cx="10515600" cy="1325563"/>
          </a:xfrm>
        </p:spPr>
        <p:txBody>
          <a:bodyPr/>
          <a:lstStyle/>
          <a:p>
            <a:r>
              <a:rPr lang="en-IN" b="1" dirty="0">
                <a:solidFill>
                  <a:srgbClr val="CC0066"/>
                </a:solidFill>
              </a:rPr>
              <a:t>Literature survey on RCNN model</a:t>
            </a:r>
          </a:p>
        </p:txBody>
      </p:sp>
      <p:sp>
        <p:nvSpPr>
          <p:cNvPr id="3" name="Content Placeholder 2">
            <a:extLst>
              <a:ext uri="{FF2B5EF4-FFF2-40B4-BE49-F238E27FC236}">
                <a16:creationId xmlns:a16="http://schemas.microsoft.com/office/drawing/2014/main" id="{CEB6C18F-C63F-D28A-639D-A74389859E66}"/>
              </a:ext>
            </a:extLst>
          </p:cNvPr>
          <p:cNvSpPr>
            <a:spLocks noGrp="1"/>
          </p:cNvSpPr>
          <p:nvPr>
            <p:ph idx="1"/>
          </p:nvPr>
        </p:nvSpPr>
        <p:spPr>
          <a:xfrm>
            <a:off x="687265" y="1213339"/>
            <a:ext cx="10817469" cy="4981209"/>
          </a:xfrm>
        </p:spPr>
        <p:txBody>
          <a:bodyPr>
            <a:normAutofit/>
          </a:bodyPr>
          <a:lstStyle/>
          <a:p>
            <a:pPr marL="0" indent="0">
              <a:lnSpc>
                <a:spcPct val="100000"/>
              </a:lnSpc>
              <a:buNone/>
            </a:pPr>
            <a:r>
              <a:rPr lang="en-US" b="1" i="1" dirty="0">
                <a:latin typeface="Times New Roman" panose="02020603050405020304" pitchFamily="18" charset="0"/>
                <a:cs typeface="Times New Roman" panose="02020603050405020304" pitchFamily="18" charset="0"/>
              </a:rPr>
              <a:t>2. Soybean Disease Detection and Segmentation Based on Mask-RCNN Algorithm (</a:t>
            </a:r>
            <a:r>
              <a:rPr lang="en-US" b="1" i="1" dirty="0">
                <a:latin typeface="Times New Roman" panose="02020603050405020304" pitchFamily="18" charset="0"/>
                <a:cs typeface="Times New Roman" panose="02020603050405020304" pitchFamily="18" charset="0"/>
                <a:hlinkClick r:id="rId2"/>
              </a:rPr>
              <a:t>https://rb.gy/0mtd97</a:t>
            </a:r>
            <a:r>
              <a:rPr lang="en-US" b="1" i="1" dirty="0">
                <a:latin typeface="Times New Roman" panose="02020603050405020304" pitchFamily="18" charset="0"/>
                <a:cs typeface="Times New Roman" panose="02020603050405020304" pitchFamily="18" charset="0"/>
              </a:rPr>
              <a:t>)</a:t>
            </a:r>
          </a:p>
          <a:p>
            <a:pPr marL="457189" lvl="1" indent="0">
              <a:lnSpc>
                <a:spcPct val="100000"/>
              </a:lnSpc>
              <a:buNone/>
            </a:pPr>
            <a:r>
              <a:rPr lang="en-US" dirty="0">
                <a:latin typeface="Times New Roman" panose="02020603050405020304" pitchFamily="18" charset="0"/>
                <a:cs typeface="Times New Roman" panose="02020603050405020304" pitchFamily="18" charset="0"/>
              </a:rPr>
              <a:t>This paper talks about identifying soybean disease and segmentation of the images. the selected soybean disease detection and segmentation was done based on the Mask R-CNN algorithm with the backbone ResNet50.</a:t>
            </a:r>
          </a:p>
          <a:p>
            <a:pPr marL="457189" lvl="1" indent="0">
              <a:lnSpc>
                <a:spcPct val="100000"/>
              </a:lnSpc>
              <a:buNone/>
            </a:pPr>
            <a:r>
              <a:rPr lang="en-US" i="1" dirty="0">
                <a:latin typeface="Times New Roman" panose="02020603050405020304" pitchFamily="18" charset="0"/>
                <a:cs typeface="Times New Roman" panose="02020603050405020304" pitchFamily="18" charset="0"/>
              </a:rPr>
              <a:t>No of epochs: 80</a:t>
            </a:r>
          </a:p>
          <a:p>
            <a:pPr marL="457189" lvl="1" indent="0">
              <a:lnSpc>
                <a:spcPct val="100000"/>
              </a:lnSpc>
              <a:buNone/>
            </a:pPr>
            <a:r>
              <a:rPr lang="en-US" i="1" dirty="0">
                <a:latin typeface="Times New Roman" panose="02020603050405020304" pitchFamily="18" charset="0"/>
                <a:cs typeface="Times New Roman" panose="02020603050405020304" pitchFamily="18" charset="0"/>
              </a:rPr>
              <a:t>Learning rate: 0.001</a:t>
            </a:r>
          </a:p>
          <a:p>
            <a:pPr marL="457189" lvl="1" indent="0">
              <a:lnSpc>
                <a:spcPct val="100000"/>
              </a:lnSpc>
              <a:buNone/>
            </a:pPr>
            <a:endParaRPr lang="en-US" i="1" dirty="0">
              <a:latin typeface="Times New Roman" panose="02020603050405020304" pitchFamily="18" charset="0"/>
              <a:cs typeface="Times New Roman" panose="02020603050405020304" pitchFamily="18" charset="0"/>
            </a:endParaRPr>
          </a:p>
          <a:p>
            <a:pPr marL="0" indent="0">
              <a:lnSpc>
                <a:spcPct val="100000"/>
              </a:lnSpc>
              <a:buNone/>
            </a:pPr>
            <a:endParaRPr lang="en-US" b="1" i="1" dirty="0">
              <a:latin typeface="Times New Roman" panose="02020603050405020304" pitchFamily="18" charset="0"/>
              <a:cs typeface="Times New Roman" panose="02020603050405020304" pitchFamily="18" charset="0"/>
            </a:endParaRPr>
          </a:p>
          <a:p>
            <a:pPr marL="0" indent="0">
              <a:lnSpc>
                <a:spcPct val="100000"/>
              </a:lnSpc>
              <a:buNone/>
            </a:pPr>
            <a:endParaRPr lang="en-US" b="1"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7102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C2A926-D17C-39DA-0DC1-BA4234F2197A}"/>
              </a:ext>
            </a:extLst>
          </p:cNvPr>
          <p:cNvPicPr>
            <a:picLocks noGrp="1" noChangeAspect="1"/>
          </p:cNvPicPr>
          <p:nvPr>
            <p:ph idx="1"/>
          </p:nvPr>
        </p:nvPicPr>
        <p:blipFill>
          <a:blip r:embed="rId2"/>
          <a:stretch>
            <a:fillRect/>
          </a:stretch>
        </p:blipFill>
        <p:spPr>
          <a:xfrm>
            <a:off x="0" y="175839"/>
            <a:ext cx="12192000" cy="5842000"/>
          </a:xfrm>
        </p:spPr>
      </p:pic>
    </p:spTree>
    <p:extLst>
      <p:ext uri="{BB962C8B-B14F-4D97-AF65-F5344CB8AC3E}">
        <p14:creationId xmlns:p14="http://schemas.microsoft.com/office/powerpoint/2010/main" val="1360172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395654" y="0"/>
            <a:ext cx="10515600" cy="1325563"/>
          </a:xfrm>
        </p:spPr>
        <p:txBody>
          <a:bodyPr/>
          <a:lstStyle/>
          <a:p>
            <a:r>
              <a:rPr lang="en-IN" b="1" dirty="0">
                <a:solidFill>
                  <a:srgbClr val="B6114D"/>
                </a:solidFill>
              </a:rPr>
              <a:t>Masked RCNN</a:t>
            </a:r>
          </a:p>
        </p:txBody>
      </p:sp>
      <p:sp>
        <p:nvSpPr>
          <p:cNvPr id="3" name="Content Placeholder 2">
            <a:extLst>
              <a:ext uri="{FF2B5EF4-FFF2-40B4-BE49-F238E27FC236}">
                <a16:creationId xmlns:a16="http://schemas.microsoft.com/office/drawing/2014/main" id="{CEB6C18F-C63F-D28A-639D-A74389859E66}"/>
              </a:ext>
            </a:extLst>
          </p:cNvPr>
          <p:cNvSpPr>
            <a:spLocks noGrp="1"/>
          </p:cNvSpPr>
          <p:nvPr>
            <p:ph idx="1"/>
          </p:nvPr>
        </p:nvSpPr>
        <p:spPr>
          <a:xfrm>
            <a:off x="237393" y="1186962"/>
            <a:ext cx="11649808" cy="4990001"/>
          </a:xfrm>
        </p:spPr>
        <p:txBody>
          <a:bodyPr>
            <a:normAutofit/>
          </a:bodyPr>
          <a:lstStyle/>
          <a:p>
            <a:pPr marL="0" indent="0">
              <a:lnSpc>
                <a:spcPct val="100000"/>
              </a:lnSpc>
              <a:buNone/>
            </a:pPr>
            <a:r>
              <a:rPr lang="en-US" sz="2400" dirty="0">
                <a:latin typeface="Times New Roman" panose="02020603050405020304" pitchFamily="18" charset="0"/>
                <a:cs typeface="Times New Roman" panose="02020603050405020304" pitchFamily="18" charset="0"/>
              </a:rPr>
              <a:t>Mask R-CNN is an advanced deep learning model designed for object detection and instance segmentation. It extends Faster R-CNN by adding a branch for predicting segmentation masks on each Region of Interest (</a:t>
            </a:r>
            <a:r>
              <a:rPr lang="en-US" sz="2400" dirty="0" err="1">
                <a:latin typeface="Times New Roman" panose="02020603050405020304" pitchFamily="18" charset="0"/>
                <a:cs typeface="Times New Roman" panose="02020603050405020304" pitchFamily="18" charset="0"/>
              </a:rPr>
              <a:t>RoI</a:t>
            </a:r>
            <a:r>
              <a:rPr lang="en-US" sz="2400" dirty="0">
                <a:latin typeface="Times New Roman" panose="02020603050405020304" pitchFamily="18" charset="0"/>
                <a:cs typeface="Times New Roman" panose="02020603050405020304" pitchFamily="18" charset="0"/>
              </a:rPr>
              <a:t>), in addition to the classification and bounding box regression tasks performed by Faster R-CNN.</a:t>
            </a:r>
          </a:p>
          <a:p>
            <a:pPr>
              <a:lnSpc>
                <a:spcPct val="100000"/>
              </a:lnSpc>
            </a:pPr>
            <a:r>
              <a:rPr lang="en-US" sz="2400" b="1" dirty="0">
                <a:latin typeface="Times New Roman" panose="02020603050405020304" pitchFamily="18" charset="0"/>
                <a:cs typeface="Times New Roman" panose="02020603050405020304" pitchFamily="18" charset="0"/>
              </a:rPr>
              <a:t>Key Features of Mask R-CNN:</a:t>
            </a:r>
          </a:p>
          <a:p>
            <a:pPr>
              <a:lnSpc>
                <a:spcPct val="100000"/>
              </a:lnSpc>
              <a:buFont typeface="+mj-lt"/>
              <a:buAutoNum type="arabicPeriod"/>
            </a:pPr>
            <a:r>
              <a:rPr lang="en-US" sz="2400" b="1" dirty="0">
                <a:latin typeface="Times New Roman" panose="02020603050405020304" pitchFamily="18" charset="0"/>
                <a:cs typeface="Times New Roman" panose="02020603050405020304" pitchFamily="18" charset="0"/>
              </a:rPr>
              <a:t>Object Detection</a:t>
            </a:r>
            <a:r>
              <a:rPr lang="en-US" sz="2400" dirty="0">
                <a:latin typeface="Times New Roman" panose="02020603050405020304" pitchFamily="18" charset="0"/>
                <a:cs typeface="Times New Roman" panose="02020603050405020304" pitchFamily="18" charset="0"/>
              </a:rPr>
              <a:t>: Like Faster R-CNN, Mask R-CNN detects objects in an image by generating bounding boxes around them and classifying each detected object.</a:t>
            </a:r>
          </a:p>
          <a:p>
            <a:pPr>
              <a:lnSpc>
                <a:spcPct val="100000"/>
              </a:lnSpc>
              <a:buFont typeface="+mj-lt"/>
              <a:buAutoNum type="arabicPeriod"/>
            </a:pPr>
            <a:r>
              <a:rPr lang="en-US" sz="2400" b="1" dirty="0">
                <a:latin typeface="Times New Roman" panose="02020603050405020304" pitchFamily="18" charset="0"/>
                <a:cs typeface="Times New Roman" panose="02020603050405020304" pitchFamily="18" charset="0"/>
              </a:rPr>
              <a:t>Instance Segmentation</a:t>
            </a:r>
            <a:r>
              <a:rPr lang="en-US" sz="2400" dirty="0">
                <a:latin typeface="Times New Roman" panose="02020603050405020304" pitchFamily="18" charset="0"/>
                <a:cs typeface="Times New Roman" panose="02020603050405020304" pitchFamily="18" charset="0"/>
              </a:rPr>
              <a:t>: In addition to detecting objects, Mask R-CNN adds a pixel-level mask for each object, allowing it to not only locate the object but also segment it out of the image. This is called "instance segmentation," where each object in the image is individually identified with a pixel-wise mask.</a:t>
            </a:r>
          </a:p>
          <a:p>
            <a:pPr marL="0" indent="0">
              <a:lnSpc>
                <a:spcPct val="10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0036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439615" y="142752"/>
            <a:ext cx="10515600" cy="1325563"/>
          </a:xfrm>
        </p:spPr>
        <p:txBody>
          <a:bodyPr/>
          <a:lstStyle/>
          <a:p>
            <a:r>
              <a:rPr lang="en-IN" b="1" dirty="0">
                <a:solidFill>
                  <a:srgbClr val="B6114D"/>
                </a:solidFill>
              </a:rPr>
              <a:t>Architecture of Mask R-CNN:</a:t>
            </a:r>
          </a:p>
        </p:txBody>
      </p:sp>
      <p:sp>
        <p:nvSpPr>
          <p:cNvPr id="3" name="Content Placeholder 2">
            <a:extLst>
              <a:ext uri="{FF2B5EF4-FFF2-40B4-BE49-F238E27FC236}">
                <a16:creationId xmlns:a16="http://schemas.microsoft.com/office/drawing/2014/main" id="{CEB6C18F-C63F-D28A-639D-A74389859E66}"/>
              </a:ext>
            </a:extLst>
          </p:cNvPr>
          <p:cNvSpPr>
            <a:spLocks noGrp="1"/>
          </p:cNvSpPr>
          <p:nvPr>
            <p:ph idx="1"/>
          </p:nvPr>
        </p:nvSpPr>
        <p:spPr>
          <a:xfrm>
            <a:off x="439615" y="1160585"/>
            <a:ext cx="10914185" cy="4695092"/>
          </a:xfrm>
        </p:spPr>
        <p:txBody>
          <a:bodyPr>
            <a:normAutofit fontScale="70000" lnSpcReduction="20000"/>
          </a:bodyPr>
          <a:lstStyle/>
          <a:p>
            <a:pPr>
              <a:lnSpc>
                <a:spcPct val="120000"/>
              </a:lnSpc>
            </a:pPr>
            <a:r>
              <a:rPr lang="en-US" dirty="0">
                <a:latin typeface="Times New Roman" panose="02020603050405020304" pitchFamily="18" charset="0"/>
                <a:cs typeface="Times New Roman" panose="02020603050405020304" pitchFamily="18" charset="0"/>
              </a:rPr>
              <a:t>Mask R-CNN follows a two-stage process:</a:t>
            </a:r>
          </a:p>
          <a:p>
            <a:pPr>
              <a:lnSpc>
                <a:spcPct val="120000"/>
              </a:lnSpc>
              <a:buFont typeface="+mj-lt"/>
              <a:buAutoNum type="arabicPeriod"/>
            </a:pPr>
            <a:r>
              <a:rPr lang="en-US" b="1" dirty="0">
                <a:latin typeface="Times New Roman" panose="02020603050405020304" pitchFamily="18" charset="0"/>
                <a:cs typeface="Times New Roman" panose="02020603050405020304" pitchFamily="18" charset="0"/>
              </a:rPr>
              <a:t>Region Proposal Network (RPN)</a:t>
            </a:r>
            <a:r>
              <a:rPr lang="en-US" dirty="0">
                <a:latin typeface="Times New Roman" panose="02020603050405020304" pitchFamily="18" charset="0"/>
                <a:cs typeface="Times New Roman" panose="02020603050405020304" pitchFamily="18" charset="0"/>
              </a:rPr>
              <a:t>:</a:t>
            </a:r>
          </a:p>
          <a:p>
            <a:pPr marL="742950" lvl="1" indent="-285750">
              <a:lnSpc>
                <a:spcPct val="120000"/>
              </a:lnSpc>
              <a:buFont typeface="+mj-lt"/>
              <a:buAutoNum type="arabicPeriod"/>
            </a:pPr>
            <a:r>
              <a:rPr lang="en-US" dirty="0">
                <a:latin typeface="Times New Roman" panose="02020603050405020304" pitchFamily="18" charset="0"/>
                <a:cs typeface="Times New Roman" panose="02020603050405020304" pitchFamily="18" charset="0"/>
              </a:rPr>
              <a:t>This is the same as in Faster R-CNN. The RPN scans the input image and proposes candidate regions (bounding boxes) where objects are likely to be located.</a:t>
            </a:r>
          </a:p>
          <a:p>
            <a:pPr>
              <a:lnSpc>
                <a:spcPct val="120000"/>
              </a:lnSpc>
              <a:buFont typeface="+mj-lt"/>
              <a:buAutoNum type="arabicPeriod"/>
            </a:pPr>
            <a:r>
              <a:rPr lang="en-US" b="1" dirty="0" err="1">
                <a:latin typeface="Times New Roman" panose="02020603050405020304" pitchFamily="18" charset="0"/>
                <a:cs typeface="Times New Roman" panose="02020603050405020304" pitchFamily="18" charset="0"/>
              </a:rPr>
              <a:t>RoI</a:t>
            </a:r>
            <a:r>
              <a:rPr lang="en-US" b="1" dirty="0">
                <a:latin typeface="Times New Roman" panose="02020603050405020304" pitchFamily="18" charset="0"/>
                <a:cs typeface="Times New Roman" panose="02020603050405020304" pitchFamily="18" charset="0"/>
              </a:rPr>
              <a:t> Align (Region of Interest Alignment)</a:t>
            </a:r>
            <a:r>
              <a:rPr lang="en-US" dirty="0">
                <a:latin typeface="Times New Roman" panose="02020603050405020304" pitchFamily="18" charset="0"/>
                <a:cs typeface="Times New Roman" panose="02020603050405020304" pitchFamily="18" charset="0"/>
              </a:rPr>
              <a:t>:</a:t>
            </a:r>
          </a:p>
          <a:p>
            <a:pPr marL="742950" lvl="1" indent="-285750">
              <a:lnSpc>
                <a:spcPct val="120000"/>
              </a:lnSpc>
              <a:buFont typeface="+mj-lt"/>
              <a:buAutoNum type="arabicPeriod"/>
            </a:pPr>
            <a:r>
              <a:rPr lang="en-US" dirty="0">
                <a:latin typeface="Times New Roman" panose="02020603050405020304" pitchFamily="18" charset="0"/>
                <a:cs typeface="Times New Roman" panose="02020603050405020304" pitchFamily="18" charset="0"/>
              </a:rPr>
              <a:t>In Faster R-CNN, </a:t>
            </a:r>
            <a:r>
              <a:rPr lang="en-US" dirty="0" err="1">
                <a:latin typeface="Times New Roman" panose="02020603050405020304" pitchFamily="18" charset="0"/>
                <a:cs typeface="Times New Roman" panose="02020603050405020304" pitchFamily="18" charset="0"/>
              </a:rPr>
              <a:t>RoIPool</a:t>
            </a:r>
            <a:r>
              <a:rPr lang="en-US" dirty="0">
                <a:latin typeface="Times New Roman" panose="02020603050405020304" pitchFamily="18" charset="0"/>
                <a:cs typeface="Times New Roman" panose="02020603050405020304" pitchFamily="18" charset="0"/>
              </a:rPr>
              <a:t> is used to map the proposed regions to a fixed size for further processing. Mask R-CNN introduces RoIAlign, which ensures that the regions are aligned more accurately without any quantization error during the pooling process. This significantly improves segmentation mask quality.</a:t>
            </a:r>
          </a:p>
          <a:p>
            <a:pPr>
              <a:lnSpc>
                <a:spcPct val="120000"/>
              </a:lnSpc>
              <a:buFont typeface="+mj-lt"/>
              <a:buAutoNum type="arabicPeriod"/>
            </a:pPr>
            <a:r>
              <a:rPr lang="en-US" b="1" dirty="0">
                <a:latin typeface="Times New Roman" panose="02020603050405020304" pitchFamily="18" charset="0"/>
                <a:cs typeface="Times New Roman" panose="02020603050405020304" pitchFamily="18" charset="0"/>
              </a:rPr>
              <a:t>Three Outputs</a:t>
            </a:r>
            <a:r>
              <a:rPr lang="en-US" dirty="0">
                <a:latin typeface="Times New Roman" panose="02020603050405020304" pitchFamily="18" charset="0"/>
                <a:cs typeface="Times New Roman" panose="02020603050405020304" pitchFamily="18" charset="0"/>
              </a:rPr>
              <a:t>:</a:t>
            </a:r>
          </a:p>
          <a:p>
            <a:pPr marL="742950" lvl="1" indent="-285750">
              <a:lnSpc>
                <a:spcPct val="120000"/>
              </a:lnSpc>
              <a:buFont typeface="+mj-lt"/>
              <a:buAutoNum type="arabicPeriod"/>
            </a:pPr>
            <a:r>
              <a:rPr lang="en-US" b="1" dirty="0">
                <a:latin typeface="Times New Roman" panose="02020603050405020304" pitchFamily="18" charset="0"/>
                <a:cs typeface="Times New Roman" panose="02020603050405020304" pitchFamily="18" charset="0"/>
              </a:rPr>
              <a:t>Classification</a:t>
            </a:r>
            <a:r>
              <a:rPr lang="en-US" dirty="0">
                <a:latin typeface="Times New Roman" panose="02020603050405020304" pitchFamily="18" charset="0"/>
                <a:cs typeface="Times New Roman" panose="02020603050405020304" pitchFamily="18" charset="0"/>
              </a:rPr>
              <a:t>: Determines the class of the object detected within each proposed region.</a:t>
            </a:r>
          </a:p>
          <a:p>
            <a:pPr marL="742950" lvl="1" indent="-285750">
              <a:lnSpc>
                <a:spcPct val="120000"/>
              </a:lnSpc>
              <a:buFont typeface="+mj-lt"/>
              <a:buAutoNum type="arabicPeriod"/>
            </a:pPr>
            <a:r>
              <a:rPr lang="en-US" b="1" dirty="0">
                <a:latin typeface="Times New Roman" panose="02020603050405020304" pitchFamily="18" charset="0"/>
                <a:cs typeface="Times New Roman" panose="02020603050405020304" pitchFamily="18" charset="0"/>
              </a:rPr>
              <a:t>Bounding Box Regression</a:t>
            </a:r>
            <a:r>
              <a:rPr lang="en-US" dirty="0">
                <a:latin typeface="Times New Roman" panose="02020603050405020304" pitchFamily="18" charset="0"/>
                <a:cs typeface="Times New Roman" panose="02020603050405020304" pitchFamily="18" charset="0"/>
              </a:rPr>
              <a:t>: Refines the bounding box for more accurate localization of the object.</a:t>
            </a:r>
          </a:p>
          <a:p>
            <a:pPr marL="742950" lvl="1" indent="-285750">
              <a:lnSpc>
                <a:spcPct val="120000"/>
              </a:lnSpc>
              <a:buFont typeface="+mj-lt"/>
              <a:buAutoNum type="arabicPeriod"/>
            </a:pPr>
            <a:r>
              <a:rPr lang="en-US" b="1" dirty="0">
                <a:latin typeface="Times New Roman" panose="02020603050405020304" pitchFamily="18" charset="0"/>
                <a:cs typeface="Times New Roman" panose="02020603050405020304" pitchFamily="18" charset="0"/>
              </a:rPr>
              <a:t>Mask Prediction</a:t>
            </a:r>
            <a:r>
              <a:rPr lang="en-US" dirty="0">
                <a:latin typeface="Times New Roman" panose="02020603050405020304" pitchFamily="18" charset="0"/>
                <a:cs typeface="Times New Roman" panose="02020603050405020304" pitchFamily="18" charset="0"/>
              </a:rPr>
              <a:t>: A third branch predicts a binary mask for each </a:t>
            </a:r>
            <a:r>
              <a:rPr lang="en-US" dirty="0" err="1">
                <a:latin typeface="Times New Roman" panose="02020603050405020304" pitchFamily="18" charset="0"/>
                <a:cs typeface="Times New Roman" panose="02020603050405020304" pitchFamily="18" charset="0"/>
              </a:rPr>
              <a:t>RoI</a:t>
            </a:r>
            <a:r>
              <a:rPr lang="en-US" dirty="0">
                <a:latin typeface="Times New Roman" panose="02020603050405020304" pitchFamily="18" charset="0"/>
                <a:cs typeface="Times New Roman" panose="02020603050405020304" pitchFamily="18" charset="0"/>
              </a:rPr>
              <a:t>, indicating the exact pixels occupied by the object within the bounding box.</a:t>
            </a:r>
          </a:p>
          <a:p>
            <a:endParaRPr lang="en-IN" dirty="0"/>
          </a:p>
        </p:txBody>
      </p:sp>
    </p:spTree>
    <p:extLst>
      <p:ext uri="{BB962C8B-B14F-4D97-AF65-F5344CB8AC3E}">
        <p14:creationId xmlns:p14="http://schemas.microsoft.com/office/powerpoint/2010/main" val="755367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574430" y="0"/>
            <a:ext cx="10515600" cy="1325563"/>
          </a:xfrm>
        </p:spPr>
        <p:txBody>
          <a:bodyPr/>
          <a:lstStyle/>
          <a:p>
            <a:r>
              <a:rPr lang="en-IN" b="1" dirty="0">
                <a:solidFill>
                  <a:srgbClr val="B6114D"/>
                </a:solidFill>
              </a:rPr>
              <a:t>Algorithm for Mask R-CNN</a:t>
            </a:r>
          </a:p>
        </p:txBody>
      </p:sp>
      <p:sp>
        <p:nvSpPr>
          <p:cNvPr id="4" name="Rectangle 1">
            <a:extLst>
              <a:ext uri="{FF2B5EF4-FFF2-40B4-BE49-F238E27FC236}">
                <a16:creationId xmlns:a16="http://schemas.microsoft.com/office/drawing/2014/main" id="{1CD34782-1B24-C5D2-E153-771AFF93C0C0}"/>
              </a:ext>
            </a:extLst>
          </p:cNvPr>
          <p:cNvSpPr>
            <a:spLocks noGrp="1" noChangeArrowheads="1"/>
          </p:cNvSpPr>
          <p:nvPr>
            <p:ph idx="1"/>
          </p:nvPr>
        </p:nvSpPr>
        <p:spPr bwMode="auto">
          <a:xfrm>
            <a:off x="480646" y="1125635"/>
            <a:ext cx="1171135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image where objects need to be detected and segmented.</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CNN (e.g.,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FPN) extracts feature maps from the image.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Region Proposal Network (RPN)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Proposes candidate regions (bounding boxes) where objects might be located.</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RoIAlign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Aligns the proposed regions more precisely to the original image, preserving spatial accuracy.</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Classification Head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Classifies each region to identify the object.</a:t>
            </a:r>
          </a:p>
          <a:p>
            <a:pPr lvl="1"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Bounding Box Head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Refines the bounding box coordinates for better localization.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Mask Prediction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parallel branch predicts a binary mask (pixel-level) for each object in the region.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Outputs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labels (e.g., cat, car).</a:t>
            </a: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Refined bounding boxes.</a:t>
            </a:r>
          </a:p>
          <a:p>
            <a:pPr lvl="1"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Segmentation masks.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Loss Functions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Classification Loss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Cross-entropy loss for object identification.</a:t>
            </a:r>
          </a:p>
          <a:p>
            <a:pPr lvl="1"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Bounding Box Loss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Smooth L1 loss for box refinement.</a:t>
            </a:r>
          </a:p>
          <a:p>
            <a:pPr lvl="1"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Mask Loss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Binary cross-entropy loss for mask accuracy.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4997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532364" y="127735"/>
            <a:ext cx="10515600" cy="1325563"/>
          </a:xfrm>
        </p:spPr>
        <p:txBody>
          <a:bodyPr/>
          <a:lstStyle/>
          <a:p>
            <a:r>
              <a:rPr lang="en-IN" b="1" dirty="0">
                <a:solidFill>
                  <a:srgbClr val="B6114D"/>
                </a:solidFill>
              </a:rPr>
              <a:t>Why Mask R-CNN for anomaly detection in sugarcane crops?</a:t>
            </a:r>
          </a:p>
        </p:txBody>
      </p:sp>
      <p:sp>
        <p:nvSpPr>
          <p:cNvPr id="4" name="Rectangle 1">
            <a:extLst>
              <a:ext uri="{FF2B5EF4-FFF2-40B4-BE49-F238E27FC236}">
                <a16:creationId xmlns:a16="http://schemas.microsoft.com/office/drawing/2014/main" id="{2BE57243-5041-E007-6BC1-48741DC1D7BD}"/>
              </a:ext>
            </a:extLst>
          </p:cNvPr>
          <p:cNvSpPr>
            <a:spLocks noGrp="1" noChangeArrowheads="1"/>
          </p:cNvSpPr>
          <p:nvPr>
            <p:ph idx="1"/>
          </p:nvPr>
        </p:nvSpPr>
        <p:spPr bwMode="auto">
          <a:xfrm>
            <a:off x="532364" y="1536174"/>
            <a:ext cx="1094142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Pixel-level Precision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Offers detailed segmentation of anomalous areas, enabling accurate identification of disease or pest-affected regions.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Dual Detection and Segmentation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Detects anomalies and provides exact masks, useful for identifying both the presence and spread of crop issues.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Multiple Anomalies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detect and segment various types of crop anomalies (diseases, pests) simultaneously.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Works in Complex Environments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Effectively identifies anomalies even in fields with complex backgrounds, reducing false positives.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Accuracy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RoIAlign ensures precise region alignment, improving detection of small or subtle crop issues.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trained to detect a wide range of anomalies, making it versatile for sugarcane crop monitoring. </a:t>
            </a:r>
          </a:p>
        </p:txBody>
      </p:sp>
    </p:spTree>
    <p:extLst>
      <p:ext uri="{BB962C8B-B14F-4D97-AF65-F5344CB8AC3E}">
        <p14:creationId xmlns:p14="http://schemas.microsoft.com/office/powerpoint/2010/main" val="41329005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a:xfrm>
            <a:off x="213946" y="66188"/>
            <a:ext cx="10515600" cy="1325563"/>
          </a:xfrm>
        </p:spPr>
        <p:txBody>
          <a:bodyPr/>
          <a:lstStyle/>
          <a:p>
            <a:r>
              <a:rPr lang="en-IN" b="1" dirty="0">
                <a:solidFill>
                  <a:srgbClr val="B6114D"/>
                </a:solidFill>
              </a:rPr>
              <a:t>Hyperparameter Table</a:t>
            </a:r>
          </a:p>
        </p:txBody>
      </p:sp>
      <p:graphicFrame>
        <p:nvGraphicFramePr>
          <p:cNvPr id="21" name="Content Placeholder 20">
            <a:extLst>
              <a:ext uri="{FF2B5EF4-FFF2-40B4-BE49-F238E27FC236}">
                <a16:creationId xmlns:a16="http://schemas.microsoft.com/office/drawing/2014/main" id="{F7F50940-2A0F-29C6-59A9-B43D569BD678}"/>
              </a:ext>
            </a:extLst>
          </p:cNvPr>
          <p:cNvGraphicFramePr>
            <a:graphicFrameLocks noGrp="1"/>
          </p:cNvGraphicFramePr>
          <p:nvPr>
            <p:ph idx="1"/>
            <p:extLst>
              <p:ext uri="{D42A27DB-BD31-4B8C-83A1-F6EECF244321}">
                <p14:modId xmlns:p14="http://schemas.microsoft.com/office/powerpoint/2010/main" val="2616730180"/>
              </p:ext>
            </p:extLst>
          </p:nvPr>
        </p:nvGraphicFramePr>
        <p:xfrm>
          <a:off x="1353273" y="1189570"/>
          <a:ext cx="9376272" cy="4543019"/>
        </p:xfrm>
        <a:graphic>
          <a:graphicData uri="http://schemas.openxmlformats.org/drawingml/2006/table">
            <a:tbl>
              <a:tblPr>
                <a:tableStyleId>{2D5ABB26-0587-4C30-8999-92F81FD0307C}</a:tableStyleId>
              </a:tblPr>
              <a:tblGrid>
                <a:gridCol w="2374665">
                  <a:extLst>
                    <a:ext uri="{9D8B030D-6E8A-4147-A177-3AD203B41FA5}">
                      <a16:colId xmlns:a16="http://schemas.microsoft.com/office/drawing/2014/main" val="2134825836"/>
                    </a:ext>
                  </a:extLst>
                </a:gridCol>
                <a:gridCol w="4290647">
                  <a:extLst>
                    <a:ext uri="{9D8B030D-6E8A-4147-A177-3AD203B41FA5}">
                      <a16:colId xmlns:a16="http://schemas.microsoft.com/office/drawing/2014/main" val="2940437266"/>
                    </a:ext>
                  </a:extLst>
                </a:gridCol>
                <a:gridCol w="2710960">
                  <a:extLst>
                    <a:ext uri="{9D8B030D-6E8A-4147-A177-3AD203B41FA5}">
                      <a16:colId xmlns:a16="http://schemas.microsoft.com/office/drawing/2014/main" val="618447070"/>
                    </a:ext>
                  </a:extLst>
                </a:gridCol>
              </a:tblGrid>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Hyperparameter</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Description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Suggested Value</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3061324"/>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Learning Rate</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dirty="0">
                          <a:effectLst/>
                          <a:latin typeface="Times New Roman" panose="02020603050405020304" pitchFamily="18" charset="0"/>
                          <a:cs typeface="Times New Roman" panose="02020603050405020304" pitchFamily="18" charset="0"/>
                        </a:rPr>
                        <a:t>Step size for updating weights</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0.001 to 0.0001</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399428"/>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Batch Size</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dirty="0">
                          <a:effectLst/>
                          <a:latin typeface="Times New Roman" panose="02020603050405020304" pitchFamily="18" charset="0"/>
                          <a:cs typeface="Times New Roman" panose="02020603050405020304" pitchFamily="18" charset="0"/>
                        </a:rPr>
                        <a:t>Number of images processed in one iteration</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2 to 8</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0099206"/>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Epochs</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dirty="0">
                          <a:effectLst/>
                          <a:latin typeface="Times New Roman" panose="02020603050405020304" pitchFamily="18" charset="0"/>
                          <a:cs typeface="Times New Roman" panose="02020603050405020304" pitchFamily="18" charset="0"/>
                        </a:rPr>
                        <a:t>Number of complete passes through the dataset</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50 to 100</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510804"/>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Backbone</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a:effectLst/>
                          <a:latin typeface="Times New Roman" panose="02020603050405020304" pitchFamily="18" charset="0"/>
                          <a:cs typeface="Times New Roman" panose="02020603050405020304" pitchFamily="18" charset="0"/>
                        </a:rPr>
                        <a:t>Pre-trained model for feature extraction</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ResNet50, ResNet101</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267656"/>
                  </a:ext>
                </a:extLst>
              </a:tr>
              <a:tr h="349463">
                <a:tc>
                  <a:txBody>
                    <a:bodyPr/>
                    <a:lstStyle/>
                    <a:p>
                      <a:pPr algn="ctr" fontAlgn="b"/>
                      <a:r>
                        <a:rPr lang="en-IN" sz="1400" b="1" u="none" strike="noStrike">
                          <a:effectLst/>
                          <a:latin typeface="Times New Roman" panose="02020603050405020304" pitchFamily="18" charset="0"/>
                          <a:cs typeface="Times New Roman" panose="02020603050405020304" pitchFamily="18" charset="0"/>
                        </a:rPr>
                        <a:t>Image Size</a:t>
                      </a:r>
                      <a:endParaRPr lang="en-IN" sz="14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400" u="none" strike="noStrike" dirty="0">
                          <a:effectLst/>
                          <a:latin typeface="Times New Roman" panose="02020603050405020304" pitchFamily="18" charset="0"/>
                          <a:cs typeface="Times New Roman" panose="02020603050405020304" pitchFamily="18" charset="0"/>
                        </a:rPr>
                        <a:t>Input dimensions of images</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dirty="0">
                          <a:effectLst/>
                          <a:latin typeface="Times New Roman" panose="02020603050405020304" pitchFamily="18" charset="0"/>
                          <a:cs typeface="Times New Roman" panose="02020603050405020304" pitchFamily="18" charset="0"/>
                        </a:rPr>
                        <a:t>512x512 or 1024x1024</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0691"/>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Anchor Scales</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a:effectLst/>
                          <a:latin typeface="Times New Roman" panose="02020603050405020304" pitchFamily="18" charset="0"/>
                          <a:cs typeface="Times New Roman" panose="02020603050405020304" pitchFamily="18" charset="0"/>
                        </a:rPr>
                        <a:t>Sizes of anchor boxes for RPN</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[32, 64, 128, 256, 512]</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9269097"/>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Anchor Ratios</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dirty="0">
                          <a:effectLst/>
                          <a:latin typeface="Times New Roman" panose="02020603050405020304" pitchFamily="18" charset="0"/>
                          <a:cs typeface="Times New Roman" panose="02020603050405020304" pitchFamily="18" charset="0"/>
                        </a:rPr>
                        <a:t>Aspect ratios of anchor boxes</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[0.5, 1, 2]</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2248959"/>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Mask Pooling Size</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400" u="none" strike="noStrike" dirty="0">
                          <a:effectLst/>
                          <a:latin typeface="Times New Roman" panose="02020603050405020304" pitchFamily="18" charset="0"/>
                          <a:cs typeface="Times New Roman" panose="02020603050405020304" pitchFamily="18" charset="0"/>
                        </a:rPr>
                        <a:t>Output size of masks</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28x28</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9173919"/>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Dropout Rate</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a:effectLst/>
                          <a:latin typeface="Times New Roman" panose="02020603050405020304" pitchFamily="18" charset="0"/>
                          <a:cs typeface="Times New Roman" panose="02020603050405020304" pitchFamily="18" charset="0"/>
                        </a:rPr>
                        <a:t>Fraction of neurons to drop during training</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dirty="0">
                          <a:effectLst/>
                          <a:latin typeface="Times New Roman" panose="02020603050405020304" pitchFamily="18" charset="0"/>
                          <a:cs typeface="Times New Roman" panose="02020603050405020304" pitchFamily="18" charset="0"/>
                        </a:rPr>
                        <a:t>0.5 (if applicable)</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0153580"/>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Data Augmentation</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dirty="0">
                          <a:effectLst/>
                          <a:latin typeface="Times New Roman" panose="02020603050405020304" pitchFamily="18" charset="0"/>
                          <a:cs typeface="Times New Roman" panose="02020603050405020304" pitchFamily="18" charset="0"/>
                        </a:rPr>
                        <a:t>Techniques used to augment the dataset</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a:effectLst/>
                          <a:latin typeface="Times New Roman" panose="02020603050405020304" pitchFamily="18" charset="0"/>
                          <a:cs typeface="Times New Roman" panose="02020603050405020304" pitchFamily="18" charset="0"/>
                        </a:rPr>
                        <a:t>Horizontal flip, rotation, scaling, etc.</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7083160"/>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Optimizer</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400" u="none" strike="noStrike" dirty="0">
                          <a:effectLst/>
                          <a:latin typeface="Times New Roman" panose="02020603050405020304" pitchFamily="18" charset="0"/>
                          <a:cs typeface="Times New Roman" panose="02020603050405020304" pitchFamily="18" charset="0"/>
                        </a:rPr>
                        <a:t>Algorithm for updating weights</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dirty="0">
                          <a:effectLst/>
                          <a:latin typeface="Times New Roman" panose="02020603050405020304" pitchFamily="18" charset="0"/>
                          <a:cs typeface="Times New Roman" panose="02020603050405020304" pitchFamily="18" charset="0"/>
                        </a:rPr>
                        <a:t>Adam or SGD</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1068570"/>
                  </a:ext>
                </a:extLst>
              </a:tr>
              <a:tr h="349463">
                <a:tc>
                  <a:txBody>
                    <a:bodyPr/>
                    <a:lstStyle/>
                    <a:p>
                      <a:pPr algn="ctr" fontAlgn="b"/>
                      <a:r>
                        <a:rPr lang="en-IN" sz="1400" b="1" u="none" strike="noStrike" dirty="0">
                          <a:effectLst/>
                          <a:latin typeface="Times New Roman" panose="02020603050405020304" pitchFamily="18" charset="0"/>
                          <a:cs typeface="Times New Roman" panose="02020603050405020304" pitchFamily="18" charset="0"/>
                        </a:rPr>
                        <a:t>Warm-up Epochs</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400" u="none" strike="noStrike" dirty="0">
                          <a:effectLst/>
                          <a:latin typeface="Times New Roman" panose="02020603050405020304" pitchFamily="18" charset="0"/>
                          <a:cs typeface="Times New Roman" panose="02020603050405020304" pitchFamily="18" charset="0"/>
                        </a:rPr>
                        <a:t>Initial epochs with a smaller learning rate</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u="none" strike="noStrike" dirty="0">
                          <a:effectLst/>
                          <a:latin typeface="Times New Roman" panose="02020603050405020304" pitchFamily="18" charset="0"/>
                          <a:cs typeface="Times New Roman" panose="02020603050405020304" pitchFamily="18" charset="0"/>
                        </a:rPr>
                        <a:t>5 to 10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986108"/>
                  </a:ext>
                </a:extLst>
              </a:tr>
            </a:tbl>
          </a:graphicData>
        </a:graphic>
      </p:graphicFrame>
    </p:spTree>
    <p:extLst>
      <p:ext uri="{BB962C8B-B14F-4D97-AF65-F5344CB8AC3E}">
        <p14:creationId xmlns:p14="http://schemas.microsoft.com/office/powerpoint/2010/main" val="15385775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p:txBody>
          <a:bodyPr/>
          <a:lstStyle/>
          <a:p>
            <a:r>
              <a:rPr lang="en-IN" b="1" dirty="0">
                <a:solidFill>
                  <a:srgbClr val="B6114D"/>
                </a:solidFill>
              </a:rPr>
              <a:t>Hyperparameter tunning</a:t>
            </a:r>
          </a:p>
        </p:txBody>
      </p:sp>
      <p:sp>
        <p:nvSpPr>
          <p:cNvPr id="4" name="Rectangle 1">
            <a:extLst>
              <a:ext uri="{FF2B5EF4-FFF2-40B4-BE49-F238E27FC236}">
                <a16:creationId xmlns:a16="http://schemas.microsoft.com/office/drawing/2014/main" id="{130A5262-1588-6AD7-52D3-2B33FD9FA534}"/>
              </a:ext>
            </a:extLst>
          </p:cNvPr>
          <p:cNvSpPr>
            <a:spLocks noGrp="1" noChangeArrowheads="1"/>
          </p:cNvSpPr>
          <p:nvPr>
            <p:ph idx="1"/>
          </p:nvPr>
        </p:nvSpPr>
        <p:spPr bwMode="auto">
          <a:xfrm>
            <a:off x="614094" y="1659285"/>
            <a:ext cx="1081453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Grid Search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Explore a predefined set of hyperparameter values. This can be exhaustive and time-consuming.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Search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Sample a subset of hyperparameter combinations randomly. It’s often more efficient than grid 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Bayesian Optimization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probabilistic models to find the best hyperparameters based on previous trials.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Hyperband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Combines random search with early stopping to allocate resources to promising configurations. </a:t>
            </a:r>
          </a:p>
        </p:txBody>
      </p:sp>
    </p:spTree>
    <p:extLst>
      <p:ext uri="{BB962C8B-B14F-4D97-AF65-F5344CB8AC3E}">
        <p14:creationId xmlns:p14="http://schemas.microsoft.com/office/powerpoint/2010/main" val="2031857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p:txBody>
          <a:bodyPr/>
          <a:lstStyle/>
          <a:p>
            <a:r>
              <a:rPr lang="en-IN" b="1" dirty="0">
                <a:solidFill>
                  <a:srgbClr val="B6114D"/>
                </a:solidFill>
              </a:rPr>
              <a:t>Performance metrics</a:t>
            </a:r>
          </a:p>
        </p:txBody>
      </p:sp>
      <p:sp>
        <p:nvSpPr>
          <p:cNvPr id="4" name="Rectangle 1">
            <a:extLst>
              <a:ext uri="{FF2B5EF4-FFF2-40B4-BE49-F238E27FC236}">
                <a16:creationId xmlns:a16="http://schemas.microsoft.com/office/drawing/2014/main" id="{46B12873-93C1-0BCE-BC49-691D9E601C73}"/>
              </a:ext>
            </a:extLst>
          </p:cNvPr>
          <p:cNvSpPr>
            <a:spLocks noGrp="1" noChangeArrowheads="1"/>
          </p:cNvSpPr>
          <p:nvPr>
            <p:ph idx="1"/>
          </p:nvPr>
        </p:nvSpPr>
        <p:spPr bwMode="auto">
          <a:xfrm>
            <a:off x="680720" y="1752858"/>
            <a:ext cx="1101344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 Average Precision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mAP</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performance metric across different classes and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IoU</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thresholds, commonly evaluated at 0.5:0.95.</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Intersection over Union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IoU</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the overlap between predicted and ground truth masks, with higher values indicating better localization.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Precision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ratio of true positive detections to total predicted positives: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Recall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ratio of true positive detections to total actual positives: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F1 Score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Combines precision and recall into a single metric</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523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C79C-4760-B80E-DA39-F93834FEB9B8}"/>
              </a:ext>
            </a:extLst>
          </p:cNvPr>
          <p:cNvSpPr>
            <a:spLocks noGrp="1"/>
          </p:cNvSpPr>
          <p:nvPr>
            <p:ph type="title"/>
          </p:nvPr>
        </p:nvSpPr>
        <p:spPr/>
        <p:txBody>
          <a:bodyPr/>
          <a:lstStyle/>
          <a:p>
            <a:r>
              <a:rPr lang="en-IN" b="1" dirty="0">
                <a:solidFill>
                  <a:srgbClr val="B6114D"/>
                </a:solidFill>
              </a:rPr>
              <a:t>Formula for the metrics</a:t>
            </a:r>
          </a:p>
        </p:txBody>
      </p:sp>
      <p:pic>
        <p:nvPicPr>
          <p:cNvPr id="6146" name="Picture 2">
            <a:extLst>
              <a:ext uri="{FF2B5EF4-FFF2-40B4-BE49-F238E27FC236}">
                <a16:creationId xmlns:a16="http://schemas.microsoft.com/office/drawing/2014/main" id="{FCCE6540-BD23-6175-D1FB-8E7ABE96327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07136" y="4298313"/>
            <a:ext cx="3380868" cy="99067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ean Average Precision Formula">
            <a:extLst>
              <a:ext uri="{FF2B5EF4-FFF2-40B4-BE49-F238E27FC236}">
                <a16:creationId xmlns:a16="http://schemas.microsoft.com/office/drawing/2014/main" id="{8C9EC157-8789-5519-B027-677F602480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617" y="1624601"/>
            <a:ext cx="3193953" cy="141423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Intersection over Union">
            <a:extLst>
              <a:ext uri="{FF2B5EF4-FFF2-40B4-BE49-F238E27FC236}">
                <a16:creationId xmlns:a16="http://schemas.microsoft.com/office/drawing/2014/main" id="{48747194-DEA8-1425-32D6-6C9FC5ADD5A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2083"/>
          <a:stretch/>
        </p:blipFill>
        <p:spPr bwMode="auto">
          <a:xfrm>
            <a:off x="5034437" y="1393417"/>
            <a:ext cx="2123125" cy="164542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8577F74-6FB1-315D-4B8F-488A9B6FCD3E}"/>
              </a:ext>
            </a:extLst>
          </p:cNvPr>
          <p:cNvSpPr txBox="1"/>
          <p:nvPr/>
        </p:nvSpPr>
        <p:spPr>
          <a:xfrm>
            <a:off x="1097280" y="3413227"/>
            <a:ext cx="2692400" cy="369332"/>
          </a:xfrm>
          <a:prstGeom prst="rect">
            <a:avLst/>
          </a:prstGeom>
          <a:noFill/>
        </p:spPr>
        <p:txBody>
          <a:bodyPr wrap="square">
            <a:spAutoFit/>
          </a:bodyPr>
          <a:lstStyle/>
          <a:p>
            <a:r>
              <a:rPr lang="en-IN" sz="1800" b="0" i="0" u="none" strike="noStrike" dirty="0">
                <a:solidFill>
                  <a:srgbClr val="000000"/>
                </a:solidFill>
                <a:effectLst/>
                <a:latin typeface="Times New Roman" panose="02020603050405020304" pitchFamily="18" charset="0"/>
              </a:rPr>
              <a:t>Precision = TP / TP + FP</a:t>
            </a:r>
            <a:endParaRPr lang="en-IN" dirty="0"/>
          </a:p>
        </p:txBody>
      </p:sp>
      <p:sp>
        <p:nvSpPr>
          <p:cNvPr id="9" name="TextBox 8">
            <a:extLst>
              <a:ext uri="{FF2B5EF4-FFF2-40B4-BE49-F238E27FC236}">
                <a16:creationId xmlns:a16="http://schemas.microsoft.com/office/drawing/2014/main" id="{1A333C84-47B0-5C57-39E3-0CB230CAA702}"/>
              </a:ext>
            </a:extLst>
          </p:cNvPr>
          <p:cNvSpPr txBox="1"/>
          <p:nvPr/>
        </p:nvSpPr>
        <p:spPr>
          <a:xfrm>
            <a:off x="4851399" y="3380961"/>
            <a:ext cx="2489200" cy="369332"/>
          </a:xfrm>
          <a:prstGeom prst="rect">
            <a:avLst/>
          </a:prstGeom>
          <a:noFill/>
        </p:spPr>
        <p:txBody>
          <a:bodyPr wrap="square">
            <a:spAutoFit/>
          </a:bodyPr>
          <a:lstStyle/>
          <a:p>
            <a:r>
              <a:rPr lang="en-IN" sz="1800" b="0" i="0" u="none" strike="noStrike" dirty="0">
                <a:solidFill>
                  <a:srgbClr val="000000"/>
                </a:solidFill>
                <a:effectLst/>
                <a:latin typeface="Times New Roman" panose="02020603050405020304" pitchFamily="18" charset="0"/>
              </a:rPr>
              <a:t>Recall = TP / TP + FN</a:t>
            </a:r>
            <a:endParaRPr lang="en-IN" dirty="0"/>
          </a:p>
        </p:txBody>
      </p:sp>
    </p:spTree>
    <p:extLst>
      <p:ext uri="{BB962C8B-B14F-4D97-AF65-F5344CB8AC3E}">
        <p14:creationId xmlns:p14="http://schemas.microsoft.com/office/powerpoint/2010/main" val="2191093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BC94-4677-B2C6-1B40-01C36AE6D07F}"/>
              </a:ext>
            </a:extLst>
          </p:cNvPr>
          <p:cNvSpPr>
            <a:spLocks noGrp="1"/>
          </p:cNvSpPr>
          <p:nvPr>
            <p:ph type="title"/>
          </p:nvPr>
        </p:nvSpPr>
        <p:spPr>
          <a:xfrm>
            <a:off x="3096260" y="2103437"/>
            <a:ext cx="5999480" cy="1325563"/>
          </a:xfrm>
        </p:spPr>
        <p:txBody>
          <a:bodyPr>
            <a:normAutofit/>
          </a:bodyPr>
          <a:lstStyle/>
          <a:p>
            <a:pPr algn="ctr"/>
            <a:r>
              <a:rPr lang="en-IN" sz="8800" b="1" dirty="0">
                <a:solidFill>
                  <a:srgbClr val="B6114D"/>
                </a:solidFill>
              </a:rPr>
              <a:t>Thank You</a:t>
            </a:r>
          </a:p>
        </p:txBody>
      </p:sp>
    </p:spTree>
    <p:extLst>
      <p:ext uri="{BB962C8B-B14F-4D97-AF65-F5344CB8AC3E}">
        <p14:creationId xmlns:p14="http://schemas.microsoft.com/office/powerpoint/2010/main" val="6358259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
</file>

<file path=ppt/theme/theme1.xml><?xml version="1.0" encoding="utf-8"?>
<a:theme xmlns:a="http://schemas.openxmlformats.org/drawingml/2006/main" name="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3CD6CE29747349A5A94DA81629FDC5" ma:contentTypeVersion="11" ma:contentTypeDescription="Create a new document." ma:contentTypeScope="" ma:versionID="dc06cc9d132ff9dbfd94d33746a170bc">
  <xsd:schema xmlns:xsd="http://www.w3.org/2001/XMLSchema" xmlns:xs="http://www.w3.org/2001/XMLSchema" xmlns:p="http://schemas.microsoft.com/office/2006/metadata/properties" xmlns:ns2="288a120d-550d-410d-8e83-3a0debd8f61a" xmlns:ns3="b2fc7224-56e7-4a56-81e9-64380d6fda13" targetNamespace="http://schemas.microsoft.com/office/2006/metadata/properties" ma:root="true" ma:fieldsID="3e4d2b7f430bf8adbb47ab8b4dbba55a" ns2:_="" ns3:_="">
    <xsd:import namespace="288a120d-550d-410d-8e83-3a0debd8f61a"/>
    <xsd:import namespace="b2fc7224-56e7-4a56-81e9-64380d6fda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a120d-550d-410d-8e83-3a0debd8f6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fc7224-56e7-4a56-81e9-64380d6fda1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86E6DA-5186-4C2D-B67F-DA1E8DD817FC}">
  <ds:schemaRefs>
    <ds:schemaRef ds:uri="http://schemas.microsoft.com/office/2006/metadata/properties"/>
    <ds:schemaRef ds:uri="http://schemas.microsoft.com/office/2006/documentManagement/types"/>
    <ds:schemaRef ds:uri="http://purl.org/dc/elements/1.1/"/>
    <ds:schemaRef ds:uri="http://purl.org/dc/dcmitype/"/>
    <ds:schemaRef ds:uri="http://purl.org/dc/terms/"/>
    <ds:schemaRef ds:uri="http://schemas.microsoft.com/office/infopath/2007/PartnerControls"/>
    <ds:schemaRef ds:uri="http://schemas.openxmlformats.org/package/2006/metadata/core-properties"/>
    <ds:schemaRef ds:uri="b2fc7224-56e7-4a56-81e9-64380d6fda13"/>
    <ds:schemaRef ds:uri="288a120d-550d-410d-8e83-3a0debd8f61a"/>
    <ds:schemaRef ds:uri="http://www.w3.org/XML/1998/namespace"/>
  </ds:schemaRefs>
</ds:datastoreItem>
</file>

<file path=customXml/itemProps2.xml><?xml version="1.0" encoding="utf-8"?>
<ds:datastoreItem xmlns:ds="http://schemas.openxmlformats.org/officeDocument/2006/customXml" ds:itemID="{414EAF80-A9B1-4397-8673-948369AFEFED}">
  <ds:schemaRefs>
    <ds:schemaRef ds:uri="http://schemas.microsoft.com/sharepoint/v3/contenttype/forms"/>
  </ds:schemaRefs>
</ds:datastoreItem>
</file>

<file path=customXml/itemProps3.xml><?xml version="1.0" encoding="utf-8"?>
<ds:datastoreItem xmlns:ds="http://schemas.openxmlformats.org/officeDocument/2006/customXml" ds:itemID="{896A51D3-70D6-4C59-A5F9-E965D4778D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8a120d-550d-410d-8e83-3a0debd8f61a"/>
    <ds:schemaRef ds:uri="b2fc7224-56e7-4a56-81e9-64380d6fd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30379</TotalTime>
  <Words>1510</Words>
  <Application>Microsoft Office PowerPoint</Application>
  <PresentationFormat>Widescreen</PresentationFormat>
  <Paragraphs>146</Paragraphs>
  <Slides>19</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19</vt:i4>
      </vt:variant>
    </vt:vector>
  </HeadingPairs>
  <TitlesOfParts>
    <vt:vector size="31" baseType="lpstr">
      <vt:lpstr>Arial</vt:lpstr>
      <vt:lpstr>Avenir Next LT Pro</vt:lpstr>
      <vt:lpstr>Calibri</vt:lpstr>
      <vt:lpstr>Futura</vt:lpstr>
      <vt:lpstr>Garamond</vt:lpstr>
      <vt:lpstr>Times New Roman</vt:lpstr>
      <vt:lpstr>Times New Roman Bold</vt:lpstr>
      <vt:lpstr>Wingdings</vt:lpstr>
      <vt:lpstr>Presentation Cover page</vt:lpstr>
      <vt:lpstr>1_Presentation Cover page</vt:lpstr>
      <vt:lpstr>1_Presentation slides</vt:lpstr>
      <vt:lpstr>2_Presentation slides</vt:lpstr>
      <vt:lpstr>Anomalies detection in crop health and creating a custom flight path.</vt:lpstr>
      <vt:lpstr>Problem Statement</vt:lpstr>
      <vt:lpstr>PowerPoint Presentation</vt:lpstr>
      <vt:lpstr>PowerPoint Presentation</vt:lpstr>
      <vt:lpstr>PowerPoint Presentation</vt:lpstr>
      <vt:lpstr>What is Computer Vision</vt:lpstr>
      <vt:lpstr>Deep learning with computer vision</vt:lpstr>
      <vt:lpstr>Literature survey on RCNN model</vt:lpstr>
      <vt:lpstr>Literature survey on RCNN model</vt:lpstr>
      <vt:lpstr>PowerPoint Presentation</vt:lpstr>
      <vt:lpstr>Masked RCNN</vt:lpstr>
      <vt:lpstr>Architecture of Mask R-CNN:</vt:lpstr>
      <vt:lpstr>Algorithm for Mask R-CNN</vt:lpstr>
      <vt:lpstr>Why Mask R-CNN for anomaly detection in sugarcane crops?</vt:lpstr>
      <vt:lpstr>Hyperparameter Table</vt:lpstr>
      <vt:lpstr>Hyperparameter tunning</vt:lpstr>
      <vt:lpstr>Performance metrics</vt:lpstr>
      <vt:lpstr>Formula for the metrics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KSUM-SB2-XPS-35</dc:creator>
  <cp:lastModifiedBy>Sashank Sasi</cp:lastModifiedBy>
  <cp:revision>835</cp:revision>
  <dcterms:created xsi:type="dcterms:W3CDTF">2020-07-03T08:40:50Z</dcterms:created>
  <dcterms:modified xsi:type="dcterms:W3CDTF">2025-08-07T18:50:12Z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0x010100643CD6CE29747349A5A94DA81629FDC5</vt:lpwstr>
  </property>
</Properties>
</file>